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51"/>
  </p:notesMasterIdLst>
  <p:handoutMasterIdLst>
    <p:handoutMasterId r:id="rId52"/>
  </p:handoutMasterIdLst>
  <p:sldIdLst>
    <p:sldId id="293" r:id="rId2"/>
    <p:sldId id="294" r:id="rId3"/>
    <p:sldId id="296" r:id="rId4"/>
    <p:sldId id="441" r:id="rId5"/>
    <p:sldId id="297" r:id="rId6"/>
    <p:sldId id="298" r:id="rId7"/>
    <p:sldId id="300" r:id="rId8"/>
    <p:sldId id="301" r:id="rId9"/>
    <p:sldId id="430" r:id="rId10"/>
    <p:sldId id="431" r:id="rId11"/>
    <p:sldId id="302" r:id="rId12"/>
    <p:sldId id="457" r:id="rId13"/>
    <p:sldId id="458" r:id="rId14"/>
    <p:sldId id="459" r:id="rId15"/>
    <p:sldId id="303" r:id="rId16"/>
    <p:sldId id="304" r:id="rId17"/>
    <p:sldId id="305" r:id="rId18"/>
    <p:sldId id="307" r:id="rId19"/>
    <p:sldId id="308" r:id="rId20"/>
    <p:sldId id="442" r:id="rId21"/>
    <p:sldId id="309" r:id="rId22"/>
    <p:sldId id="443" r:id="rId23"/>
    <p:sldId id="444" r:id="rId24"/>
    <p:sldId id="445" r:id="rId25"/>
    <p:sldId id="446" r:id="rId26"/>
    <p:sldId id="447" r:id="rId27"/>
    <p:sldId id="448" r:id="rId28"/>
    <p:sldId id="449" r:id="rId29"/>
    <p:sldId id="450" r:id="rId30"/>
    <p:sldId id="451" r:id="rId31"/>
    <p:sldId id="452" r:id="rId32"/>
    <p:sldId id="453" r:id="rId33"/>
    <p:sldId id="454" r:id="rId34"/>
    <p:sldId id="455" r:id="rId35"/>
    <p:sldId id="456" r:id="rId36"/>
    <p:sldId id="432" r:id="rId37"/>
    <p:sldId id="433" r:id="rId38"/>
    <p:sldId id="434" r:id="rId39"/>
    <p:sldId id="435" r:id="rId40"/>
    <p:sldId id="436" r:id="rId41"/>
    <p:sldId id="438" r:id="rId42"/>
    <p:sldId id="437" r:id="rId43"/>
    <p:sldId id="439" r:id="rId44"/>
    <p:sldId id="426" r:id="rId45"/>
    <p:sldId id="427" r:id="rId46"/>
    <p:sldId id="428" r:id="rId47"/>
    <p:sldId id="429" r:id="rId48"/>
    <p:sldId id="460" r:id="rId49"/>
    <p:sldId id="440" r:id="rId50"/>
  </p:sldIdLst>
  <p:sldSz cx="9144000" cy="6858000" type="screen4x3"/>
  <p:notesSz cx="6858000" cy="9144000"/>
  <p:embeddedFontLst>
    <p:embeddedFont>
      <p:font typeface="굴림체" panose="020B0609000101010101" pitchFamily="49" charset="-127"/>
      <p:regular r:id="rId53"/>
    </p:embeddedFont>
    <p:embeddedFont>
      <p:font typeface="Cambria Math" panose="02040503050406030204" pitchFamily="18" charset="0"/>
      <p:regular r:id="rId54"/>
    </p:embeddedFont>
    <p:embeddedFont>
      <p:font typeface="Lucida Handwriting" panose="03010101010101010101" pitchFamily="66" charset="0"/>
      <p:regular r:id="rId55"/>
    </p:embeddedFont>
    <p:embeddedFont>
      <p:font typeface="Malgun Gothic" panose="020B0503020000020004" pitchFamily="34" charset="-127"/>
      <p:regular r:id="rId56"/>
      <p:bold r:id="rId57"/>
    </p:embeddedFont>
  </p:embeddedFontLst>
  <p:custShowLst>
    <p:custShow name="Ozvektor" id="0">
      <p:sldLst/>
    </p:custShow>
  </p:custShow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ehmet F. Hocaoğlu" initials="MH" lastIdx="1" clrIdx="0">
    <p:extLst>
      <p:ext uri="{19B8F6BF-5375-455C-9EA6-DF929625EA0E}">
        <p15:presenceInfo xmlns:p15="http://schemas.microsoft.com/office/powerpoint/2012/main" userId="f48eab19bc0fca7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6131"/>
    <a:srgbClr val="FEB349"/>
    <a:srgbClr val="5E4722"/>
    <a:srgbClr val="906924"/>
    <a:srgbClr val="C29F4A"/>
    <a:srgbClr val="90555D"/>
    <a:srgbClr val="5C363B"/>
    <a:srgbClr val="262626"/>
    <a:srgbClr val="A3430D"/>
    <a:srgbClr val="FA752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F5AB1C69-6EDB-4FF4-983F-18BD219EF322}" styleName="보통 스타일 2 - 강조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431" autoAdjust="0"/>
    <p:restoredTop sz="94792" autoAdjust="0"/>
  </p:normalViewPr>
  <p:slideViewPr>
    <p:cSldViewPr>
      <p:cViewPr varScale="1">
        <p:scale>
          <a:sx n="67" d="100"/>
          <a:sy n="67" d="100"/>
        </p:scale>
        <p:origin x="1496" y="56"/>
      </p:cViewPr>
      <p:guideLst>
        <p:guide orient="horz" pos="2160"/>
        <p:guide pos="2880"/>
      </p:guideLst>
    </p:cSldViewPr>
  </p:slideViewPr>
  <p:notesTextViewPr>
    <p:cViewPr>
      <p:scale>
        <a:sx n="100" d="100"/>
        <a:sy n="100" d="100"/>
      </p:scale>
      <p:origin x="0" y="0"/>
    </p:cViewPr>
  </p:notesTextViewPr>
  <p:sorterViewPr>
    <p:cViewPr varScale="1">
      <p:scale>
        <a:sx n="1" d="1"/>
        <a:sy n="1" d="1"/>
      </p:scale>
      <p:origin x="0" y="0"/>
    </p:cViewPr>
  </p:sorterViewPr>
  <p:notesViewPr>
    <p:cSldViewPr>
      <p:cViewPr varScale="1">
        <p:scale>
          <a:sx n="88" d="100"/>
          <a:sy n="88" d="100"/>
        </p:scale>
        <p:origin x="-3870" y="-12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font" Target="fonts/font3.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font" Target="fonts/font2.fntdata"/><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1.fntdata"/><Relationship Id="rId58"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5.fntdata"/><Relationship Id="rId61"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handoutMaster" Target="handoutMasters/handoutMaster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4.fntdata"/><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9C0566A-C486-4B5E-BB04-2DF39D853E17}"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tr-TR"/>
        </a:p>
      </dgm:t>
    </dgm:pt>
    <dgm:pt modelId="{65FA9953-9888-4BEB-AEED-4C0030D02CDD}">
      <dgm:prSet phldrT="[Text]" phldr="0"/>
      <dgm:spPr/>
      <dgm:t>
        <a:bodyPr/>
        <a:lstStyle/>
        <a:p>
          <a:r>
            <a:rPr lang="tr-TR"/>
            <a:t>Ba</a:t>
          </a:r>
        </a:p>
      </dgm:t>
    </dgm:pt>
    <dgm:pt modelId="{B57EC206-20A8-4CC8-B4BF-703D26E4E2C5}" type="parTrans" cxnId="{10ED5E02-4A3F-47C7-95B6-C83BDF9A8AC9}">
      <dgm:prSet/>
      <dgm:spPr/>
      <dgm:t>
        <a:bodyPr/>
        <a:lstStyle/>
        <a:p>
          <a:endParaRPr lang="tr-TR"/>
        </a:p>
      </dgm:t>
    </dgm:pt>
    <dgm:pt modelId="{ABDA73A3-69E6-4910-802A-DD363E461EFE}" type="sibTrans" cxnId="{10ED5E02-4A3F-47C7-95B6-C83BDF9A8AC9}">
      <dgm:prSet/>
      <dgm:spPr/>
      <dgm:t>
        <a:bodyPr/>
        <a:lstStyle/>
        <a:p>
          <a:endParaRPr lang="tr-TR"/>
        </a:p>
      </dgm:t>
    </dgm:pt>
    <dgm:pt modelId="{69DBD5F4-DE13-4E17-BF64-226FA6BCD25D}">
      <dgm:prSet phldrT="[Text]" phldr="0"/>
      <dgm:spPr/>
      <dgm:t>
        <a:bodyPr/>
        <a:lstStyle/>
        <a:p>
          <a:r>
            <a:rPr lang="tr-TR"/>
            <a:t>K</a:t>
          </a:r>
        </a:p>
      </dgm:t>
    </dgm:pt>
    <dgm:pt modelId="{B2BB946E-4FC6-4794-85F2-27618B2A95C8}" type="parTrans" cxnId="{861A3713-057C-40A2-857A-683B274EDE40}">
      <dgm:prSet/>
      <dgm:spPr/>
      <dgm:t>
        <a:bodyPr/>
        <a:lstStyle/>
        <a:p>
          <a:endParaRPr lang="tr-TR"/>
        </a:p>
      </dgm:t>
    </dgm:pt>
    <dgm:pt modelId="{6126BF6A-AFAF-4814-A37B-81CBA1B3AD9D}" type="sibTrans" cxnId="{861A3713-057C-40A2-857A-683B274EDE40}">
      <dgm:prSet/>
      <dgm:spPr/>
      <dgm:t>
        <a:bodyPr/>
        <a:lstStyle/>
        <a:p>
          <a:endParaRPr lang="tr-TR"/>
        </a:p>
      </dgm:t>
    </dgm:pt>
    <dgm:pt modelId="{C72AD299-6E9E-460A-915E-27FE86EC32FD}">
      <dgm:prSet phldrT="[Text]" phldr="0"/>
      <dgm:spPr/>
      <dgm:t>
        <a:bodyPr/>
        <a:lstStyle/>
        <a:p>
          <a:r>
            <a:rPr lang="tr-TR"/>
            <a:t>B</a:t>
          </a:r>
        </a:p>
      </dgm:t>
    </dgm:pt>
    <dgm:pt modelId="{468BF72D-76B2-4D23-81FC-9014A25FD354}" type="parTrans" cxnId="{165AB032-49AB-4092-939A-169D5E696136}">
      <dgm:prSet/>
      <dgm:spPr/>
      <dgm:t>
        <a:bodyPr/>
        <a:lstStyle/>
        <a:p>
          <a:endParaRPr lang="tr-TR"/>
        </a:p>
      </dgm:t>
    </dgm:pt>
    <dgm:pt modelId="{2F73C913-F90B-40BE-9B7B-56A6A28ECD80}" type="sibTrans" cxnId="{165AB032-49AB-4092-939A-169D5E696136}">
      <dgm:prSet/>
      <dgm:spPr/>
      <dgm:t>
        <a:bodyPr/>
        <a:lstStyle/>
        <a:p>
          <a:endParaRPr lang="tr-TR"/>
        </a:p>
      </dgm:t>
    </dgm:pt>
    <dgm:pt modelId="{AA39CC3D-5220-4037-8208-469EAEAF8D57}">
      <dgm:prSet phldrT="[Text]" phldr="0"/>
      <dgm:spPr/>
      <dgm:t>
        <a:bodyPr/>
        <a:lstStyle/>
        <a:p>
          <a:r>
            <a:rPr lang="tr-TR"/>
            <a:t>E</a:t>
          </a:r>
        </a:p>
      </dgm:t>
    </dgm:pt>
    <dgm:pt modelId="{6F949E3A-264D-475E-8F9B-D7676BA70D77}" type="parTrans" cxnId="{15F33DDE-9C93-45FF-8926-81608998BEAA}">
      <dgm:prSet/>
      <dgm:spPr/>
      <dgm:t>
        <a:bodyPr/>
        <a:lstStyle/>
        <a:p>
          <a:endParaRPr lang="tr-TR"/>
        </a:p>
      </dgm:t>
    </dgm:pt>
    <dgm:pt modelId="{A41E0937-470E-498B-B120-91D33157581A}" type="sibTrans" cxnId="{15F33DDE-9C93-45FF-8926-81608998BEAA}">
      <dgm:prSet/>
      <dgm:spPr/>
      <dgm:t>
        <a:bodyPr/>
        <a:lstStyle/>
        <a:p>
          <a:endParaRPr lang="tr-TR"/>
        </a:p>
      </dgm:t>
    </dgm:pt>
    <dgm:pt modelId="{E7935D6A-46E2-4D87-B134-35336E084CCC}">
      <dgm:prSet phldrT="[Text]" phldr="0"/>
      <dgm:spPr/>
      <dgm:t>
        <a:bodyPr/>
        <a:lstStyle/>
        <a:p>
          <a:r>
            <a:rPr lang="tr-TR"/>
            <a:t>A</a:t>
          </a:r>
        </a:p>
      </dgm:t>
    </dgm:pt>
    <dgm:pt modelId="{116C756B-B463-4493-BE48-2350A8477128}" type="parTrans" cxnId="{50C0BAB1-FC54-43C9-B621-8864E4EBC6A5}">
      <dgm:prSet/>
      <dgm:spPr/>
      <dgm:t>
        <a:bodyPr/>
        <a:lstStyle/>
        <a:p>
          <a:endParaRPr lang="tr-TR"/>
        </a:p>
      </dgm:t>
    </dgm:pt>
    <dgm:pt modelId="{91538FDF-550B-4031-BF89-8EB4578E9562}" type="sibTrans" cxnId="{50C0BAB1-FC54-43C9-B621-8864E4EBC6A5}">
      <dgm:prSet/>
      <dgm:spPr/>
      <dgm:t>
        <a:bodyPr/>
        <a:lstStyle/>
        <a:p>
          <a:endParaRPr lang="tr-TR"/>
        </a:p>
      </dgm:t>
    </dgm:pt>
    <dgm:pt modelId="{2CA71918-96EF-4FB0-B912-DC1B9133DF11}" type="pres">
      <dgm:prSet presAssocID="{79C0566A-C486-4B5E-BB04-2DF39D853E17}" presName="cycle" presStyleCnt="0">
        <dgm:presLayoutVars>
          <dgm:dir/>
          <dgm:resizeHandles val="exact"/>
        </dgm:presLayoutVars>
      </dgm:prSet>
      <dgm:spPr/>
    </dgm:pt>
    <dgm:pt modelId="{5DE957B9-A315-4AD9-BD7A-D70C4BD038B8}" type="pres">
      <dgm:prSet presAssocID="{65FA9953-9888-4BEB-AEED-4C0030D02CDD}" presName="node" presStyleLbl="node1" presStyleIdx="0" presStyleCnt="5">
        <dgm:presLayoutVars>
          <dgm:bulletEnabled val="1"/>
        </dgm:presLayoutVars>
      </dgm:prSet>
      <dgm:spPr/>
    </dgm:pt>
    <dgm:pt modelId="{6AD96D46-2360-4F29-BEB1-49BBC194C581}" type="pres">
      <dgm:prSet presAssocID="{ABDA73A3-69E6-4910-802A-DD363E461EFE}" presName="sibTrans" presStyleLbl="sibTrans2D1" presStyleIdx="0" presStyleCnt="5"/>
      <dgm:spPr/>
    </dgm:pt>
    <dgm:pt modelId="{0717F50C-C812-4623-9422-2B5BB2E75AD6}" type="pres">
      <dgm:prSet presAssocID="{ABDA73A3-69E6-4910-802A-DD363E461EFE}" presName="connectorText" presStyleLbl="sibTrans2D1" presStyleIdx="0" presStyleCnt="5"/>
      <dgm:spPr/>
    </dgm:pt>
    <dgm:pt modelId="{D3EBC3EE-C132-4F2E-924E-3CC2EFE96BC8}" type="pres">
      <dgm:prSet presAssocID="{69DBD5F4-DE13-4E17-BF64-226FA6BCD25D}" presName="node" presStyleLbl="node1" presStyleIdx="1" presStyleCnt="5">
        <dgm:presLayoutVars>
          <dgm:bulletEnabled val="1"/>
        </dgm:presLayoutVars>
      </dgm:prSet>
      <dgm:spPr/>
    </dgm:pt>
    <dgm:pt modelId="{637A66A6-5A7C-4624-9C51-113A37A81C75}" type="pres">
      <dgm:prSet presAssocID="{6126BF6A-AFAF-4814-A37B-81CBA1B3AD9D}" presName="sibTrans" presStyleLbl="sibTrans2D1" presStyleIdx="1" presStyleCnt="5"/>
      <dgm:spPr/>
    </dgm:pt>
    <dgm:pt modelId="{46AB2223-1C28-47CD-8CAE-BB251FC9BC85}" type="pres">
      <dgm:prSet presAssocID="{6126BF6A-AFAF-4814-A37B-81CBA1B3AD9D}" presName="connectorText" presStyleLbl="sibTrans2D1" presStyleIdx="1" presStyleCnt="5"/>
      <dgm:spPr/>
    </dgm:pt>
    <dgm:pt modelId="{072CF0E9-234F-43F2-A669-A73F1CB022BF}" type="pres">
      <dgm:prSet presAssocID="{C72AD299-6E9E-460A-915E-27FE86EC32FD}" presName="node" presStyleLbl="node1" presStyleIdx="2" presStyleCnt="5">
        <dgm:presLayoutVars>
          <dgm:bulletEnabled val="1"/>
        </dgm:presLayoutVars>
      </dgm:prSet>
      <dgm:spPr/>
    </dgm:pt>
    <dgm:pt modelId="{3B448661-8C1C-4763-B48F-A1C45BEA952B}" type="pres">
      <dgm:prSet presAssocID="{2F73C913-F90B-40BE-9B7B-56A6A28ECD80}" presName="sibTrans" presStyleLbl="sibTrans2D1" presStyleIdx="2" presStyleCnt="5"/>
      <dgm:spPr/>
    </dgm:pt>
    <dgm:pt modelId="{B5F4CB10-53DF-4BD9-9141-CB58DEEB6C28}" type="pres">
      <dgm:prSet presAssocID="{2F73C913-F90B-40BE-9B7B-56A6A28ECD80}" presName="connectorText" presStyleLbl="sibTrans2D1" presStyleIdx="2" presStyleCnt="5"/>
      <dgm:spPr/>
    </dgm:pt>
    <dgm:pt modelId="{0F7135AD-A401-4421-AAD7-4BD12F723E89}" type="pres">
      <dgm:prSet presAssocID="{AA39CC3D-5220-4037-8208-469EAEAF8D57}" presName="node" presStyleLbl="node1" presStyleIdx="3" presStyleCnt="5">
        <dgm:presLayoutVars>
          <dgm:bulletEnabled val="1"/>
        </dgm:presLayoutVars>
      </dgm:prSet>
      <dgm:spPr/>
    </dgm:pt>
    <dgm:pt modelId="{C1408E7A-5490-4210-AB43-B0A560C318AD}" type="pres">
      <dgm:prSet presAssocID="{A41E0937-470E-498B-B120-91D33157581A}" presName="sibTrans" presStyleLbl="sibTrans2D1" presStyleIdx="3" presStyleCnt="5"/>
      <dgm:spPr/>
    </dgm:pt>
    <dgm:pt modelId="{93FD8C79-2163-4441-8A71-6B8C03DE905B}" type="pres">
      <dgm:prSet presAssocID="{A41E0937-470E-498B-B120-91D33157581A}" presName="connectorText" presStyleLbl="sibTrans2D1" presStyleIdx="3" presStyleCnt="5"/>
      <dgm:spPr/>
    </dgm:pt>
    <dgm:pt modelId="{A2CC9B18-B1EF-477C-AF29-1CD7C8C418D9}" type="pres">
      <dgm:prSet presAssocID="{E7935D6A-46E2-4D87-B134-35336E084CCC}" presName="node" presStyleLbl="node1" presStyleIdx="4" presStyleCnt="5">
        <dgm:presLayoutVars>
          <dgm:bulletEnabled val="1"/>
        </dgm:presLayoutVars>
      </dgm:prSet>
      <dgm:spPr/>
    </dgm:pt>
    <dgm:pt modelId="{40B9444E-070C-4371-B9A7-DB7E08144054}" type="pres">
      <dgm:prSet presAssocID="{91538FDF-550B-4031-BF89-8EB4578E9562}" presName="sibTrans" presStyleLbl="sibTrans2D1" presStyleIdx="4" presStyleCnt="5"/>
      <dgm:spPr/>
    </dgm:pt>
    <dgm:pt modelId="{1DF2C940-B872-4B3A-A187-1C81231FF2A2}" type="pres">
      <dgm:prSet presAssocID="{91538FDF-550B-4031-BF89-8EB4578E9562}" presName="connectorText" presStyleLbl="sibTrans2D1" presStyleIdx="4" presStyleCnt="5"/>
      <dgm:spPr/>
    </dgm:pt>
  </dgm:ptLst>
  <dgm:cxnLst>
    <dgm:cxn modelId="{313EC300-8240-49E8-9E11-91B304C2BE26}" type="presOf" srcId="{ABDA73A3-69E6-4910-802A-DD363E461EFE}" destId="{0717F50C-C812-4623-9422-2B5BB2E75AD6}" srcOrd="1" destOrd="0" presId="urn:microsoft.com/office/officeart/2005/8/layout/cycle2"/>
    <dgm:cxn modelId="{10ED5E02-4A3F-47C7-95B6-C83BDF9A8AC9}" srcId="{79C0566A-C486-4B5E-BB04-2DF39D853E17}" destId="{65FA9953-9888-4BEB-AEED-4C0030D02CDD}" srcOrd="0" destOrd="0" parTransId="{B57EC206-20A8-4CC8-B4BF-703D26E4E2C5}" sibTransId="{ABDA73A3-69E6-4910-802A-DD363E461EFE}"/>
    <dgm:cxn modelId="{861A3713-057C-40A2-857A-683B274EDE40}" srcId="{79C0566A-C486-4B5E-BB04-2DF39D853E17}" destId="{69DBD5F4-DE13-4E17-BF64-226FA6BCD25D}" srcOrd="1" destOrd="0" parTransId="{B2BB946E-4FC6-4794-85F2-27618B2A95C8}" sibTransId="{6126BF6A-AFAF-4814-A37B-81CBA1B3AD9D}"/>
    <dgm:cxn modelId="{3CBF4B1D-7B53-4D06-A959-F75E5EEA76C5}" type="presOf" srcId="{C72AD299-6E9E-460A-915E-27FE86EC32FD}" destId="{072CF0E9-234F-43F2-A669-A73F1CB022BF}" srcOrd="0" destOrd="0" presId="urn:microsoft.com/office/officeart/2005/8/layout/cycle2"/>
    <dgm:cxn modelId="{16AD561E-7D95-4D06-B912-735BB3BE3130}" type="presOf" srcId="{79C0566A-C486-4B5E-BB04-2DF39D853E17}" destId="{2CA71918-96EF-4FB0-B912-DC1B9133DF11}" srcOrd="0" destOrd="0" presId="urn:microsoft.com/office/officeart/2005/8/layout/cycle2"/>
    <dgm:cxn modelId="{165AB032-49AB-4092-939A-169D5E696136}" srcId="{79C0566A-C486-4B5E-BB04-2DF39D853E17}" destId="{C72AD299-6E9E-460A-915E-27FE86EC32FD}" srcOrd="2" destOrd="0" parTransId="{468BF72D-76B2-4D23-81FC-9014A25FD354}" sibTransId="{2F73C913-F90B-40BE-9B7B-56A6A28ECD80}"/>
    <dgm:cxn modelId="{69646038-E5A7-415A-9AD0-8D17E49B15D5}" type="presOf" srcId="{6126BF6A-AFAF-4814-A37B-81CBA1B3AD9D}" destId="{637A66A6-5A7C-4624-9C51-113A37A81C75}" srcOrd="0" destOrd="0" presId="urn:microsoft.com/office/officeart/2005/8/layout/cycle2"/>
    <dgm:cxn modelId="{8D6FFA42-74E2-4F22-AA65-EEBBE2771007}" type="presOf" srcId="{AA39CC3D-5220-4037-8208-469EAEAF8D57}" destId="{0F7135AD-A401-4421-AAD7-4BD12F723E89}" srcOrd="0" destOrd="0" presId="urn:microsoft.com/office/officeart/2005/8/layout/cycle2"/>
    <dgm:cxn modelId="{EF33096A-62CE-4682-8F59-B6E285016C83}" type="presOf" srcId="{2F73C913-F90B-40BE-9B7B-56A6A28ECD80}" destId="{3B448661-8C1C-4763-B48F-A1C45BEA952B}" srcOrd="0" destOrd="0" presId="urn:microsoft.com/office/officeart/2005/8/layout/cycle2"/>
    <dgm:cxn modelId="{4FB97F6B-950B-4116-AC49-4C90530F3312}" type="presOf" srcId="{E7935D6A-46E2-4D87-B134-35336E084CCC}" destId="{A2CC9B18-B1EF-477C-AF29-1CD7C8C418D9}" srcOrd="0" destOrd="0" presId="urn:microsoft.com/office/officeart/2005/8/layout/cycle2"/>
    <dgm:cxn modelId="{A21B3576-DBE7-4311-839B-8D59773B63FF}" type="presOf" srcId="{91538FDF-550B-4031-BF89-8EB4578E9562}" destId="{40B9444E-070C-4371-B9A7-DB7E08144054}" srcOrd="0" destOrd="0" presId="urn:microsoft.com/office/officeart/2005/8/layout/cycle2"/>
    <dgm:cxn modelId="{944E4A78-05D8-47AC-A4D2-68FE77A13A17}" type="presOf" srcId="{6126BF6A-AFAF-4814-A37B-81CBA1B3AD9D}" destId="{46AB2223-1C28-47CD-8CAE-BB251FC9BC85}" srcOrd="1" destOrd="0" presId="urn:microsoft.com/office/officeart/2005/8/layout/cycle2"/>
    <dgm:cxn modelId="{D39C4494-64D0-425E-8CDD-2EE6BB7FDC60}" type="presOf" srcId="{ABDA73A3-69E6-4910-802A-DD363E461EFE}" destId="{6AD96D46-2360-4F29-BEB1-49BBC194C581}" srcOrd="0" destOrd="0" presId="urn:microsoft.com/office/officeart/2005/8/layout/cycle2"/>
    <dgm:cxn modelId="{A731E79B-1F02-4817-AA95-D1E791773BE9}" type="presOf" srcId="{2F73C913-F90B-40BE-9B7B-56A6A28ECD80}" destId="{B5F4CB10-53DF-4BD9-9141-CB58DEEB6C28}" srcOrd="1" destOrd="0" presId="urn:microsoft.com/office/officeart/2005/8/layout/cycle2"/>
    <dgm:cxn modelId="{786004A6-CE5C-4B2C-89B1-70C9C1913A5B}" type="presOf" srcId="{65FA9953-9888-4BEB-AEED-4C0030D02CDD}" destId="{5DE957B9-A315-4AD9-BD7A-D70C4BD038B8}" srcOrd="0" destOrd="0" presId="urn:microsoft.com/office/officeart/2005/8/layout/cycle2"/>
    <dgm:cxn modelId="{FA37B2AE-4110-4846-8FB5-2AFF86299AB2}" type="presOf" srcId="{A41E0937-470E-498B-B120-91D33157581A}" destId="{93FD8C79-2163-4441-8A71-6B8C03DE905B}" srcOrd="1" destOrd="0" presId="urn:microsoft.com/office/officeart/2005/8/layout/cycle2"/>
    <dgm:cxn modelId="{50C0BAB1-FC54-43C9-B621-8864E4EBC6A5}" srcId="{79C0566A-C486-4B5E-BB04-2DF39D853E17}" destId="{E7935D6A-46E2-4D87-B134-35336E084CCC}" srcOrd="4" destOrd="0" parTransId="{116C756B-B463-4493-BE48-2350A8477128}" sibTransId="{91538FDF-550B-4031-BF89-8EB4578E9562}"/>
    <dgm:cxn modelId="{6098D5B2-62F5-4F6C-B51E-CDCC5E0D00AB}" type="presOf" srcId="{91538FDF-550B-4031-BF89-8EB4578E9562}" destId="{1DF2C940-B872-4B3A-A187-1C81231FF2A2}" srcOrd="1" destOrd="0" presId="urn:microsoft.com/office/officeart/2005/8/layout/cycle2"/>
    <dgm:cxn modelId="{CD1C28C6-9ECC-4D00-912F-3A810F2B9B18}" type="presOf" srcId="{A41E0937-470E-498B-B120-91D33157581A}" destId="{C1408E7A-5490-4210-AB43-B0A560C318AD}" srcOrd="0" destOrd="0" presId="urn:microsoft.com/office/officeart/2005/8/layout/cycle2"/>
    <dgm:cxn modelId="{40A0D8D9-7FAB-45A6-92BD-A722C7F9C6EA}" type="presOf" srcId="{69DBD5F4-DE13-4E17-BF64-226FA6BCD25D}" destId="{D3EBC3EE-C132-4F2E-924E-3CC2EFE96BC8}" srcOrd="0" destOrd="0" presId="urn:microsoft.com/office/officeart/2005/8/layout/cycle2"/>
    <dgm:cxn modelId="{15F33DDE-9C93-45FF-8926-81608998BEAA}" srcId="{79C0566A-C486-4B5E-BB04-2DF39D853E17}" destId="{AA39CC3D-5220-4037-8208-469EAEAF8D57}" srcOrd="3" destOrd="0" parTransId="{6F949E3A-264D-475E-8F9B-D7676BA70D77}" sibTransId="{A41E0937-470E-498B-B120-91D33157581A}"/>
    <dgm:cxn modelId="{56AD8F51-C494-4470-950A-AA4B6E6FDD0D}" type="presParOf" srcId="{2CA71918-96EF-4FB0-B912-DC1B9133DF11}" destId="{5DE957B9-A315-4AD9-BD7A-D70C4BD038B8}" srcOrd="0" destOrd="0" presId="urn:microsoft.com/office/officeart/2005/8/layout/cycle2"/>
    <dgm:cxn modelId="{9308E406-3DE3-45F2-95AE-F3D319092F8F}" type="presParOf" srcId="{2CA71918-96EF-4FB0-B912-DC1B9133DF11}" destId="{6AD96D46-2360-4F29-BEB1-49BBC194C581}" srcOrd="1" destOrd="0" presId="urn:microsoft.com/office/officeart/2005/8/layout/cycle2"/>
    <dgm:cxn modelId="{CF22AD0F-960F-4868-B9B6-30014D52A11C}" type="presParOf" srcId="{6AD96D46-2360-4F29-BEB1-49BBC194C581}" destId="{0717F50C-C812-4623-9422-2B5BB2E75AD6}" srcOrd="0" destOrd="0" presId="urn:microsoft.com/office/officeart/2005/8/layout/cycle2"/>
    <dgm:cxn modelId="{FF96CF68-054B-46D7-8D32-252BFDB4982F}" type="presParOf" srcId="{2CA71918-96EF-4FB0-B912-DC1B9133DF11}" destId="{D3EBC3EE-C132-4F2E-924E-3CC2EFE96BC8}" srcOrd="2" destOrd="0" presId="urn:microsoft.com/office/officeart/2005/8/layout/cycle2"/>
    <dgm:cxn modelId="{444D353E-C2F4-4957-8E68-C2222B8E12A5}" type="presParOf" srcId="{2CA71918-96EF-4FB0-B912-DC1B9133DF11}" destId="{637A66A6-5A7C-4624-9C51-113A37A81C75}" srcOrd="3" destOrd="0" presId="urn:microsoft.com/office/officeart/2005/8/layout/cycle2"/>
    <dgm:cxn modelId="{7CF0D23A-03D3-4E12-A3C6-1CEE1F1CA88A}" type="presParOf" srcId="{637A66A6-5A7C-4624-9C51-113A37A81C75}" destId="{46AB2223-1C28-47CD-8CAE-BB251FC9BC85}" srcOrd="0" destOrd="0" presId="urn:microsoft.com/office/officeart/2005/8/layout/cycle2"/>
    <dgm:cxn modelId="{F61D8C01-FEBE-4039-9F2C-4700D5645168}" type="presParOf" srcId="{2CA71918-96EF-4FB0-B912-DC1B9133DF11}" destId="{072CF0E9-234F-43F2-A669-A73F1CB022BF}" srcOrd="4" destOrd="0" presId="urn:microsoft.com/office/officeart/2005/8/layout/cycle2"/>
    <dgm:cxn modelId="{9112EB10-C3DB-463F-A8D3-56D71D628DD9}" type="presParOf" srcId="{2CA71918-96EF-4FB0-B912-DC1B9133DF11}" destId="{3B448661-8C1C-4763-B48F-A1C45BEA952B}" srcOrd="5" destOrd="0" presId="urn:microsoft.com/office/officeart/2005/8/layout/cycle2"/>
    <dgm:cxn modelId="{340E0880-C117-4968-AC8E-19C816645A27}" type="presParOf" srcId="{3B448661-8C1C-4763-B48F-A1C45BEA952B}" destId="{B5F4CB10-53DF-4BD9-9141-CB58DEEB6C28}" srcOrd="0" destOrd="0" presId="urn:microsoft.com/office/officeart/2005/8/layout/cycle2"/>
    <dgm:cxn modelId="{5B2ED4A4-5BD2-4E0F-8E22-E8CDBB884E8B}" type="presParOf" srcId="{2CA71918-96EF-4FB0-B912-DC1B9133DF11}" destId="{0F7135AD-A401-4421-AAD7-4BD12F723E89}" srcOrd="6" destOrd="0" presId="urn:microsoft.com/office/officeart/2005/8/layout/cycle2"/>
    <dgm:cxn modelId="{551A3849-49B9-4896-822B-E3394B06C9E6}" type="presParOf" srcId="{2CA71918-96EF-4FB0-B912-DC1B9133DF11}" destId="{C1408E7A-5490-4210-AB43-B0A560C318AD}" srcOrd="7" destOrd="0" presId="urn:microsoft.com/office/officeart/2005/8/layout/cycle2"/>
    <dgm:cxn modelId="{B6041D3C-04FB-46DD-863B-3F53FB755AE2}" type="presParOf" srcId="{C1408E7A-5490-4210-AB43-B0A560C318AD}" destId="{93FD8C79-2163-4441-8A71-6B8C03DE905B}" srcOrd="0" destOrd="0" presId="urn:microsoft.com/office/officeart/2005/8/layout/cycle2"/>
    <dgm:cxn modelId="{8F3A156C-6EE7-44F1-8EAA-2A422BFC2F7C}" type="presParOf" srcId="{2CA71918-96EF-4FB0-B912-DC1B9133DF11}" destId="{A2CC9B18-B1EF-477C-AF29-1CD7C8C418D9}" srcOrd="8" destOrd="0" presId="urn:microsoft.com/office/officeart/2005/8/layout/cycle2"/>
    <dgm:cxn modelId="{F3E3CDC2-D242-41EE-AEAB-B4EAFB5FE22B}" type="presParOf" srcId="{2CA71918-96EF-4FB0-B912-DC1B9133DF11}" destId="{40B9444E-070C-4371-B9A7-DB7E08144054}" srcOrd="9" destOrd="0" presId="urn:microsoft.com/office/officeart/2005/8/layout/cycle2"/>
    <dgm:cxn modelId="{3E3E4384-E876-4A97-BA57-912BD28B8C23}" type="presParOf" srcId="{40B9444E-070C-4371-B9A7-DB7E08144054}" destId="{1DF2C940-B872-4B3A-A187-1C81231FF2A2}" srcOrd="0" destOrd="0" presId="urn:microsoft.com/office/officeart/2005/8/layout/cycle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1264D5A-00B9-4104-9A02-6A5488DCB015}"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tr-TR"/>
        </a:p>
      </dgm:t>
    </dgm:pt>
    <dgm:pt modelId="{E4322AE4-6E9B-4C7A-BD5D-E09B8E919137}">
      <dgm:prSet phldrT="[Text]" phldr="0"/>
      <dgm:spPr/>
      <dgm:t>
        <a:bodyPr/>
        <a:lstStyle/>
        <a:p>
          <a:r>
            <a:rPr lang="tr-TR"/>
            <a:t>A</a:t>
          </a:r>
        </a:p>
      </dgm:t>
    </dgm:pt>
    <dgm:pt modelId="{80ABD4AB-F1FC-4755-BA1A-3449FC1BCB85}" type="parTrans" cxnId="{9ED17831-C674-4963-AF15-3CB8ED0CEE78}">
      <dgm:prSet/>
      <dgm:spPr/>
      <dgm:t>
        <a:bodyPr/>
        <a:lstStyle/>
        <a:p>
          <a:endParaRPr lang="tr-TR"/>
        </a:p>
      </dgm:t>
    </dgm:pt>
    <dgm:pt modelId="{F265443B-2EE9-4822-B85D-F316684C20E4}" type="sibTrans" cxnId="{9ED17831-C674-4963-AF15-3CB8ED0CEE78}">
      <dgm:prSet/>
      <dgm:spPr/>
      <dgm:t>
        <a:bodyPr/>
        <a:lstStyle/>
        <a:p>
          <a:endParaRPr lang="tr-TR"/>
        </a:p>
      </dgm:t>
    </dgm:pt>
    <dgm:pt modelId="{4C445A7D-B6ED-4943-B4DA-F7F5E639AE4D}">
      <dgm:prSet phldrT="[Text]" phldr="0"/>
      <dgm:spPr/>
      <dgm:t>
        <a:bodyPr/>
        <a:lstStyle/>
        <a:p>
          <a:r>
            <a:rPr lang="tr-TR"/>
            <a:t>B</a:t>
          </a:r>
        </a:p>
      </dgm:t>
    </dgm:pt>
    <dgm:pt modelId="{AEF21F9D-9347-4187-9D9B-B4280B9E64B9}" type="parTrans" cxnId="{18BECA6C-49E9-44EF-B785-BC2C1C1786DD}">
      <dgm:prSet/>
      <dgm:spPr/>
      <dgm:t>
        <a:bodyPr/>
        <a:lstStyle/>
        <a:p>
          <a:endParaRPr lang="tr-TR"/>
        </a:p>
      </dgm:t>
    </dgm:pt>
    <dgm:pt modelId="{118F4C3D-F00B-4A61-B0D5-8182A5A9B293}" type="sibTrans" cxnId="{18BECA6C-49E9-44EF-B785-BC2C1C1786DD}">
      <dgm:prSet/>
      <dgm:spPr/>
      <dgm:t>
        <a:bodyPr/>
        <a:lstStyle/>
        <a:p>
          <a:endParaRPr lang="tr-TR"/>
        </a:p>
      </dgm:t>
    </dgm:pt>
    <dgm:pt modelId="{14E8FC9C-15B2-46E0-AAD5-5D169FE72098}">
      <dgm:prSet phldrT="[Text]" phldr="0"/>
      <dgm:spPr/>
      <dgm:t>
        <a:bodyPr/>
        <a:lstStyle/>
        <a:p>
          <a:r>
            <a:rPr lang="tr-TR"/>
            <a:t>U</a:t>
          </a:r>
        </a:p>
      </dgm:t>
    </dgm:pt>
    <dgm:pt modelId="{6E03988E-E308-41B9-A681-7D680C252431}" type="parTrans" cxnId="{75190E47-9E84-46AF-9D8B-180EFC141BFB}">
      <dgm:prSet/>
      <dgm:spPr/>
      <dgm:t>
        <a:bodyPr/>
        <a:lstStyle/>
        <a:p>
          <a:endParaRPr lang="tr-TR"/>
        </a:p>
      </dgm:t>
    </dgm:pt>
    <dgm:pt modelId="{206C67D2-7193-4F5A-B530-3714B69DEB43}" type="sibTrans" cxnId="{75190E47-9E84-46AF-9D8B-180EFC141BFB}">
      <dgm:prSet/>
      <dgm:spPr/>
      <dgm:t>
        <a:bodyPr/>
        <a:lstStyle/>
        <a:p>
          <a:endParaRPr lang="tr-TR"/>
        </a:p>
      </dgm:t>
    </dgm:pt>
    <dgm:pt modelId="{55191753-CA66-4A5C-BB13-7C3B26714A9D}" type="pres">
      <dgm:prSet presAssocID="{A1264D5A-00B9-4104-9A02-6A5488DCB015}" presName="cycle" presStyleCnt="0">
        <dgm:presLayoutVars>
          <dgm:dir/>
          <dgm:resizeHandles val="exact"/>
        </dgm:presLayoutVars>
      </dgm:prSet>
      <dgm:spPr/>
    </dgm:pt>
    <dgm:pt modelId="{7FDCE4A6-7AEE-4EEF-8683-E98A2AC745FD}" type="pres">
      <dgm:prSet presAssocID="{E4322AE4-6E9B-4C7A-BD5D-E09B8E919137}" presName="node" presStyleLbl="node1" presStyleIdx="0" presStyleCnt="3">
        <dgm:presLayoutVars>
          <dgm:bulletEnabled val="1"/>
        </dgm:presLayoutVars>
      </dgm:prSet>
      <dgm:spPr/>
    </dgm:pt>
    <dgm:pt modelId="{BED22A5C-6E7C-425C-958C-E7A36FB47769}" type="pres">
      <dgm:prSet presAssocID="{F265443B-2EE9-4822-B85D-F316684C20E4}" presName="sibTrans" presStyleLbl="sibTrans2D1" presStyleIdx="0" presStyleCnt="3"/>
      <dgm:spPr/>
    </dgm:pt>
    <dgm:pt modelId="{D1B3205B-4976-48BC-BE14-E5F702917F6D}" type="pres">
      <dgm:prSet presAssocID="{F265443B-2EE9-4822-B85D-F316684C20E4}" presName="connectorText" presStyleLbl="sibTrans2D1" presStyleIdx="0" presStyleCnt="3"/>
      <dgm:spPr/>
    </dgm:pt>
    <dgm:pt modelId="{08BC4E4E-8EC6-416D-B3FF-F09B25BFF25B}" type="pres">
      <dgm:prSet presAssocID="{4C445A7D-B6ED-4943-B4DA-F7F5E639AE4D}" presName="node" presStyleLbl="node1" presStyleIdx="1" presStyleCnt="3">
        <dgm:presLayoutVars>
          <dgm:bulletEnabled val="1"/>
        </dgm:presLayoutVars>
      </dgm:prSet>
      <dgm:spPr/>
    </dgm:pt>
    <dgm:pt modelId="{78585735-6EBA-4F28-87B4-DF3CB711B52C}" type="pres">
      <dgm:prSet presAssocID="{118F4C3D-F00B-4A61-B0D5-8182A5A9B293}" presName="sibTrans" presStyleLbl="sibTrans2D1" presStyleIdx="1" presStyleCnt="3"/>
      <dgm:spPr/>
    </dgm:pt>
    <dgm:pt modelId="{DAD6D316-532A-4C33-85A6-0AEA5FF39267}" type="pres">
      <dgm:prSet presAssocID="{118F4C3D-F00B-4A61-B0D5-8182A5A9B293}" presName="connectorText" presStyleLbl="sibTrans2D1" presStyleIdx="1" presStyleCnt="3"/>
      <dgm:spPr/>
    </dgm:pt>
    <dgm:pt modelId="{A159396D-80A4-4982-A450-8754BDA3A6A8}" type="pres">
      <dgm:prSet presAssocID="{14E8FC9C-15B2-46E0-AAD5-5D169FE72098}" presName="node" presStyleLbl="node1" presStyleIdx="2" presStyleCnt="3">
        <dgm:presLayoutVars>
          <dgm:bulletEnabled val="1"/>
        </dgm:presLayoutVars>
      </dgm:prSet>
      <dgm:spPr/>
    </dgm:pt>
    <dgm:pt modelId="{50D5151B-49CD-4D7D-8AA1-9774D73E5B60}" type="pres">
      <dgm:prSet presAssocID="{206C67D2-7193-4F5A-B530-3714B69DEB43}" presName="sibTrans" presStyleLbl="sibTrans2D1" presStyleIdx="2" presStyleCnt="3"/>
      <dgm:spPr/>
    </dgm:pt>
    <dgm:pt modelId="{21BCC6B3-34D9-4760-893D-A6AD4A7EF4A4}" type="pres">
      <dgm:prSet presAssocID="{206C67D2-7193-4F5A-B530-3714B69DEB43}" presName="connectorText" presStyleLbl="sibTrans2D1" presStyleIdx="2" presStyleCnt="3"/>
      <dgm:spPr/>
    </dgm:pt>
  </dgm:ptLst>
  <dgm:cxnLst>
    <dgm:cxn modelId="{2E22E611-A86B-419C-92F6-9E230941688C}" type="presOf" srcId="{E4322AE4-6E9B-4C7A-BD5D-E09B8E919137}" destId="{7FDCE4A6-7AEE-4EEF-8683-E98A2AC745FD}" srcOrd="0" destOrd="0" presId="urn:microsoft.com/office/officeart/2005/8/layout/cycle2"/>
    <dgm:cxn modelId="{2B2A201C-3EE8-4630-9A81-4FA018FF809C}" type="presOf" srcId="{F265443B-2EE9-4822-B85D-F316684C20E4}" destId="{D1B3205B-4976-48BC-BE14-E5F702917F6D}" srcOrd="1" destOrd="0" presId="urn:microsoft.com/office/officeart/2005/8/layout/cycle2"/>
    <dgm:cxn modelId="{603AC72C-1924-4F15-9FBC-C21C3F9BAE69}" type="presOf" srcId="{206C67D2-7193-4F5A-B530-3714B69DEB43}" destId="{50D5151B-49CD-4D7D-8AA1-9774D73E5B60}" srcOrd="0" destOrd="0" presId="urn:microsoft.com/office/officeart/2005/8/layout/cycle2"/>
    <dgm:cxn modelId="{9ED17831-C674-4963-AF15-3CB8ED0CEE78}" srcId="{A1264D5A-00B9-4104-9A02-6A5488DCB015}" destId="{E4322AE4-6E9B-4C7A-BD5D-E09B8E919137}" srcOrd="0" destOrd="0" parTransId="{80ABD4AB-F1FC-4755-BA1A-3449FC1BCB85}" sibTransId="{F265443B-2EE9-4822-B85D-F316684C20E4}"/>
    <dgm:cxn modelId="{75190E47-9E84-46AF-9D8B-180EFC141BFB}" srcId="{A1264D5A-00B9-4104-9A02-6A5488DCB015}" destId="{14E8FC9C-15B2-46E0-AAD5-5D169FE72098}" srcOrd="2" destOrd="0" parTransId="{6E03988E-E308-41B9-A681-7D680C252431}" sibTransId="{206C67D2-7193-4F5A-B530-3714B69DEB43}"/>
    <dgm:cxn modelId="{18BECA6C-49E9-44EF-B785-BC2C1C1786DD}" srcId="{A1264D5A-00B9-4104-9A02-6A5488DCB015}" destId="{4C445A7D-B6ED-4943-B4DA-F7F5E639AE4D}" srcOrd="1" destOrd="0" parTransId="{AEF21F9D-9347-4187-9D9B-B4280B9E64B9}" sibTransId="{118F4C3D-F00B-4A61-B0D5-8182A5A9B293}"/>
    <dgm:cxn modelId="{68B16577-1800-4703-91CD-E0D494832AEE}" type="presOf" srcId="{118F4C3D-F00B-4A61-B0D5-8182A5A9B293}" destId="{DAD6D316-532A-4C33-85A6-0AEA5FF39267}" srcOrd="1" destOrd="0" presId="urn:microsoft.com/office/officeart/2005/8/layout/cycle2"/>
    <dgm:cxn modelId="{35EEEC7C-CCBF-4CCB-AD8A-51C6D220302B}" type="presOf" srcId="{F265443B-2EE9-4822-B85D-F316684C20E4}" destId="{BED22A5C-6E7C-425C-958C-E7A36FB47769}" srcOrd="0" destOrd="0" presId="urn:microsoft.com/office/officeart/2005/8/layout/cycle2"/>
    <dgm:cxn modelId="{03A750B2-769D-4365-B525-40F93E85CE70}" type="presOf" srcId="{118F4C3D-F00B-4A61-B0D5-8182A5A9B293}" destId="{78585735-6EBA-4F28-87B4-DF3CB711B52C}" srcOrd="0" destOrd="0" presId="urn:microsoft.com/office/officeart/2005/8/layout/cycle2"/>
    <dgm:cxn modelId="{77C6B0B7-7737-421C-A901-29C3FD3091B3}" type="presOf" srcId="{14E8FC9C-15B2-46E0-AAD5-5D169FE72098}" destId="{A159396D-80A4-4982-A450-8754BDA3A6A8}" srcOrd="0" destOrd="0" presId="urn:microsoft.com/office/officeart/2005/8/layout/cycle2"/>
    <dgm:cxn modelId="{007199C8-ED71-4BBA-ADD6-B11B9EB0FBFA}" type="presOf" srcId="{4C445A7D-B6ED-4943-B4DA-F7F5E639AE4D}" destId="{08BC4E4E-8EC6-416D-B3FF-F09B25BFF25B}" srcOrd="0" destOrd="0" presId="urn:microsoft.com/office/officeart/2005/8/layout/cycle2"/>
    <dgm:cxn modelId="{DAF5E1D4-2152-4891-B3F8-D4EB2228641B}" type="presOf" srcId="{A1264D5A-00B9-4104-9A02-6A5488DCB015}" destId="{55191753-CA66-4A5C-BB13-7C3B26714A9D}" srcOrd="0" destOrd="0" presId="urn:microsoft.com/office/officeart/2005/8/layout/cycle2"/>
    <dgm:cxn modelId="{A32F77E3-06F8-4F3E-85B0-D57A09A08EAA}" type="presOf" srcId="{206C67D2-7193-4F5A-B530-3714B69DEB43}" destId="{21BCC6B3-34D9-4760-893D-A6AD4A7EF4A4}" srcOrd="1" destOrd="0" presId="urn:microsoft.com/office/officeart/2005/8/layout/cycle2"/>
    <dgm:cxn modelId="{95563509-5622-4C60-B661-85F53A677DA0}" type="presParOf" srcId="{55191753-CA66-4A5C-BB13-7C3B26714A9D}" destId="{7FDCE4A6-7AEE-4EEF-8683-E98A2AC745FD}" srcOrd="0" destOrd="0" presId="urn:microsoft.com/office/officeart/2005/8/layout/cycle2"/>
    <dgm:cxn modelId="{DB3553F2-5677-4259-9894-70ACAA0C89A1}" type="presParOf" srcId="{55191753-CA66-4A5C-BB13-7C3B26714A9D}" destId="{BED22A5C-6E7C-425C-958C-E7A36FB47769}" srcOrd="1" destOrd="0" presId="urn:microsoft.com/office/officeart/2005/8/layout/cycle2"/>
    <dgm:cxn modelId="{7AC9B314-262C-4DF6-9C55-97C09B5C3CDC}" type="presParOf" srcId="{BED22A5C-6E7C-425C-958C-E7A36FB47769}" destId="{D1B3205B-4976-48BC-BE14-E5F702917F6D}" srcOrd="0" destOrd="0" presId="urn:microsoft.com/office/officeart/2005/8/layout/cycle2"/>
    <dgm:cxn modelId="{459A4D41-C4C4-4932-8A41-75CB4F9FB8B7}" type="presParOf" srcId="{55191753-CA66-4A5C-BB13-7C3B26714A9D}" destId="{08BC4E4E-8EC6-416D-B3FF-F09B25BFF25B}" srcOrd="2" destOrd="0" presId="urn:microsoft.com/office/officeart/2005/8/layout/cycle2"/>
    <dgm:cxn modelId="{C84C13A5-30C3-41BA-8A3F-508FE48CA615}" type="presParOf" srcId="{55191753-CA66-4A5C-BB13-7C3B26714A9D}" destId="{78585735-6EBA-4F28-87B4-DF3CB711B52C}" srcOrd="3" destOrd="0" presId="urn:microsoft.com/office/officeart/2005/8/layout/cycle2"/>
    <dgm:cxn modelId="{B31F1D36-CC0A-498B-B415-36BD41DC6425}" type="presParOf" srcId="{78585735-6EBA-4F28-87B4-DF3CB711B52C}" destId="{DAD6D316-532A-4C33-85A6-0AEA5FF39267}" srcOrd="0" destOrd="0" presId="urn:microsoft.com/office/officeart/2005/8/layout/cycle2"/>
    <dgm:cxn modelId="{61530578-9B16-462F-91AE-3867FA9FFF89}" type="presParOf" srcId="{55191753-CA66-4A5C-BB13-7C3B26714A9D}" destId="{A159396D-80A4-4982-A450-8754BDA3A6A8}" srcOrd="4" destOrd="0" presId="urn:microsoft.com/office/officeart/2005/8/layout/cycle2"/>
    <dgm:cxn modelId="{E2CAEA9F-6015-4F97-8B9F-52E0A853B457}" type="presParOf" srcId="{55191753-CA66-4A5C-BB13-7C3B26714A9D}" destId="{50D5151B-49CD-4D7D-8AA1-9774D73E5B60}" srcOrd="5" destOrd="0" presId="urn:microsoft.com/office/officeart/2005/8/layout/cycle2"/>
    <dgm:cxn modelId="{847B484C-D634-47FC-862B-792D34322E7A}" type="presParOf" srcId="{50D5151B-49CD-4D7D-8AA1-9774D73E5B60}" destId="{21BCC6B3-34D9-4760-893D-A6AD4A7EF4A4}" srcOrd="0" destOrd="0" presId="urn:microsoft.com/office/officeart/2005/8/layout/cycle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E957B9-A315-4AD9-BD7A-D70C4BD038B8}">
      <dsp:nvSpPr>
        <dsp:cNvPr id="0" name=""/>
        <dsp:cNvSpPr/>
      </dsp:nvSpPr>
      <dsp:spPr>
        <a:xfrm>
          <a:off x="785373" y="779"/>
          <a:ext cx="613156" cy="613156"/>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r>
            <a:rPr lang="tr-TR" sz="2600" kern="1200"/>
            <a:t>Ba</a:t>
          </a:r>
        </a:p>
      </dsp:txBody>
      <dsp:txXfrm>
        <a:off x="875168" y="90574"/>
        <a:ext cx="433566" cy="433566"/>
      </dsp:txXfrm>
    </dsp:sp>
    <dsp:sp modelId="{6AD96D46-2360-4F29-BEB1-49BBC194C581}">
      <dsp:nvSpPr>
        <dsp:cNvPr id="0" name=""/>
        <dsp:cNvSpPr/>
      </dsp:nvSpPr>
      <dsp:spPr>
        <a:xfrm rot="2160000">
          <a:off x="1379190" y="471850"/>
          <a:ext cx="163160" cy="20694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tr-TR" sz="800" kern="1200"/>
        </a:p>
      </dsp:txBody>
      <dsp:txXfrm>
        <a:off x="1383864" y="498853"/>
        <a:ext cx="114212" cy="124164"/>
      </dsp:txXfrm>
    </dsp:sp>
    <dsp:sp modelId="{D3EBC3EE-C132-4F2E-924E-3CC2EFE96BC8}">
      <dsp:nvSpPr>
        <dsp:cNvPr id="0" name=""/>
        <dsp:cNvSpPr/>
      </dsp:nvSpPr>
      <dsp:spPr>
        <a:xfrm>
          <a:off x="1530483" y="542134"/>
          <a:ext cx="613156" cy="613156"/>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r>
            <a:rPr lang="tr-TR" sz="2600" kern="1200"/>
            <a:t>K</a:t>
          </a:r>
        </a:p>
      </dsp:txBody>
      <dsp:txXfrm>
        <a:off x="1620278" y="631929"/>
        <a:ext cx="433566" cy="433566"/>
      </dsp:txXfrm>
    </dsp:sp>
    <dsp:sp modelId="{637A66A6-5A7C-4624-9C51-113A37A81C75}">
      <dsp:nvSpPr>
        <dsp:cNvPr id="0" name=""/>
        <dsp:cNvSpPr/>
      </dsp:nvSpPr>
      <dsp:spPr>
        <a:xfrm rot="6480000">
          <a:off x="1614605" y="1178815"/>
          <a:ext cx="163160" cy="20694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tr-TR" sz="800" kern="1200"/>
        </a:p>
      </dsp:txBody>
      <dsp:txXfrm rot="10800000">
        <a:off x="1646642" y="1196927"/>
        <a:ext cx="114212" cy="124164"/>
      </dsp:txXfrm>
    </dsp:sp>
    <dsp:sp modelId="{072CF0E9-234F-43F2-A669-A73F1CB022BF}">
      <dsp:nvSpPr>
        <dsp:cNvPr id="0" name=""/>
        <dsp:cNvSpPr/>
      </dsp:nvSpPr>
      <dsp:spPr>
        <a:xfrm>
          <a:off x="1245877" y="1418063"/>
          <a:ext cx="613156" cy="613156"/>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r>
            <a:rPr lang="tr-TR" sz="2600" kern="1200"/>
            <a:t>B</a:t>
          </a:r>
        </a:p>
      </dsp:txBody>
      <dsp:txXfrm>
        <a:off x="1335672" y="1507858"/>
        <a:ext cx="433566" cy="433566"/>
      </dsp:txXfrm>
    </dsp:sp>
    <dsp:sp modelId="{3B448661-8C1C-4763-B48F-A1C45BEA952B}">
      <dsp:nvSpPr>
        <dsp:cNvPr id="0" name=""/>
        <dsp:cNvSpPr/>
      </dsp:nvSpPr>
      <dsp:spPr>
        <a:xfrm rot="10800000">
          <a:off x="1014989" y="1621171"/>
          <a:ext cx="163160" cy="20694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tr-TR" sz="800" kern="1200"/>
        </a:p>
      </dsp:txBody>
      <dsp:txXfrm rot="10800000">
        <a:off x="1063937" y="1662559"/>
        <a:ext cx="114212" cy="124164"/>
      </dsp:txXfrm>
    </dsp:sp>
    <dsp:sp modelId="{0F7135AD-A401-4421-AAD7-4BD12F723E89}">
      <dsp:nvSpPr>
        <dsp:cNvPr id="0" name=""/>
        <dsp:cNvSpPr/>
      </dsp:nvSpPr>
      <dsp:spPr>
        <a:xfrm>
          <a:off x="324870" y="1418063"/>
          <a:ext cx="613156" cy="613156"/>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r>
            <a:rPr lang="tr-TR" sz="2600" kern="1200"/>
            <a:t>E</a:t>
          </a:r>
        </a:p>
      </dsp:txBody>
      <dsp:txXfrm>
        <a:off x="414665" y="1507858"/>
        <a:ext cx="433566" cy="433566"/>
      </dsp:txXfrm>
    </dsp:sp>
    <dsp:sp modelId="{C1408E7A-5490-4210-AB43-B0A560C318AD}">
      <dsp:nvSpPr>
        <dsp:cNvPr id="0" name=""/>
        <dsp:cNvSpPr/>
      </dsp:nvSpPr>
      <dsp:spPr>
        <a:xfrm rot="15120000">
          <a:off x="408991" y="1187598"/>
          <a:ext cx="163160" cy="20694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tr-TR" sz="800" kern="1200"/>
        </a:p>
      </dsp:txBody>
      <dsp:txXfrm rot="10800000">
        <a:off x="441028" y="1252262"/>
        <a:ext cx="114212" cy="124164"/>
      </dsp:txXfrm>
    </dsp:sp>
    <dsp:sp modelId="{A2CC9B18-B1EF-477C-AF29-1CD7C8C418D9}">
      <dsp:nvSpPr>
        <dsp:cNvPr id="0" name=""/>
        <dsp:cNvSpPr/>
      </dsp:nvSpPr>
      <dsp:spPr>
        <a:xfrm>
          <a:off x="40263" y="542134"/>
          <a:ext cx="613156" cy="613156"/>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r>
            <a:rPr lang="tr-TR" sz="2600" kern="1200"/>
            <a:t>A</a:t>
          </a:r>
        </a:p>
      </dsp:txBody>
      <dsp:txXfrm>
        <a:off x="130058" y="631929"/>
        <a:ext cx="433566" cy="433566"/>
      </dsp:txXfrm>
    </dsp:sp>
    <dsp:sp modelId="{40B9444E-070C-4371-B9A7-DB7E08144054}">
      <dsp:nvSpPr>
        <dsp:cNvPr id="0" name=""/>
        <dsp:cNvSpPr/>
      </dsp:nvSpPr>
      <dsp:spPr>
        <a:xfrm rot="19440000">
          <a:off x="634080" y="477279"/>
          <a:ext cx="163160" cy="20694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tr-TR" sz="800" kern="1200"/>
        </a:p>
      </dsp:txBody>
      <dsp:txXfrm>
        <a:off x="638754" y="533052"/>
        <a:ext cx="114212" cy="12416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DCE4A6-7AEE-4EEF-8683-E98A2AC745FD}">
      <dsp:nvSpPr>
        <dsp:cNvPr id="0" name=""/>
        <dsp:cNvSpPr/>
      </dsp:nvSpPr>
      <dsp:spPr>
        <a:xfrm>
          <a:off x="1073396" y="300"/>
          <a:ext cx="757191" cy="757191"/>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r>
            <a:rPr lang="tr-TR" sz="3200" kern="1200"/>
            <a:t>A</a:t>
          </a:r>
        </a:p>
      </dsp:txBody>
      <dsp:txXfrm>
        <a:off x="1184284" y="111188"/>
        <a:ext cx="535415" cy="535415"/>
      </dsp:txXfrm>
    </dsp:sp>
    <dsp:sp modelId="{BED22A5C-6E7C-425C-958C-E7A36FB47769}">
      <dsp:nvSpPr>
        <dsp:cNvPr id="0" name=""/>
        <dsp:cNvSpPr/>
      </dsp:nvSpPr>
      <dsp:spPr>
        <a:xfrm rot="3600000">
          <a:off x="1632704" y="739251"/>
          <a:ext cx="202219" cy="25555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tr-TR" sz="1000" kern="1200"/>
        </a:p>
      </dsp:txBody>
      <dsp:txXfrm>
        <a:off x="1647871" y="764092"/>
        <a:ext cx="141553" cy="153332"/>
      </dsp:txXfrm>
    </dsp:sp>
    <dsp:sp modelId="{08BC4E4E-8EC6-416D-B3FF-F09B25BFF25B}">
      <dsp:nvSpPr>
        <dsp:cNvPr id="0" name=""/>
        <dsp:cNvSpPr/>
      </dsp:nvSpPr>
      <dsp:spPr>
        <a:xfrm>
          <a:off x="1642765" y="986476"/>
          <a:ext cx="757191" cy="757191"/>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r>
            <a:rPr lang="tr-TR" sz="3200" kern="1200"/>
            <a:t>B</a:t>
          </a:r>
        </a:p>
      </dsp:txBody>
      <dsp:txXfrm>
        <a:off x="1753653" y="1097364"/>
        <a:ext cx="535415" cy="535415"/>
      </dsp:txXfrm>
    </dsp:sp>
    <dsp:sp modelId="{78585735-6EBA-4F28-87B4-DF3CB711B52C}">
      <dsp:nvSpPr>
        <dsp:cNvPr id="0" name=""/>
        <dsp:cNvSpPr/>
      </dsp:nvSpPr>
      <dsp:spPr>
        <a:xfrm rot="10800000">
          <a:off x="1356605" y="1237295"/>
          <a:ext cx="202219" cy="25555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tr-TR" sz="1000" kern="1200"/>
        </a:p>
      </dsp:txBody>
      <dsp:txXfrm rot="10800000">
        <a:off x="1417271" y="1288405"/>
        <a:ext cx="141553" cy="153332"/>
      </dsp:txXfrm>
    </dsp:sp>
    <dsp:sp modelId="{A159396D-80A4-4982-A450-8754BDA3A6A8}">
      <dsp:nvSpPr>
        <dsp:cNvPr id="0" name=""/>
        <dsp:cNvSpPr/>
      </dsp:nvSpPr>
      <dsp:spPr>
        <a:xfrm>
          <a:off x="504027" y="986476"/>
          <a:ext cx="757191" cy="757191"/>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r>
            <a:rPr lang="tr-TR" sz="3200" kern="1200"/>
            <a:t>U</a:t>
          </a:r>
        </a:p>
      </dsp:txBody>
      <dsp:txXfrm>
        <a:off x="614915" y="1097364"/>
        <a:ext cx="535415" cy="535415"/>
      </dsp:txXfrm>
    </dsp:sp>
    <dsp:sp modelId="{50D5151B-49CD-4D7D-8AA1-9774D73E5B60}">
      <dsp:nvSpPr>
        <dsp:cNvPr id="0" name=""/>
        <dsp:cNvSpPr/>
      </dsp:nvSpPr>
      <dsp:spPr>
        <a:xfrm rot="18000000">
          <a:off x="1063336" y="749164"/>
          <a:ext cx="202219" cy="25555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tr-TR" sz="1000" kern="1200"/>
        </a:p>
      </dsp:txBody>
      <dsp:txXfrm>
        <a:off x="1078503" y="826543"/>
        <a:ext cx="141553" cy="153332"/>
      </dsp:txXfrm>
    </dsp:sp>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4CCFBE2-2B8D-499C-81C9-2CD5B3EB8E93}" type="datetimeFigureOut">
              <a:rPr lang="ko-KR" altLang="en-US" smtClean="0"/>
              <a:pPr/>
              <a:t>2025-09-13</a:t>
            </a:fld>
            <a:endParaRPr lang="ko-KR" altLang="en-US"/>
          </a:p>
        </p:txBody>
      </p:sp>
      <p:sp>
        <p:nvSpPr>
          <p:cNvPr id="4" name="바닥글 개체 틀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554DD7E-3179-445A-81DB-781C4554AFF2}" type="slidenum">
              <a:rPr lang="ko-KR" altLang="en-US" smtClean="0"/>
              <a:pPr/>
              <a:t>‹#›</a:t>
            </a:fld>
            <a:endParaRPr lang="ko-KR" altLang="en-US"/>
          </a:p>
        </p:txBody>
      </p:sp>
    </p:spTree>
    <p:extLst>
      <p:ext uri="{BB962C8B-B14F-4D97-AF65-F5344CB8AC3E}">
        <p14:creationId xmlns:p14="http://schemas.microsoft.com/office/powerpoint/2010/main" val="24695366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B545AC5-813F-4ED1-B011-8EA17CB93331}" type="datetimeFigureOut">
              <a:rPr lang="ko-KR" altLang="en-US" smtClean="0"/>
              <a:pPr/>
              <a:t>2025-09-13</a:t>
            </a:fld>
            <a:endParaRPr lang="ko-KR" altLang="en-US"/>
          </a:p>
        </p:txBody>
      </p:sp>
      <p:sp>
        <p:nvSpPr>
          <p:cNvPr id="4" name="슬라이드 이미지 개체 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5504B90-27FD-422C-8CC6-2AADAD122D08}" type="slidenum">
              <a:rPr lang="ko-KR" altLang="en-US" smtClean="0"/>
              <a:pPr/>
              <a:t>‹#›</a:t>
            </a:fld>
            <a:endParaRPr lang="ko-KR" altLang="en-US"/>
          </a:p>
        </p:txBody>
      </p:sp>
    </p:spTree>
    <p:extLst>
      <p:ext uri="{BB962C8B-B14F-4D97-AF65-F5344CB8AC3E}">
        <p14:creationId xmlns:p14="http://schemas.microsoft.com/office/powerpoint/2010/main" val="268707270"/>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dirty="0"/>
          </a:p>
        </p:txBody>
      </p:sp>
      <p:sp>
        <p:nvSpPr>
          <p:cNvPr id="4" name="슬라이드 번호 개체 틀 3"/>
          <p:cNvSpPr>
            <a:spLocks noGrp="1"/>
          </p:cNvSpPr>
          <p:nvPr>
            <p:ph type="sldNum" sz="quarter" idx="10"/>
          </p:nvPr>
        </p:nvSpPr>
        <p:spPr/>
        <p:txBody>
          <a:bodyPr/>
          <a:lstStyle/>
          <a:p>
            <a:fld id="{A5504B90-27FD-422C-8CC6-2AADAD122D08}" type="slidenum">
              <a:rPr lang="ko-KR" altLang="en-US" smtClean="0"/>
              <a:pPr/>
              <a:t>1</a:t>
            </a:fld>
            <a:endParaRPr lang="ko-KR" altLang="en-US" dirty="0"/>
          </a:p>
        </p:txBody>
      </p:sp>
    </p:spTree>
    <p:extLst>
      <p:ext uri="{BB962C8B-B14F-4D97-AF65-F5344CB8AC3E}">
        <p14:creationId xmlns:p14="http://schemas.microsoft.com/office/powerpoint/2010/main" val="421995571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pic>
        <p:nvPicPr>
          <p:cNvPr id="1026" name="Picture 2" descr="G:\파워포인트\김진영씨디자인\10월 16일\수학\수학.jpg"/>
          <p:cNvPicPr>
            <a:picLocks noChangeAspect="1" noChangeArrowheads="1"/>
          </p:cNvPicPr>
          <p:nvPr userDrawn="1"/>
        </p:nvPicPr>
        <p:blipFill>
          <a:blip r:embed="rId2" cstate="print"/>
          <a:srcRect/>
          <a:stretch>
            <a:fillRect/>
          </a:stretch>
        </p:blipFill>
        <p:spPr bwMode="auto">
          <a:xfrm>
            <a:off x="0" y="0"/>
            <a:ext cx="9144000" cy="6858000"/>
          </a:xfrm>
          <a:prstGeom prst="rect">
            <a:avLst/>
          </a:prstGeom>
          <a:noFill/>
        </p:spPr>
      </p:pic>
      <p:sp>
        <p:nvSpPr>
          <p:cNvPr id="4" name="날짜 개체 틀 3"/>
          <p:cNvSpPr>
            <a:spLocks noGrp="1"/>
          </p:cNvSpPr>
          <p:nvPr>
            <p:ph type="dt" sz="half" idx="10"/>
          </p:nvPr>
        </p:nvSpPr>
        <p:spPr/>
        <p:txBody>
          <a:bodyPr/>
          <a:lstStyle>
            <a:lvl1pPr algn="l">
              <a:defRPr/>
            </a:lvl1pPr>
          </a:lstStyle>
          <a:p>
            <a:fld id="{ED3D6733-6F27-4404-AB51-585418F146E5}" type="datetimeFigureOut">
              <a:rPr lang="ko-KR" altLang="en-US" smtClean="0"/>
              <a:pPr/>
              <a:t>2025-09-13</a:t>
            </a:fld>
            <a:endParaRPr lang="ko-KR" altLang="en-US"/>
          </a:p>
        </p:txBody>
      </p:sp>
      <p:sp>
        <p:nvSpPr>
          <p:cNvPr id="5" name="바닥글 개체 틀 4"/>
          <p:cNvSpPr>
            <a:spLocks noGrp="1"/>
          </p:cNvSpPr>
          <p:nvPr>
            <p:ph type="ftr" sz="quarter" idx="11"/>
          </p:nvPr>
        </p:nvSpPr>
        <p:spPr/>
        <p:txBody>
          <a:bodyPr/>
          <a:lstStyle>
            <a:lvl1pPr algn="l">
              <a:defRPr/>
            </a:lvl1pPr>
          </a:lstStyle>
          <a:p>
            <a:endParaRPr lang="ko-KR" altLang="en-US"/>
          </a:p>
        </p:txBody>
      </p:sp>
      <p:sp>
        <p:nvSpPr>
          <p:cNvPr id="6" name="슬라이드 번호 개체 틀 5"/>
          <p:cNvSpPr>
            <a:spLocks noGrp="1"/>
          </p:cNvSpPr>
          <p:nvPr>
            <p:ph type="sldNum" sz="quarter" idx="12"/>
          </p:nvPr>
        </p:nvSpPr>
        <p:spPr/>
        <p:txBody>
          <a:bodyPr/>
          <a:lstStyle>
            <a:lvl1pPr algn="l">
              <a:defRPr/>
            </a:lvl1pPr>
          </a:lstStyle>
          <a:p>
            <a:fld id="{EE6BC638-39B7-4287-91A7-2A3DDA573295}" type="slidenum">
              <a:rPr lang="ko-KR" altLang="en-US" smtClean="0"/>
              <a:pPr/>
              <a:t>‹#›</a:t>
            </a:fld>
            <a:endParaRPr lang="ko-KR" altLang="en-US"/>
          </a:p>
        </p:txBody>
      </p:sp>
      <p:sp>
        <p:nvSpPr>
          <p:cNvPr id="9" name="제목 1"/>
          <p:cNvSpPr>
            <a:spLocks noGrp="1"/>
          </p:cNvSpPr>
          <p:nvPr>
            <p:ph type="ctrTitle"/>
          </p:nvPr>
        </p:nvSpPr>
        <p:spPr>
          <a:xfrm>
            <a:off x="564900" y="2276872"/>
            <a:ext cx="7057504" cy="1585337"/>
          </a:xfrm>
          <a:noFill/>
          <a:ln w="9525">
            <a:noFill/>
            <a:miter lim="800000"/>
            <a:headEnd/>
            <a:tailEnd/>
          </a:ln>
        </p:spPr>
        <p:txBody>
          <a:bodyPr vert="horz" wrap="square" lIns="91440" tIns="45720" rIns="91440" bIns="45720" numCol="1" rtlCol="0" anchor="ctr" anchorCtr="0" compatLnSpc="1">
            <a:prstTxWarp prst="textNoShape">
              <a:avLst/>
            </a:prstTxWarp>
            <a:noAutofit/>
          </a:bodyPr>
          <a:lstStyle>
            <a:lvl1pPr marL="0" indent="0" algn="l" defTabSz="914400" rtl="0" eaLnBrk="1" fontAlgn="base" latinLnBrk="1" hangingPunct="1">
              <a:lnSpc>
                <a:spcPct val="100000"/>
              </a:lnSpc>
              <a:spcBef>
                <a:spcPct val="0"/>
              </a:spcBef>
              <a:spcAft>
                <a:spcPct val="0"/>
              </a:spcAft>
              <a:buClr>
                <a:schemeClr val="hlink"/>
              </a:buClr>
              <a:buFont typeface="굴림체" pitchFamily="49" charset="-127"/>
              <a:buNone/>
              <a:defRPr lang="en-US" altLang="ko-KR" sz="5400" kern="1200" baseline="0" dirty="0">
                <a:solidFill>
                  <a:schemeClr val="tx1">
                    <a:lumMod val="65000"/>
                    <a:lumOff val="35000"/>
                  </a:schemeClr>
                </a:solidFill>
                <a:effectLst/>
                <a:latin typeface="+mj-lt"/>
                <a:ea typeface="맑은 고딕" pitchFamily="50" charset="-127"/>
                <a:cs typeface="+mj-cs"/>
              </a:defRPr>
            </a:lvl1pPr>
          </a:lstStyle>
          <a:p>
            <a:endParaRPr lang="en-US" altLang="ko-K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빈 화면">
    <p:bg>
      <p:bgPr>
        <a:solidFill>
          <a:schemeClr val="bg1"/>
        </a:solidFill>
        <a:effectLst/>
      </p:bgPr>
    </p:bg>
    <p:spTree>
      <p:nvGrpSpPr>
        <p:cNvPr id="1" name=""/>
        <p:cNvGrpSpPr/>
        <p:nvPr/>
      </p:nvGrpSpPr>
      <p:grpSpPr>
        <a:xfrm>
          <a:off x="0" y="0"/>
          <a:ext cx="0" cy="0"/>
          <a:chOff x="0" y="0"/>
          <a:chExt cx="0" cy="0"/>
        </a:xfrm>
      </p:grpSpPr>
      <p:pic>
        <p:nvPicPr>
          <p:cNvPr id="5"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날짜 개체 틀 1"/>
          <p:cNvSpPr>
            <a:spLocks noGrp="1"/>
          </p:cNvSpPr>
          <p:nvPr>
            <p:ph type="dt" sz="half" idx="10"/>
          </p:nvPr>
        </p:nvSpPr>
        <p:spPr/>
        <p:txBody>
          <a:bodyPr/>
          <a:lstStyle/>
          <a:p>
            <a:fld id="{ED3D6733-6F27-4404-AB51-585418F146E5}" type="datetimeFigureOut">
              <a:rPr lang="ko-KR" altLang="en-US" smtClean="0"/>
              <a:pPr/>
              <a:t>2025-09-13</a:t>
            </a:fld>
            <a:endParaRPr lang="ko-KR" altLang="en-US"/>
          </a:p>
        </p:txBody>
      </p:sp>
      <p:sp>
        <p:nvSpPr>
          <p:cNvPr id="3" name="바닥글 개체 틀 2"/>
          <p:cNvSpPr>
            <a:spLocks noGrp="1"/>
          </p:cNvSpPr>
          <p:nvPr>
            <p:ph type="ftr" sz="quarter" idx="11"/>
          </p:nvPr>
        </p:nvSpPr>
        <p:spPr/>
        <p:txBody>
          <a:bodyPr/>
          <a:lstStyle/>
          <a:p>
            <a:endParaRPr lang="ko-KR" altLang="en-US"/>
          </a:p>
        </p:txBody>
      </p:sp>
      <p:sp>
        <p:nvSpPr>
          <p:cNvPr id="4" name="슬라이드 번호 개체 틀 3"/>
          <p:cNvSpPr>
            <a:spLocks noGrp="1"/>
          </p:cNvSpPr>
          <p:nvPr>
            <p:ph type="sldNum" sz="quarter" idx="12"/>
          </p:nvPr>
        </p:nvSpPr>
        <p:spPr/>
        <p:txBody>
          <a:bodyPr/>
          <a:lstStyle/>
          <a:p>
            <a:fld id="{EE6BC638-39B7-4287-91A7-2A3DDA573295}" type="slidenum">
              <a:rPr lang="ko-KR" altLang="en-US" smtClean="0"/>
              <a:pPr/>
              <a:t>‹#›</a:t>
            </a:fld>
            <a:endParaRPr lang="ko-KR"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구역 머리글">
    <p:bg>
      <p:bgPr>
        <a:solidFill>
          <a:schemeClr val="bg1"/>
        </a:solidFill>
        <a:effectLst/>
      </p:bgPr>
    </p:bg>
    <p:spTree>
      <p:nvGrpSpPr>
        <p:cNvPr id="1" name=""/>
        <p:cNvGrpSpPr/>
        <p:nvPr/>
      </p:nvGrpSpPr>
      <p:grpSpPr>
        <a:xfrm>
          <a:off x="0" y="0"/>
          <a:ext cx="0" cy="0"/>
          <a:chOff x="0" y="0"/>
          <a:chExt cx="0" cy="0"/>
        </a:xfrm>
      </p:grpSpPr>
      <p:pic>
        <p:nvPicPr>
          <p:cNvPr id="7"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8" name="날짜 개체 틀 1"/>
          <p:cNvSpPr>
            <a:spLocks noGrp="1"/>
          </p:cNvSpPr>
          <p:nvPr>
            <p:ph type="dt" sz="half" idx="10"/>
          </p:nvPr>
        </p:nvSpPr>
        <p:spPr>
          <a:xfrm>
            <a:off x="457200" y="6429396"/>
            <a:ext cx="2133600" cy="292079"/>
          </a:xfrm>
        </p:spPr>
        <p:txBody>
          <a:bodyPr/>
          <a:lstStyle/>
          <a:p>
            <a:fld id="{ED3D6733-6F27-4404-AB51-585418F146E5}" type="datetimeFigureOut">
              <a:rPr lang="ko-KR" altLang="en-US" smtClean="0"/>
              <a:pPr/>
              <a:t>2025-09-13</a:t>
            </a:fld>
            <a:endParaRPr lang="ko-KR" altLang="en-US"/>
          </a:p>
        </p:txBody>
      </p:sp>
      <p:sp>
        <p:nvSpPr>
          <p:cNvPr id="9" name="바닥글 개체 틀 2"/>
          <p:cNvSpPr>
            <a:spLocks noGrp="1"/>
          </p:cNvSpPr>
          <p:nvPr>
            <p:ph type="ftr" sz="quarter" idx="11"/>
          </p:nvPr>
        </p:nvSpPr>
        <p:spPr>
          <a:xfrm>
            <a:off x="3124200" y="6429396"/>
            <a:ext cx="2895600" cy="292079"/>
          </a:xfrm>
        </p:spPr>
        <p:txBody>
          <a:bodyPr/>
          <a:lstStyle/>
          <a:p>
            <a:endParaRPr lang="ko-KR" altLang="en-US"/>
          </a:p>
        </p:txBody>
      </p:sp>
      <p:sp>
        <p:nvSpPr>
          <p:cNvPr id="10" name="슬라이드 번호 개체 틀 3"/>
          <p:cNvSpPr>
            <a:spLocks noGrp="1"/>
          </p:cNvSpPr>
          <p:nvPr>
            <p:ph type="sldNum" sz="quarter" idx="12"/>
          </p:nvPr>
        </p:nvSpPr>
        <p:spPr>
          <a:xfrm>
            <a:off x="6553200" y="6429396"/>
            <a:ext cx="2133600" cy="292079"/>
          </a:xfrm>
        </p:spPr>
        <p:txBody>
          <a:bodyPr/>
          <a:lstStyle/>
          <a:p>
            <a:fld id="{EE6BC638-39B7-4287-91A7-2A3DDA573295}" type="slidenum">
              <a:rPr lang="ko-KR" altLang="en-US" smtClean="0"/>
              <a:pPr/>
              <a:t>‹#›</a:t>
            </a:fld>
            <a:endParaRPr lang="ko-KR"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사용자 지정 레이아웃">
    <p:bg>
      <p:bgPr>
        <a:solidFill>
          <a:schemeClr val="bg1"/>
        </a:solidFill>
        <a:effectLst/>
      </p:bgPr>
    </p:bg>
    <p:spTree>
      <p:nvGrpSpPr>
        <p:cNvPr id="1" name=""/>
        <p:cNvGrpSpPr/>
        <p:nvPr/>
      </p:nvGrpSpPr>
      <p:grpSpPr>
        <a:xfrm>
          <a:off x="0" y="0"/>
          <a:ext cx="0" cy="0"/>
          <a:chOff x="0" y="0"/>
          <a:chExt cx="0" cy="0"/>
        </a:xfrm>
      </p:grpSpPr>
      <p:pic>
        <p:nvPicPr>
          <p:cNvPr id="4098"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제목 1"/>
          <p:cNvSpPr>
            <a:spLocks noGrp="1"/>
          </p:cNvSpPr>
          <p:nvPr>
            <p:ph type="title"/>
          </p:nvPr>
        </p:nvSpPr>
        <p:spPr>
          <a:xfrm>
            <a:off x="179512" y="-29264"/>
            <a:ext cx="7661196" cy="796908"/>
          </a:xfrm>
        </p:spPr>
        <p:txBody>
          <a:bodyPr vert="horz" lIns="91440" tIns="45720" rIns="91440" bIns="45720" rtlCol="0" anchor="ctr">
            <a:normAutofit/>
          </a:bodyPr>
          <a:lstStyle>
            <a:lvl1pPr algn="l" defTabSz="914400" rtl="0" eaLnBrk="1" latinLnBrk="1" hangingPunct="1">
              <a:spcBef>
                <a:spcPct val="0"/>
              </a:spcBef>
              <a:buNone/>
              <a:defRPr lang="ko-KR" altLang="en-US" sz="2500" b="1" kern="1200" baseline="0" dirty="0">
                <a:solidFill>
                  <a:schemeClr val="bg1"/>
                </a:solidFill>
                <a:effectLst>
                  <a:outerShdw blurRad="63500" algn="ctr" rotWithShape="0">
                    <a:prstClr val="black">
                      <a:alpha val="13000"/>
                    </a:prstClr>
                  </a:outerShdw>
                </a:effectLst>
                <a:latin typeface="+mj-lt"/>
                <a:ea typeface="맑은 고딕" pitchFamily="50" charset="-127"/>
                <a:cs typeface="+mj-cs"/>
              </a:defRPr>
            </a:lvl1pPr>
          </a:lstStyle>
          <a:p>
            <a:r>
              <a:rPr lang="ko-KR" altLang="en-US" dirty="0"/>
              <a:t>마스터 제목 스타일 편집</a:t>
            </a:r>
          </a:p>
        </p:txBody>
      </p:sp>
      <p:sp>
        <p:nvSpPr>
          <p:cNvPr id="3" name="날짜 개체 틀 2"/>
          <p:cNvSpPr>
            <a:spLocks noGrp="1"/>
          </p:cNvSpPr>
          <p:nvPr>
            <p:ph type="dt" sz="half" idx="10"/>
          </p:nvPr>
        </p:nvSpPr>
        <p:spPr/>
        <p:txBody>
          <a:bodyPr/>
          <a:lstStyle>
            <a:lvl1pPr>
              <a:defRPr>
                <a:latin typeface="+mj-lt"/>
              </a:defRPr>
            </a:lvl1pPr>
          </a:lstStyle>
          <a:p>
            <a:fld id="{ED3D6733-6F27-4404-AB51-585418F146E5}" type="datetimeFigureOut">
              <a:rPr lang="ko-KR" altLang="en-US" smtClean="0"/>
              <a:pPr/>
              <a:t>2025-09-13</a:t>
            </a:fld>
            <a:endParaRPr lang="ko-KR" altLang="en-US"/>
          </a:p>
        </p:txBody>
      </p:sp>
      <p:sp>
        <p:nvSpPr>
          <p:cNvPr id="4" name="바닥글 개체 틀 3"/>
          <p:cNvSpPr>
            <a:spLocks noGrp="1"/>
          </p:cNvSpPr>
          <p:nvPr>
            <p:ph type="ftr" sz="quarter" idx="11"/>
          </p:nvPr>
        </p:nvSpPr>
        <p:spPr/>
        <p:txBody>
          <a:bodyPr/>
          <a:lstStyle>
            <a:lvl1pPr>
              <a:defRPr>
                <a:latin typeface="+mj-lt"/>
              </a:defRPr>
            </a:lvl1pPr>
          </a:lstStyle>
          <a:p>
            <a:endParaRPr lang="ko-KR" altLang="en-US"/>
          </a:p>
        </p:txBody>
      </p:sp>
      <p:sp>
        <p:nvSpPr>
          <p:cNvPr id="5" name="슬라이드 번호 개체 틀 4"/>
          <p:cNvSpPr>
            <a:spLocks noGrp="1"/>
          </p:cNvSpPr>
          <p:nvPr>
            <p:ph type="sldNum" sz="quarter" idx="12"/>
          </p:nvPr>
        </p:nvSpPr>
        <p:spPr/>
        <p:txBody>
          <a:bodyPr/>
          <a:lstStyle>
            <a:lvl1pPr>
              <a:defRPr>
                <a:latin typeface="+mj-lt"/>
              </a:defRPr>
            </a:lvl1pPr>
          </a:lstStyle>
          <a:p>
            <a:fld id="{EE6BC638-39B7-4287-91A7-2A3DDA573295}" type="slidenum">
              <a:rPr lang="ko-KR" altLang="en-US" smtClean="0"/>
              <a:pPr/>
              <a:t>‹#›</a:t>
            </a:fld>
            <a:endParaRPr lang="ko-KR" altLang="en-US"/>
          </a:p>
        </p:txBody>
      </p:sp>
      <p:sp>
        <p:nvSpPr>
          <p:cNvPr id="6" name="내용 개체 틀 2"/>
          <p:cNvSpPr>
            <a:spLocks noGrp="1"/>
          </p:cNvSpPr>
          <p:nvPr>
            <p:ph idx="1"/>
          </p:nvPr>
        </p:nvSpPr>
        <p:spPr>
          <a:xfrm>
            <a:off x="395536" y="1484784"/>
            <a:ext cx="8402525" cy="4881686"/>
          </a:xfrm>
        </p:spPr>
        <p:txBody>
          <a:bodyPr>
            <a:normAutofit/>
          </a:bodyPr>
          <a:lstStyle>
            <a:lvl1pPr algn="l">
              <a:buNone/>
              <a:defRPr sz="1600" i="1" baseline="0">
                <a:solidFill>
                  <a:schemeClr val="tx1">
                    <a:lumMod val="65000"/>
                    <a:lumOff val="35000"/>
                  </a:schemeClr>
                </a:solidFill>
                <a:latin typeface="+mj-lt"/>
                <a:ea typeface="맑은 고딕" pitchFamily="50" charset="-127"/>
              </a:defRPr>
            </a:lvl1pPr>
            <a:lvl2pPr algn="l">
              <a:buNone/>
              <a:defRPr sz="1600" i="1" baseline="0">
                <a:solidFill>
                  <a:schemeClr val="tx1">
                    <a:lumMod val="65000"/>
                    <a:lumOff val="35000"/>
                  </a:schemeClr>
                </a:solidFill>
                <a:latin typeface="+mj-lt"/>
                <a:ea typeface="맑은 고딕" pitchFamily="50" charset="-127"/>
              </a:defRPr>
            </a:lvl2pPr>
            <a:lvl3pPr algn="l">
              <a:buNone/>
              <a:defRPr sz="1600" i="1" baseline="0">
                <a:solidFill>
                  <a:schemeClr val="tx1">
                    <a:lumMod val="65000"/>
                    <a:lumOff val="35000"/>
                  </a:schemeClr>
                </a:solidFill>
                <a:latin typeface="+mj-lt"/>
                <a:ea typeface="맑은 고딕" pitchFamily="50" charset="-127"/>
              </a:defRPr>
            </a:lvl3pPr>
            <a:lvl4pPr algn="l">
              <a:buNone/>
              <a:defRPr sz="1600" i="1" baseline="0">
                <a:solidFill>
                  <a:schemeClr val="tx1">
                    <a:lumMod val="65000"/>
                    <a:lumOff val="35000"/>
                  </a:schemeClr>
                </a:solidFill>
                <a:latin typeface="+mj-lt"/>
                <a:ea typeface="맑은 고딕" pitchFamily="50" charset="-127"/>
              </a:defRPr>
            </a:lvl4pPr>
            <a:lvl5pPr algn="l">
              <a:buNone/>
              <a:defRPr sz="1600" i="1" baseline="0">
                <a:solidFill>
                  <a:schemeClr val="tx1">
                    <a:lumMod val="65000"/>
                    <a:lumOff val="35000"/>
                  </a:schemeClr>
                </a:solidFill>
                <a:latin typeface="+mj-lt"/>
                <a:ea typeface="맑은 고딕" pitchFamily="50" charset="-127"/>
              </a:defRPr>
            </a:lvl5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제목 및 내용">
    <p:bg>
      <p:bgPr>
        <a:solidFill>
          <a:schemeClr val="bg1"/>
        </a:solidFill>
        <a:effectLst/>
      </p:bgPr>
    </p:bg>
    <p:spTree>
      <p:nvGrpSpPr>
        <p:cNvPr id="1" name=""/>
        <p:cNvGrpSpPr/>
        <p:nvPr/>
      </p:nvGrpSpPr>
      <p:grpSpPr>
        <a:xfrm>
          <a:off x="0" y="0"/>
          <a:ext cx="0" cy="0"/>
          <a:chOff x="0" y="0"/>
          <a:chExt cx="0" cy="0"/>
        </a:xfrm>
      </p:grpSpPr>
      <p:pic>
        <p:nvPicPr>
          <p:cNvPr id="5122"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날짜 개체 틀 3"/>
          <p:cNvSpPr>
            <a:spLocks noGrp="1"/>
          </p:cNvSpPr>
          <p:nvPr>
            <p:ph type="dt" sz="half" idx="10"/>
          </p:nvPr>
        </p:nvSpPr>
        <p:spPr>
          <a:xfrm>
            <a:off x="457200" y="6500834"/>
            <a:ext cx="2133600" cy="220641"/>
          </a:xfrm>
        </p:spPr>
        <p:txBody>
          <a:bodyPr/>
          <a:lstStyle>
            <a:lvl1pPr>
              <a:defRPr>
                <a:latin typeface="+mj-lt"/>
              </a:defRPr>
            </a:lvl1pPr>
          </a:lstStyle>
          <a:p>
            <a:fld id="{ED3D6733-6F27-4404-AB51-585418F146E5}" type="datetimeFigureOut">
              <a:rPr lang="ko-KR" altLang="en-US" smtClean="0"/>
              <a:pPr/>
              <a:t>2025-09-13</a:t>
            </a:fld>
            <a:endParaRPr lang="ko-KR" altLang="en-US"/>
          </a:p>
        </p:txBody>
      </p:sp>
      <p:sp>
        <p:nvSpPr>
          <p:cNvPr id="5" name="바닥글 개체 틀 4"/>
          <p:cNvSpPr>
            <a:spLocks noGrp="1"/>
          </p:cNvSpPr>
          <p:nvPr>
            <p:ph type="ftr" sz="quarter" idx="11"/>
          </p:nvPr>
        </p:nvSpPr>
        <p:spPr>
          <a:xfrm>
            <a:off x="3124200" y="6500834"/>
            <a:ext cx="2895600" cy="220641"/>
          </a:xfrm>
        </p:spPr>
        <p:txBody>
          <a:bodyPr/>
          <a:lstStyle>
            <a:lvl1pPr>
              <a:defRPr>
                <a:latin typeface="+mj-lt"/>
              </a:defRPr>
            </a:lvl1pPr>
          </a:lstStyle>
          <a:p>
            <a:endParaRPr lang="ko-KR" altLang="en-US"/>
          </a:p>
        </p:txBody>
      </p:sp>
      <p:sp>
        <p:nvSpPr>
          <p:cNvPr id="6" name="슬라이드 번호 개체 틀 5"/>
          <p:cNvSpPr>
            <a:spLocks noGrp="1"/>
          </p:cNvSpPr>
          <p:nvPr>
            <p:ph type="sldNum" sz="quarter" idx="12"/>
          </p:nvPr>
        </p:nvSpPr>
        <p:spPr>
          <a:xfrm>
            <a:off x="6553200" y="6500834"/>
            <a:ext cx="2133600" cy="220641"/>
          </a:xfrm>
        </p:spPr>
        <p:txBody>
          <a:bodyPr/>
          <a:lstStyle>
            <a:lvl1pPr>
              <a:defRPr>
                <a:latin typeface="+mj-lt"/>
              </a:defRPr>
            </a:lvl1pPr>
          </a:lstStyle>
          <a:p>
            <a:fld id="{EE6BC638-39B7-4287-91A7-2A3DDA573295}" type="slidenum">
              <a:rPr lang="ko-KR" altLang="en-US" smtClean="0"/>
              <a:pPr/>
              <a:t>‹#›</a:t>
            </a:fld>
            <a:endParaRPr lang="ko-KR" altLang="en-US"/>
          </a:p>
        </p:txBody>
      </p:sp>
      <p:sp>
        <p:nvSpPr>
          <p:cNvPr id="11" name="내용 개체 틀 2"/>
          <p:cNvSpPr>
            <a:spLocks noGrp="1"/>
          </p:cNvSpPr>
          <p:nvPr>
            <p:ph idx="1"/>
          </p:nvPr>
        </p:nvSpPr>
        <p:spPr>
          <a:xfrm>
            <a:off x="395536" y="1484784"/>
            <a:ext cx="8402525" cy="4881686"/>
          </a:xfrm>
        </p:spPr>
        <p:txBody>
          <a:bodyPr>
            <a:normAutofit/>
          </a:bodyPr>
          <a:lstStyle>
            <a:lvl1pPr algn="l">
              <a:buNone/>
              <a:defRPr sz="1600" i="1" baseline="0">
                <a:solidFill>
                  <a:schemeClr val="tx1">
                    <a:lumMod val="65000"/>
                    <a:lumOff val="35000"/>
                  </a:schemeClr>
                </a:solidFill>
                <a:latin typeface="+mj-lt"/>
                <a:ea typeface="맑은 고딕" pitchFamily="50" charset="-127"/>
              </a:defRPr>
            </a:lvl1pPr>
            <a:lvl2pPr algn="l">
              <a:buNone/>
              <a:defRPr sz="1600" i="1" baseline="0">
                <a:solidFill>
                  <a:schemeClr val="tx1">
                    <a:lumMod val="65000"/>
                    <a:lumOff val="35000"/>
                  </a:schemeClr>
                </a:solidFill>
                <a:latin typeface="+mj-lt"/>
                <a:ea typeface="맑은 고딕" pitchFamily="50" charset="-127"/>
              </a:defRPr>
            </a:lvl2pPr>
            <a:lvl3pPr algn="l">
              <a:buNone/>
              <a:defRPr sz="1600" i="1" baseline="0">
                <a:solidFill>
                  <a:schemeClr val="tx1">
                    <a:lumMod val="65000"/>
                    <a:lumOff val="35000"/>
                  </a:schemeClr>
                </a:solidFill>
                <a:latin typeface="+mj-lt"/>
                <a:ea typeface="맑은 고딕" pitchFamily="50" charset="-127"/>
              </a:defRPr>
            </a:lvl3pPr>
            <a:lvl4pPr algn="l">
              <a:buNone/>
              <a:defRPr sz="1600" i="1" baseline="0">
                <a:solidFill>
                  <a:schemeClr val="tx1">
                    <a:lumMod val="65000"/>
                    <a:lumOff val="35000"/>
                  </a:schemeClr>
                </a:solidFill>
                <a:latin typeface="+mj-lt"/>
                <a:ea typeface="맑은 고딕" pitchFamily="50" charset="-127"/>
              </a:defRPr>
            </a:lvl4pPr>
            <a:lvl5pPr algn="l">
              <a:buNone/>
              <a:defRPr sz="1600" i="1" baseline="0">
                <a:solidFill>
                  <a:schemeClr val="tx1">
                    <a:lumMod val="65000"/>
                    <a:lumOff val="35000"/>
                  </a:schemeClr>
                </a:solidFill>
                <a:latin typeface="+mj-lt"/>
                <a:ea typeface="맑은 고딕" pitchFamily="50" charset="-127"/>
              </a:defRPr>
            </a:lvl5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8" name="제목 1"/>
          <p:cNvSpPr>
            <a:spLocks noGrp="1"/>
          </p:cNvSpPr>
          <p:nvPr>
            <p:ph type="title"/>
          </p:nvPr>
        </p:nvSpPr>
        <p:spPr>
          <a:xfrm>
            <a:off x="179512" y="-29264"/>
            <a:ext cx="7661196" cy="796908"/>
          </a:xfrm>
        </p:spPr>
        <p:txBody>
          <a:bodyPr vert="horz" lIns="91440" tIns="45720" rIns="91440" bIns="45720" rtlCol="0" anchor="ctr">
            <a:normAutofit/>
          </a:bodyPr>
          <a:lstStyle>
            <a:lvl1pPr algn="l" defTabSz="914400" rtl="0" eaLnBrk="1" latinLnBrk="1" hangingPunct="1">
              <a:spcBef>
                <a:spcPct val="0"/>
              </a:spcBef>
              <a:buNone/>
              <a:defRPr lang="ko-KR" altLang="en-US" sz="2500" b="1" kern="1200" baseline="0" dirty="0">
                <a:solidFill>
                  <a:schemeClr val="bg1"/>
                </a:solidFill>
                <a:effectLst>
                  <a:outerShdw blurRad="63500" algn="ctr" rotWithShape="0">
                    <a:prstClr val="black">
                      <a:alpha val="13000"/>
                    </a:prstClr>
                  </a:outerShdw>
                </a:effectLst>
                <a:latin typeface="+mj-lt"/>
                <a:ea typeface="맑은 고딕" pitchFamily="50" charset="-127"/>
                <a:cs typeface="+mj-cs"/>
              </a:defRPr>
            </a:lvl1pPr>
          </a:lstStyle>
          <a:p>
            <a:r>
              <a:rPr lang="ko-KR" altLang="en-US" dirty="0"/>
              <a:t>마스터 제목 스타일 편집</a:t>
            </a:r>
          </a:p>
        </p:txBody>
      </p:sp>
      <p:sp>
        <p:nvSpPr>
          <p:cNvPr id="2" name="Metin kutusu 1">
            <a:extLst>
              <a:ext uri="{FF2B5EF4-FFF2-40B4-BE49-F238E27FC236}">
                <a16:creationId xmlns:a16="http://schemas.microsoft.com/office/drawing/2014/main" id="{B40808B3-713A-DD36-BAC7-9669B437D1F9}"/>
              </a:ext>
            </a:extLst>
          </p:cNvPr>
          <p:cNvSpPr txBox="1"/>
          <p:nvPr userDrawn="1"/>
        </p:nvSpPr>
        <p:spPr>
          <a:xfrm rot="16200000">
            <a:off x="8227050" y="5867251"/>
            <a:ext cx="1487908" cy="276999"/>
          </a:xfrm>
          <a:prstGeom prst="rect">
            <a:avLst/>
          </a:prstGeom>
          <a:noFill/>
        </p:spPr>
        <p:txBody>
          <a:bodyPr wrap="none" rtlCol="0">
            <a:spAutoFit/>
          </a:bodyPr>
          <a:lstStyle/>
          <a:p>
            <a:r>
              <a:rPr lang="tr-TR" sz="1200">
                <a:solidFill>
                  <a:schemeClr val="tx1">
                    <a:lumMod val="50000"/>
                    <a:lumOff val="50000"/>
                  </a:schemeClr>
                </a:solidFill>
                <a:latin typeface="Lucida Handwriting" panose="03010101010101010101" pitchFamily="66" charset="0"/>
              </a:rPr>
              <a:t>Hocaoğlu, M. F.</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사용자 지정 레이아웃">
    <p:bg>
      <p:bgPr>
        <a:solidFill>
          <a:schemeClr val="bg1"/>
        </a:solidFill>
        <a:effectLst/>
      </p:bgPr>
    </p:bg>
    <p:spTree>
      <p:nvGrpSpPr>
        <p:cNvPr id="1" name=""/>
        <p:cNvGrpSpPr/>
        <p:nvPr/>
      </p:nvGrpSpPr>
      <p:grpSpPr>
        <a:xfrm>
          <a:off x="0" y="0"/>
          <a:ext cx="0" cy="0"/>
          <a:chOff x="0" y="0"/>
          <a:chExt cx="0" cy="0"/>
        </a:xfrm>
      </p:grpSpPr>
      <p:pic>
        <p:nvPicPr>
          <p:cNvPr id="6146"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날짜 개체 틀 2"/>
          <p:cNvSpPr>
            <a:spLocks noGrp="1"/>
          </p:cNvSpPr>
          <p:nvPr>
            <p:ph type="dt" sz="half" idx="10"/>
          </p:nvPr>
        </p:nvSpPr>
        <p:spPr/>
        <p:txBody>
          <a:bodyPr/>
          <a:lstStyle>
            <a:lvl1pPr>
              <a:defRPr>
                <a:latin typeface="+mj-lt"/>
              </a:defRPr>
            </a:lvl1pPr>
          </a:lstStyle>
          <a:p>
            <a:fld id="{ED3D6733-6F27-4404-AB51-585418F146E5}" type="datetimeFigureOut">
              <a:rPr lang="ko-KR" altLang="en-US" smtClean="0"/>
              <a:pPr/>
              <a:t>2025-09-13</a:t>
            </a:fld>
            <a:endParaRPr lang="ko-KR" altLang="en-US"/>
          </a:p>
        </p:txBody>
      </p:sp>
      <p:sp>
        <p:nvSpPr>
          <p:cNvPr id="4" name="바닥글 개체 틀 3"/>
          <p:cNvSpPr>
            <a:spLocks noGrp="1"/>
          </p:cNvSpPr>
          <p:nvPr>
            <p:ph type="ftr" sz="quarter" idx="11"/>
          </p:nvPr>
        </p:nvSpPr>
        <p:spPr/>
        <p:txBody>
          <a:bodyPr/>
          <a:lstStyle>
            <a:lvl1pPr>
              <a:defRPr>
                <a:latin typeface="+mj-lt"/>
              </a:defRPr>
            </a:lvl1pPr>
          </a:lstStyle>
          <a:p>
            <a:endParaRPr lang="ko-KR" altLang="en-US"/>
          </a:p>
        </p:txBody>
      </p:sp>
      <p:sp>
        <p:nvSpPr>
          <p:cNvPr id="5" name="슬라이드 번호 개체 틀 4"/>
          <p:cNvSpPr>
            <a:spLocks noGrp="1"/>
          </p:cNvSpPr>
          <p:nvPr>
            <p:ph type="sldNum" sz="quarter" idx="12"/>
          </p:nvPr>
        </p:nvSpPr>
        <p:spPr/>
        <p:txBody>
          <a:bodyPr/>
          <a:lstStyle>
            <a:lvl1pPr>
              <a:defRPr>
                <a:latin typeface="+mj-lt"/>
              </a:defRPr>
            </a:lvl1pPr>
          </a:lstStyle>
          <a:p>
            <a:fld id="{EE6BC638-39B7-4287-91A7-2A3DDA573295}" type="slidenum">
              <a:rPr lang="ko-KR" altLang="en-US" smtClean="0"/>
              <a:pPr/>
              <a:t>‹#›</a:t>
            </a:fld>
            <a:endParaRPr lang="ko-KR" altLang="en-US"/>
          </a:p>
        </p:txBody>
      </p:sp>
      <p:sp>
        <p:nvSpPr>
          <p:cNvPr id="6" name="제목 1"/>
          <p:cNvSpPr>
            <a:spLocks noGrp="1"/>
          </p:cNvSpPr>
          <p:nvPr>
            <p:ph type="ctrTitle"/>
          </p:nvPr>
        </p:nvSpPr>
        <p:spPr>
          <a:xfrm>
            <a:off x="174340" y="2420888"/>
            <a:ext cx="8795320" cy="1347567"/>
          </a:xfrm>
          <a:noFill/>
          <a:ln w="9525">
            <a:noFill/>
            <a:miter lim="800000"/>
            <a:headEnd/>
            <a:tailEnd/>
          </a:ln>
        </p:spPr>
        <p:txBody>
          <a:bodyPr vert="horz" wrap="square" lIns="91440" tIns="45720" rIns="91440" bIns="45720" numCol="1" rtlCol="0" anchor="t" anchorCtr="0" compatLnSpc="1">
            <a:prstTxWarp prst="textNoShape">
              <a:avLst/>
            </a:prstTxWarp>
            <a:noAutofit/>
          </a:bodyPr>
          <a:lstStyle>
            <a:lvl1pPr marL="0" indent="0" algn="ctr" defTabSz="914400" rtl="0" eaLnBrk="1" fontAlgn="base" latinLnBrk="1" hangingPunct="1">
              <a:lnSpc>
                <a:spcPct val="100000"/>
              </a:lnSpc>
              <a:spcBef>
                <a:spcPct val="0"/>
              </a:spcBef>
              <a:spcAft>
                <a:spcPct val="0"/>
              </a:spcAft>
              <a:buClr>
                <a:schemeClr val="hlink"/>
              </a:buClr>
              <a:buFont typeface="굴림체" pitchFamily="49" charset="-127"/>
              <a:buNone/>
              <a:defRPr lang="ko-KR" altLang="en-US" sz="7000" kern="1200" baseline="0" dirty="0">
                <a:solidFill>
                  <a:schemeClr val="bg1">
                    <a:lumMod val="50000"/>
                  </a:schemeClr>
                </a:solidFill>
                <a:effectLst/>
                <a:latin typeface="+mj-lt"/>
                <a:ea typeface="맑은 고딕" pitchFamily="50" charset="-127"/>
                <a:cs typeface="+mj-cs"/>
              </a:defRPr>
            </a:lvl1pPr>
          </a:lstStyle>
          <a:p>
            <a:endParaRPr lang="en-US" altLang="ko-K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cSld name="Yalnızca Başlık">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15CFC198-34C6-4F85-89A4-6A9ABEF0DBBE}" type="datetimeFigureOut">
              <a:rPr lang="tr-TR" smtClean="0"/>
              <a:t>13.09.2025</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188BC26D-6E52-42B1-80C7-3FF6374F2689}" type="slidenum">
              <a:rPr lang="tr-TR" smtClean="0"/>
              <a:t>‹#›</a:t>
            </a:fld>
            <a:endParaRPr lang="tr-TR"/>
          </a:p>
        </p:txBody>
      </p:sp>
    </p:spTree>
    <p:extLst>
      <p:ext uri="{BB962C8B-B14F-4D97-AF65-F5344CB8AC3E}">
        <p14:creationId xmlns:p14="http://schemas.microsoft.com/office/powerpoint/2010/main" val="18152986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idx="1"/>
          </p:nvPr>
        </p:nvSpPr>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15CFC198-34C6-4F85-89A4-6A9ABEF0DBBE}" type="datetimeFigureOut">
              <a:rPr lang="tr-TR" smtClean="0"/>
              <a:t>13.09.2025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188BC26D-6E52-42B1-80C7-3FF6374F2689}" type="slidenum">
              <a:rPr lang="tr-TR" smtClean="0"/>
              <a:t>‹#›</a:t>
            </a:fld>
            <a:endParaRPr lang="tr-TR"/>
          </a:p>
        </p:txBody>
      </p:sp>
      <p:pic>
        <p:nvPicPr>
          <p:cNvPr id="8" name="Resim 7">
            <a:extLst>
              <a:ext uri="{FF2B5EF4-FFF2-40B4-BE49-F238E27FC236}">
                <a16:creationId xmlns:a16="http://schemas.microsoft.com/office/drawing/2014/main" id="{50BCD3BF-9BB0-4EF2-9329-EF3D0200C16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35008" y="5936636"/>
            <a:ext cx="525177" cy="921364"/>
          </a:xfrm>
          <a:prstGeom prst="rect">
            <a:avLst/>
          </a:prstGeom>
        </p:spPr>
      </p:pic>
      <p:pic>
        <p:nvPicPr>
          <p:cNvPr id="9" name="Resim 8">
            <a:extLst>
              <a:ext uri="{FF2B5EF4-FFF2-40B4-BE49-F238E27FC236}">
                <a16:creationId xmlns:a16="http://schemas.microsoft.com/office/drawing/2014/main" id="{A96DF4AE-CEAC-48B2-8A36-9B25BF210FAF}"/>
              </a:ext>
            </a:extLst>
          </p:cNvPr>
          <p:cNvPicPr>
            <a:picLocks noChangeAspect="1"/>
          </p:cNvPicPr>
          <p:nvPr userDrawn="1"/>
        </p:nvPicPr>
        <p:blipFill>
          <a:blip r:embed="rId3"/>
          <a:stretch>
            <a:fillRect/>
          </a:stretch>
        </p:blipFill>
        <p:spPr>
          <a:xfrm>
            <a:off x="-898" y="530203"/>
            <a:ext cx="947302" cy="610330"/>
          </a:xfrm>
          <a:prstGeom prst="rect">
            <a:avLst/>
          </a:prstGeom>
        </p:spPr>
      </p:pic>
    </p:spTree>
    <p:extLst>
      <p:ext uri="{BB962C8B-B14F-4D97-AF65-F5344CB8AC3E}">
        <p14:creationId xmlns:p14="http://schemas.microsoft.com/office/powerpoint/2010/main" val="3434961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457200" y="19026"/>
            <a:ext cx="8229600" cy="796908"/>
          </a:xfrm>
          <a:prstGeom prst="rect">
            <a:avLst/>
          </a:prstGeom>
        </p:spPr>
        <p:txBody>
          <a:bodyPr vert="horz" lIns="91440" tIns="45720" rIns="91440" bIns="45720" rtlCol="0" anchor="ctr">
            <a:normAutofit/>
          </a:bodyPr>
          <a:lstStyle/>
          <a:p>
            <a:r>
              <a:rPr lang="ko-KR" altLang="en-US" dirty="0"/>
              <a:t>마스터 제목 스타일 편집</a:t>
            </a:r>
          </a:p>
        </p:txBody>
      </p:sp>
      <p:sp>
        <p:nvSpPr>
          <p:cNvPr id="3" name="텍스트 개체 틀 2"/>
          <p:cNvSpPr>
            <a:spLocks noGrp="1"/>
          </p:cNvSpPr>
          <p:nvPr>
            <p:ph type="body" idx="1"/>
          </p:nvPr>
        </p:nvSpPr>
        <p:spPr>
          <a:xfrm>
            <a:off x="457200" y="1062021"/>
            <a:ext cx="8229600" cy="5286412"/>
          </a:xfrm>
          <a:prstGeom prst="rect">
            <a:avLst/>
          </a:prstGeom>
        </p:spPr>
        <p:txBody>
          <a:bodyPr vert="horz" lIns="91440" tIns="45720" rIns="91440" bIns="45720" rtlCol="0">
            <a:normAutofit/>
          </a:body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4" name="날짜 개체 틀 3"/>
          <p:cNvSpPr>
            <a:spLocks noGrp="1"/>
          </p:cNvSpPr>
          <p:nvPr>
            <p:ph type="dt" sz="half" idx="2"/>
          </p:nvPr>
        </p:nvSpPr>
        <p:spPr>
          <a:xfrm>
            <a:off x="457200" y="6429396"/>
            <a:ext cx="2133600" cy="292079"/>
          </a:xfrm>
          <a:prstGeom prst="rect">
            <a:avLst/>
          </a:prstGeom>
        </p:spPr>
        <p:txBody>
          <a:bodyPr vert="horz" lIns="91440" tIns="45720" rIns="91440" bIns="45720" rtlCol="0" anchor="ctr"/>
          <a:lstStyle>
            <a:lvl1pPr algn="l">
              <a:defRPr sz="1200">
                <a:solidFill>
                  <a:schemeClr val="tx1">
                    <a:tint val="75000"/>
                  </a:schemeClr>
                </a:solidFill>
              </a:defRPr>
            </a:lvl1pPr>
          </a:lstStyle>
          <a:p>
            <a:fld id="{ED3D6733-6F27-4404-AB51-585418F146E5}" type="datetimeFigureOut">
              <a:rPr lang="ko-KR" altLang="en-US" smtClean="0"/>
              <a:pPr/>
              <a:t>2025-09-13</a:t>
            </a:fld>
            <a:endParaRPr lang="ko-KR" altLang="en-US"/>
          </a:p>
        </p:txBody>
      </p:sp>
      <p:sp>
        <p:nvSpPr>
          <p:cNvPr id="5" name="바닥글 개체 틀 4"/>
          <p:cNvSpPr>
            <a:spLocks noGrp="1"/>
          </p:cNvSpPr>
          <p:nvPr>
            <p:ph type="ftr" sz="quarter" idx="3"/>
          </p:nvPr>
        </p:nvSpPr>
        <p:spPr>
          <a:xfrm>
            <a:off x="3124200" y="6429396"/>
            <a:ext cx="2895600" cy="292079"/>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6553200" y="6429396"/>
            <a:ext cx="2133600" cy="292079"/>
          </a:xfrm>
          <a:prstGeom prst="rect">
            <a:avLst/>
          </a:prstGeom>
        </p:spPr>
        <p:txBody>
          <a:bodyPr vert="horz" lIns="91440" tIns="45720" rIns="91440" bIns="45720" rtlCol="0" anchor="ctr"/>
          <a:lstStyle>
            <a:lvl1pPr algn="r">
              <a:defRPr sz="1200">
                <a:solidFill>
                  <a:schemeClr val="tx1">
                    <a:tint val="75000"/>
                  </a:schemeClr>
                </a:solidFill>
              </a:defRPr>
            </a:lvl1pPr>
          </a:lstStyle>
          <a:p>
            <a:fld id="{EE6BC638-39B7-4287-91A7-2A3DDA573295}" type="slidenum">
              <a:rPr lang="ko-KR" altLang="en-US" smtClean="0"/>
              <a:pPr/>
              <a:t>‹#›</a:t>
            </a:fld>
            <a:endParaRPr lang="ko-KR" altLang="en-US"/>
          </a:p>
        </p:txBody>
      </p:sp>
    </p:spTree>
  </p:cSld>
  <p:clrMap bg1="lt1" tx1="dk1" bg2="lt2" tx2="dk2" accent1="accent1" accent2="accent2" accent3="accent3" accent4="accent4" accent5="accent5" accent6="accent6" hlink="hlink" folHlink="folHlink"/>
  <p:sldLayoutIdLst>
    <p:sldLayoutId id="2147483649" r:id="rId1"/>
    <p:sldLayoutId id="2147483655" r:id="rId2"/>
    <p:sldLayoutId id="2147483651" r:id="rId3"/>
    <p:sldLayoutId id="2147483656" r:id="rId4"/>
    <p:sldLayoutId id="2147483650" r:id="rId5"/>
    <p:sldLayoutId id="2147483657" r:id="rId6"/>
    <p:sldLayoutId id="2147483658" r:id="rId7"/>
    <p:sldLayoutId id="2147483659" r:id="rId8"/>
  </p:sldLayoutIdLst>
  <p:txStyles>
    <p:titleStyle>
      <a:lvl1pPr algn="l" defTabSz="914400" rtl="0" eaLnBrk="1" latinLnBrk="1" hangingPunct="1">
        <a:spcBef>
          <a:spcPct val="0"/>
        </a:spcBef>
        <a:buNone/>
        <a:defRPr lang="ko-KR" altLang="en-US" sz="3500" kern="1200">
          <a:solidFill>
            <a:sysClr val="windowText" lastClr="000000"/>
          </a:solidFill>
          <a:latin typeface="맑은 고딕" pitchFamily="50" charset="-127"/>
          <a:ea typeface="맑은 고딕" pitchFamily="50" charset="-127"/>
          <a:cs typeface="+mj-cs"/>
        </a:defRPr>
      </a:lvl1pPr>
    </p:titleStyle>
    <p:bodyStyle>
      <a:lvl1pPr marL="342900" indent="-342900" algn="l" defTabSz="914400" rtl="0" eaLnBrk="1" latinLnBrk="1" hangingPunct="1">
        <a:spcBef>
          <a:spcPct val="20000"/>
        </a:spcBef>
        <a:buFont typeface="Arial" pitchFamily="34" charset="0"/>
        <a:buChar char="•"/>
        <a:defRPr lang="ko-KR" altLang="en-US" sz="2500" kern="1200" smtClean="0">
          <a:solidFill>
            <a:schemeClr val="tx1"/>
          </a:solidFill>
          <a:latin typeface="맑은 고딕" pitchFamily="50" charset="-127"/>
          <a:ea typeface="맑은 고딕" pitchFamily="50" charset="-127"/>
          <a:cs typeface="+mn-cs"/>
        </a:defRPr>
      </a:lvl1pPr>
      <a:lvl2pPr marL="742950" indent="-285750" algn="l" defTabSz="914400" rtl="0" eaLnBrk="1" latinLnBrk="1" hangingPunct="1">
        <a:spcBef>
          <a:spcPct val="20000"/>
        </a:spcBef>
        <a:buFont typeface="Arial" pitchFamily="34" charset="0"/>
        <a:buChar char="–"/>
        <a:defRPr lang="ko-KR" altLang="en-US" sz="1800" kern="1200" smtClean="0">
          <a:solidFill>
            <a:schemeClr val="tx1"/>
          </a:solidFill>
          <a:latin typeface="맑은 고딕" pitchFamily="50" charset="-127"/>
          <a:ea typeface="맑은 고딕" pitchFamily="50" charset="-127"/>
          <a:cs typeface="+mn-cs"/>
        </a:defRPr>
      </a:lvl2pPr>
      <a:lvl3pPr marL="1143000" indent="-228600" algn="l" defTabSz="914400" rtl="0" eaLnBrk="1" latinLnBrk="1" hangingPunct="1">
        <a:spcBef>
          <a:spcPct val="20000"/>
        </a:spcBef>
        <a:buFont typeface="Arial" pitchFamily="34" charset="0"/>
        <a:buChar char="•"/>
        <a:defRPr lang="ko-KR" altLang="en-US" sz="1800" kern="1200" smtClean="0">
          <a:solidFill>
            <a:schemeClr val="tx1"/>
          </a:solidFill>
          <a:latin typeface="맑은 고딕" pitchFamily="50" charset="-127"/>
          <a:ea typeface="맑은 고딕" pitchFamily="50" charset="-127"/>
          <a:cs typeface="+mn-cs"/>
        </a:defRPr>
      </a:lvl3pPr>
      <a:lvl4pPr marL="1600200" indent="-228600" algn="l" defTabSz="914400" rtl="0" eaLnBrk="1" latinLnBrk="1" hangingPunct="1">
        <a:spcBef>
          <a:spcPct val="20000"/>
        </a:spcBef>
        <a:buFont typeface="Arial" pitchFamily="34" charset="0"/>
        <a:buChar char="–"/>
        <a:defRPr lang="ko-KR" altLang="en-US" sz="1800" kern="1200" smtClean="0">
          <a:solidFill>
            <a:schemeClr val="tx1"/>
          </a:solidFill>
          <a:latin typeface="맑은 고딕" pitchFamily="50" charset="-127"/>
          <a:ea typeface="맑은 고딕" pitchFamily="50" charset="-127"/>
          <a:cs typeface="+mn-cs"/>
        </a:defRPr>
      </a:lvl4pPr>
      <a:lvl5pPr marL="2057400" indent="-228600" algn="l" defTabSz="914400" rtl="0" eaLnBrk="1" latinLnBrk="1" hangingPunct="1">
        <a:spcBef>
          <a:spcPct val="20000"/>
        </a:spcBef>
        <a:buFont typeface="Arial" pitchFamily="34" charset="0"/>
        <a:buChar char="»"/>
        <a:defRPr lang="ko-KR" altLang="en-US" sz="1800" kern="1200">
          <a:solidFill>
            <a:schemeClr val="tx1"/>
          </a:solidFill>
          <a:latin typeface="맑은 고딕" pitchFamily="50" charset="-127"/>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13.png"/><Relationship Id="rId7" Type="http://schemas.openxmlformats.org/officeDocument/2006/relationships/diagramQuickStyle" Target="../diagrams/quickStyle1.xml"/><Relationship Id="rId2" Type="http://schemas.openxmlformats.org/officeDocument/2006/relationships/image" Target="../media/image12.png"/><Relationship Id="rId1" Type="http://schemas.openxmlformats.org/officeDocument/2006/relationships/slideLayout" Target="../slideLayouts/slideLayout5.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14.png"/><Relationship Id="rId9" Type="http://schemas.microsoft.com/office/2007/relationships/diagramDrawing" Target="../diagrams/drawing1.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5.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image" Target="../media/image160.png"/><Relationship Id="rId1" Type="http://schemas.openxmlformats.org/officeDocument/2006/relationships/slideLayout" Target="../slideLayouts/slideLayout5.xml"/><Relationship Id="rId5" Type="http://schemas.openxmlformats.org/officeDocument/2006/relationships/image" Target="../media/image190.png"/><Relationship Id="rId4" Type="http://schemas.openxmlformats.org/officeDocument/2006/relationships/image" Target="../media/image18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5.xml"/><Relationship Id="rId5" Type="http://schemas.openxmlformats.org/officeDocument/2006/relationships/image" Target="../media/image25.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26.png"/><Relationship Id="rId1" Type="http://schemas.openxmlformats.org/officeDocument/2006/relationships/slideLayout" Target="../slideLayouts/slideLayout5.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image" Target="../media/image27.png"/><Relationship Id="rId1" Type="http://schemas.openxmlformats.org/officeDocument/2006/relationships/slideLayout" Target="../slideLayouts/slideLayout5.xml"/><Relationship Id="rId5" Type="http://schemas.openxmlformats.org/officeDocument/2006/relationships/image" Target="../media/image230.png"/><Relationship Id="rId4" Type="http://schemas.openxmlformats.org/officeDocument/2006/relationships/image" Target="../media/image220.png"/></Relationships>
</file>

<file path=ppt/slides/_rels/slide16.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image" Target="../media/image240.png"/><Relationship Id="rId1" Type="http://schemas.openxmlformats.org/officeDocument/2006/relationships/slideLayout" Target="../slideLayouts/slideLayout5.xml"/><Relationship Id="rId4" Type="http://schemas.openxmlformats.org/officeDocument/2006/relationships/image" Target="../media/image260.png"/></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0.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5.xml"/><Relationship Id="rId5" Type="http://schemas.openxmlformats.org/officeDocument/2006/relationships/image" Target="../media/image33.png"/><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5.xml"/><Relationship Id="rId4" Type="http://schemas.openxmlformats.org/officeDocument/2006/relationships/image" Target="../media/image40.png"/></Relationships>
</file>

<file path=ppt/slides/_rels/slide2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5.xml"/><Relationship Id="rId4" Type="http://schemas.openxmlformats.org/officeDocument/2006/relationships/image" Target="../media/image43.png"/></Relationships>
</file>

<file path=ppt/slides/_rels/slide2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5.xml"/><Relationship Id="rId5" Type="http://schemas.openxmlformats.org/officeDocument/2006/relationships/image" Target="../media/image51.png"/><Relationship Id="rId4" Type="http://schemas.openxmlformats.org/officeDocument/2006/relationships/image" Target="../media/image50.png"/></Relationships>
</file>

<file path=ppt/slides/_rels/slide2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310.pn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350.pn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370.png"/><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image" Target="../media/image390.pn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image" Target="../media/image400.pn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image" Target="../media/image340.png"/><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76.png"/><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78.png"/><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6"/>
          <p:cNvSpPr>
            <a:spLocks noGrp="1"/>
          </p:cNvSpPr>
          <p:nvPr>
            <p:ph type="ctrTitle"/>
          </p:nvPr>
        </p:nvSpPr>
        <p:spPr>
          <a:xfrm>
            <a:off x="395536" y="2164796"/>
            <a:ext cx="8424936" cy="1768260"/>
          </a:xfrm>
        </p:spPr>
        <p:txBody>
          <a:bodyPr/>
          <a:lstStyle/>
          <a:p>
            <a:r>
              <a:rPr lang="tr-TR" altLang="ko-KR" dirty="0">
                <a:solidFill>
                  <a:srgbClr val="EA6131"/>
                </a:solidFill>
              </a:rPr>
              <a:t>G</a:t>
            </a:r>
            <a:r>
              <a:rPr lang="tr-TR" altLang="ko-KR" dirty="0"/>
              <a:t>ezgin</a:t>
            </a:r>
            <a:r>
              <a:rPr lang="tr-TR" altLang="ko-KR" dirty="0">
                <a:solidFill>
                  <a:srgbClr val="EA6131"/>
                </a:solidFill>
              </a:rPr>
              <a:t> S</a:t>
            </a:r>
            <a:r>
              <a:rPr lang="tr-TR" altLang="ko-KR" dirty="0"/>
              <a:t>atıcı</a:t>
            </a:r>
            <a:r>
              <a:rPr lang="tr-TR" altLang="ko-KR" dirty="0">
                <a:solidFill>
                  <a:srgbClr val="EA6131"/>
                </a:solidFill>
              </a:rPr>
              <a:t> </a:t>
            </a:r>
            <a:r>
              <a:rPr lang="tr-TR" altLang="ko-KR" dirty="0"/>
              <a:t>ve</a:t>
            </a:r>
            <a:r>
              <a:rPr lang="tr-TR" altLang="ko-KR" dirty="0">
                <a:solidFill>
                  <a:srgbClr val="EA6131"/>
                </a:solidFill>
              </a:rPr>
              <a:t> </a:t>
            </a:r>
            <a:r>
              <a:rPr lang="tr-TR" altLang="ko-KR">
                <a:solidFill>
                  <a:srgbClr val="EA6131"/>
                </a:solidFill>
              </a:rPr>
              <a:t>P</a:t>
            </a:r>
            <a:r>
              <a:rPr lang="tr-TR" altLang="ko-KR"/>
              <a:t>ostacı</a:t>
            </a:r>
            <a:r>
              <a:rPr lang="tr-TR" altLang="ko-KR">
                <a:solidFill>
                  <a:srgbClr val="EA6131"/>
                </a:solidFill>
              </a:rPr>
              <a:t> </a:t>
            </a:r>
            <a:r>
              <a:rPr lang="tr-TR" altLang="ko-KR"/>
              <a:t>P</a:t>
            </a:r>
            <a:r>
              <a:rPr lang="tr-TR" altLang="ko-KR">
                <a:solidFill>
                  <a:srgbClr val="EA6131"/>
                </a:solidFill>
              </a:rPr>
              <a:t>r</a:t>
            </a:r>
            <a:r>
              <a:rPr lang="tr-TR" altLang="ko-KR"/>
              <a:t>oblemleri</a:t>
            </a:r>
            <a:endParaRPr lang="ko-KR"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427985" y="3765771"/>
            <a:ext cx="4704184" cy="20313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p>
            <a:pPr marR="0" indent="-228600" fontAlgn="base">
              <a:lnSpc>
                <a:spcPct val="200000"/>
              </a:lnSpc>
              <a:spcBef>
                <a:spcPct val="0"/>
              </a:spcBef>
              <a:spcAft>
                <a:spcPct val="0"/>
              </a:spcAft>
              <a:buClrTx/>
              <a:buSzTx/>
              <a:buFont typeface="+mj-lt"/>
              <a:buAutoNum type="arabicPeriod"/>
              <a:tabLst/>
            </a:pPr>
            <a:r>
              <a:rPr lang="tr-TR" sz="1400"/>
              <a:t>Gezgin Satıcı Problemleri Temel Özellikleri </a:t>
            </a:r>
          </a:p>
          <a:p>
            <a:r>
              <a:rPr lang="tr-TR" sz="1400">
                <a:effectLst/>
              </a:rPr>
              <a:t>2.  </a:t>
            </a:r>
            <a:r>
              <a:rPr lang="tr-TR" sz="1400"/>
              <a:t>Gezgin Satıcı Problemi (GSP) nedir?</a:t>
            </a:r>
          </a:p>
          <a:p>
            <a:pPr>
              <a:lnSpc>
                <a:spcPct val="100000"/>
              </a:lnSpc>
            </a:pPr>
            <a:r>
              <a:rPr lang="tr-TR" sz="1400"/>
              <a:t>3.  GSP neden önemlidir?</a:t>
            </a:r>
          </a:p>
          <a:p>
            <a:pPr>
              <a:lnSpc>
                <a:spcPct val="100000"/>
              </a:lnSpc>
            </a:pPr>
            <a:r>
              <a:rPr lang="tr-TR" sz="1400"/>
              <a:t>4.  Çözüm yöntemleri nelerdir?</a:t>
            </a:r>
          </a:p>
          <a:p>
            <a:pPr>
              <a:lnSpc>
                <a:spcPct val="100000"/>
              </a:lnSpc>
            </a:pPr>
            <a:r>
              <a:rPr lang="tr-TR" sz="1400"/>
              <a:t>5.  Birden fazla gezgin satıcı nasıl modellenir?</a:t>
            </a:r>
          </a:p>
          <a:p>
            <a:pPr>
              <a:lnSpc>
                <a:spcPct val="100000"/>
              </a:lnSpc>
            </a:pPr>
            <a:r>
              <a:rPr lang="tr-TR" sz="1400"/>
              <a:t>6.  Zaman sınırlı GSP problemleri modellemesi nasıl yapılır?</a:t>
            </a:r>
          </a:p>
          <a:p>
            <a:pPr>
              <a:lnSpc>
                <a:spcPct val="100000"/>
              </a:lnSpc>
            </a:pPr>
            <a:r>
              <a:rPr lang="tr-TR" sz="1400"/>
              <a:t>7.  Çinli Postacı problemi nedir?</a:t>
            </a:r>
          </a:p>
          <a:p>
            <a:r>
              <a:rPr lang="tr-TR" sz="1400"/>
              <a:t>8.  Gezgin satıcı ve Çinli postacı problemleri farkı nedir?</a:t>
            </a:r>
            <a:endParaRPr lang="en-US" altLang="ko-KR" sz="1400" dirty="0"/>
          </a:p>
        </p:txBody>
      </p:sp>
      <p:grpSp>
        <p:nvGrpSpPr>
          <p:cNvPr id="2" name="그룹 1">
            <a:extLst>
              <a:ext uri="{FF2B5EF4-FFF2-40B4-BE49-F238E27FC236}">
                <a16:creationId xmlns:a16="http://schemas.microsoft.com/office/drawing/2014/main" id="{D0503BC1-B5E8-4EC2-AA4E-664180DDBE41}"/>
              </a:ext>
            </a:extLst>
          </p:cNvPr>
          <p:cNvGrpSpPr/>
          <p:nvPr/>
        </p:nvGrpSpPr>
        <p:grpSpPr>
          <a:xfrm>
            <a:off x="550179" y="4149080"/>
            <a:ext cx="3733789" cy="797841"/>
            <a:chOff x="1890822" y="4221088"/>
            <a:chExt cx="3733789" cy="797841"/>
          </a:xfrm>
        </p:grpSpPr>
        <p:sp>
          <p:nvSpPr>
            <p:cNvPr id="6" name="직사각형 5"/>
            <p:cNvSpPr/>
            <p:nvPr/>
          </p:nvSpPr>
          <p:spPr>
            <a:xfrm rot="2700000">
              <a:off x="1890822" y="4405073"/>
              <a:ext cx="613856" cy="613856"/>
            </a:xfrm>
            <a:prstGeom prst="rect">
              <a:avLst/>
            </a:prstGeom>
            <a:solidFill>
              <a:srgbClr val="EA61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rgbClr val="EA6131"/>
                </a:solidFill>
                <a:latin typeface="+mj-lt"/>
                <a:ea typeface="맑은 고딕" pitchFamily="50" charset="-127"/>
              </a:endParaRPr>
            </a:p>
          </p:txBody>
        </p:sp>
        <p:grpSp>
          <p:nvGrpSpPr>
            <p:cNvPr id="4" name="그룹 3"/>
            <p:cNvGrpSpPr/>
            <p:nvPr/>
          </p:nvGrpSpPr>
          <p:grpSpPr>
            <a:xfrm>
              <a:off x="1907704" y="4221088"/>
              <a:ext cx="3716907" cy="764155"/>
              <a:chOff x="2219144" y="3284144"/>
              <a:chExt cx="3716907" cy="764155"/>
            </a:xfrm>
          </p:grpSpPr>
          <p:sp>
            <p:nvSpPr>
              <p:cNvPr id="10" name="Text Box 5"/>
              <p:cNvSpPr txBox="1">
                <a:spLocks noChangeArrowheads="1"/>
              </p:cNvSpPr>
              <p:nvPr/>
            </p:nvSpPr>
            <p:spPr bwMode="auto">
              <a:xfrm>
                <a:off x="2894078" y="3284144"/>
                <a:ext cx="3041973" cy="46166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p>
                <a:pPr lvl="0" fontAlgn="base">
                  <a:spcBef>
                    <a:spcPct val="0"/>
                  </a:spcBef>
                  <a:spcAft>
                    <a:spcPct val="0"/>
                  </a:spcAft>
                </a:pPr>
                <a:r>
                  <a:rPr kumimoji="1" lang="tr-TR" altLang="ko-KR" sz="2400" b="1">
                    <a:solidFill>
                      <a:srgbClr val="EA6131"/>
                    </a:solidFill>
                    <a:latin typeface="+mj-lt"/>
                    <a:ea typeface="맑은 고딕" pitchFamily="50" charset="-127"/>
                    <a:cs typeface="굴림" pitchFamily="50" charset="-127"/>
                  </a:rPr>
                  <a:t>Gezgin Satıcı</a:t>
                </a:r>
                <a:endParaRPr kumimoji="1" lang="en-US" altLang="ko-KR" sz="2400" b="1" dirty="0">
                  <a:solidFill>
                    <a:srgbClr val="EA6131"/>
                  </a:solidFill>
                  <a:latin typeface="+mj-lt"/>
                  <a:ea typeface="맑은 고딕" pitchFamily="50" charset="-127"/>
                  <a:cs typeface="굴림" pitchFamily="50" charset="-127"/>
                </a:endParaRPr>
              </a:p>
            </p:txBody>
          </p:sp>
          <p:sp>
            <p:nvSpPr>
              <p:cNvPr id="11" name="Text Box 4"/>
              <p:cNvSpPr txBox="1">
                <a:spLocks noChangeArrowheads="1"/>
              </p:cNvSpPr>
              <p:nvPr/>
            </p:nvSpPr>
            <p:spPr bwMode="auto">
              <a:xfrm>
                <a:off x="2219144" y="3463524"/>
                <a:ext cx="601447" cy="584775"/>
              </a:xfrm>
              <a:prstGeom prst="rect">
                <a:avLst/>
              </a:prstGeom>
              <a:noFill/>
              <a:ln w="9525">
                <a:noFill/>
                <a:miter lim="800000"/>
                <a:headEnd/>
                <a:tailEnd/>
              </a:ln>
              <a:effectLst/>
            </p:spPr>
            <p:txBody>
              <a:bodyPr vert="horz" wrap="none" lIns="91440" tIns="45720" rIns="91440" bIns="45720" numCol="1" anchor="t" anchorCtr="0" compatLnSpc="1">
                <a:prstTxWarp prst="textNoShape">
                  <a:avLst/>
                </a:prstTxWarp>
                <a:spAutoFit/>
              </a:bodyPr>
              <a:lstStyle/>
              <a:p>
                <a:pPr fontAlgn="base">
                  <a:spcBef>
                    <a:spcPct val="0"/>
                  </a:spcBef>
                  <a:spcAft>
                    <a:spcPct val="0"/>
                  </a:spcAft>
                </a:pPr>
                <a:r>
                  <a:rPr kumimoji="1" lang="en-US" altLang="ko-KR" sz="3200" b="1">
                    <a:solidFill>
                      <a:schemeClr val="bg1"/>
                    </a:solidFill>
                    <a:latin typeface="+mj-lt"/>
                    <a:ea typeface="맑은 고딕" pitchFamily="50" charset="-127"/>
                    <a:cs typeface="굴림" pitchFamily="50" charset="-127"/>
                  </a:rPr>
                  <a:t>0</a:t>
                </a:r>
                <a:r>
                  <a:rPr kumimoji="1" lang="tr-TR" altLang="ko-KR" sz="3200" b="1">
                    <a:solidFill>
                      <a:schemeClr val="bg1"/>
                    </a:solidFill>
                    <a:latin typeface="+mj-lt"/>
                    <a:ea typeface="맑은 고딕" pitchFamily="50" charset="-127"/>
                    <a:cs typeface="굴림" pitchFamily="50" charset="-127"/>
                  </a:rPr>
                  <a:t>9</a:t>
                </a:r>
                <a:endParaRPr kumimoji="1" lang="ko-KR" altLang="ko-KR" sz="3200" b="1" dirty="0">
                  <a:solidFill>
                    <a:schemeClr val="bg1"/>
                  </a:solidFill>
                  <a:latin typeface="+mj-lt"/>
                  <a:ea typeface="맑은 고딕" pitchFamily="50" charset="-127"/>
                  <a:cs typeface="굴림" pitchFamily="50" charset="-127"/>
                </a:endParaRPr>
              </a:p>
            </p:txBody>
          </p:sp>
          <p:sp>
            <p:nvSpPr>
              <p:cNvPr id="12" name="직사각형 11"/>
              <p:cNvSpPr/>
              <p:nvPr/>
            </p:nvSpPr>
            <p:spPr>
              <a:xfrm>
                <a:off x="2894079" y="3676961"/>
                <a:ext cx="2709441" cy="246221"/>
              </a:xfrm>
              <a:prstGeom prst="rect">
                <a:avLst/>
              </a:prstGeom>
            </p:spPr>
            <p:txBody>
              <a:bodyPr wrap="square">
                <a:spAutoFit/>
              </a:bodyPr>
              <a:lstStyle/>
              <a:p>
                <a:pPr lvl="0">
                  <a:lnSpc>
                    <a:spcPts val="1200"/>
                  </a:lnSpc>
                  <a:defRPr/>
                </a:pPr>
                <a:endParaRPr lang="en-US" altLang="ko-KR" sz="1100" dirty="0">
                  <a:solidFill>
                    <a:schemeClr val="tx1">
                      <a:lumMod val="85000"/>
                      <a:lumOff val="15000"/>
                    </a:schemeClr>
                  </a:solidFill>
                  <a:latin typeface="+mj-lt"/>
                  <a:ea typeface="맑은 고딕" pitchFamily="50" charset="-127"/>
                  <a:cs typeface="굴림" pitchFamily="50" charset="-127"/>
                </a:endParaRPr>
              </a:p>
            </p:txBody>
          </p:sp>
        </p:grpSp>
      </p:grpSp>
      <p:cxnSp>
        <p:nvCxnSpPr>
          <p:cNvPr id="9" name="직선 연결선 8"/>
          <p:cNvCxnSpPr/>
          <p:nvPr/>
        </p:nvCxnSpPr>
        <p:spPr>
          <a:xfrm>
            <a:off x="5247574" y="4363728"/>
            <a:ext cx="0" cy="1752424"/>
          </a:xfrm>
          <a:prstGeom prst="line">
            <a:avLst/>
          </a:prstGeom>
          <a:ln cap="rnd">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내용 개체 틀 5"/>
          <p:cNvSpPr>
            <a:spLocks noGrp="1"/>
          </p:cNvSpPr>
          <p:nvPr>
            <p:ph idx="1"/>
          </p:nvPr>
        </p:nvSpPr>
        <p:spPr/>
        <p:txBody>
          <a:bodyPr/>
          <a:lstStyle/>
          <a:p>
            <a:pPr>
              <a:buFont typeface="Arial" panose="020B0604020202020204" pitchFamily="34" charset="0"/>
              <a:buChar char="•"/>
            </a:pPr>
            <a:r>
              <a:rPr lang="tr-TR">
                <a:effectLst/>
              </a:rPr>
              <a:t>GSP bir gezgin satıcının, bulunduğu şehirden başlayarak, toplamda N adet şehri belirli bir sırada ve her şehri yalnızca bir kez ziyaret ederek, tüm şehirleri en kısa turla tamamlayan (ikinci bir      amaç olarak karını maksimize eden) ve başladığı şehre dönmesinin gerekli olduğu bir problem    olarak tanımlanır.</a:t>
            </a:r>
            <a:endParaRPr lang="tr-TR"/>
          </a:p>
          <a:p>
            <a:pPr>
              <a:buFont typeface="Arial" panose="020B0604020202020204" pitchFamily="34" charset="0"/>
              <a:buChar char="•"/>
            </a:pPr>
            <a:endParaRPr lang="tr-TR"/>
          </a:p>
          <a:p>
            <a:pPr>
              <a:buFont typeface="Arial" panose="020B0604020202020204" pitchFamily="34" charset="0"/>
              <a:buChar char="•"/>
            </a:pPr>
            <a:r>
              <a:rPr lang="tr-TR"/>
              <a:t>Daha genel olarak şehirler bir ağdaki düğümleri temsil eder ve düğümler arklarla birbirine         bağlıdır.  </a:t>
            </a:r>
          </a:p>
          <a:p>
            <a:pPr>
              <a:buFont typeface="Arial" panose="020B0604020202020204" pitchFamily="34" charset="0"/>
              <a:buChar char="•"/>
            </a:pPr>
            <a:endParaRPr lang="tr-TR"/>
          </a:p>
        </p:txBody>
      </p:sp>
      <p:sp>
        <p:nvSpPr>
          <p:cNvPr id="2" name="제목 1"/>
          <p:cNvSpPr>
            <a:spLocks noGrp="1"/>
          </p:cNvSpPr>
          <p:nvPr>
            <p:ph type="title"/>
          </p:nvPr>
        </p:nvSpPr>
        <p:spPr/>
        <p:txBody>
          <a:bodyPr/>
          <a:lstStyle/>
          <a:p>
            <a:r>
              <a:rPr lang="tr-TR"/>
              <a:t>Gezgin Satıcı Problemleri - Tanım</a:t>
            </a:r>
            <a:endParaRPr lang="ko-KR"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654B00B-3E54-D020-3213-64BACC7D85DD}"/>
              </a:ext>
            </a:extLst>
          </p:cNvPr>
          <p:cNvSpPr>
            <a:spLocks noGrp="1"/>
          </p:cNvSpPr>
          <p:nvPr>
            <p:ph idx="1"/>
          </p:nvPr>
        </p:nvSpPr>
        <p:spPr/>
        <p:txBody>
          <a:bodyPr>
            <a:normAutofit lnSpcReduction="10000"/>
          </a:bodyPr>
          <a:lstStyle/>
          <a:p>
            <a:r>
              <a:rPr lang="tr-TR" b="1"/>
              <a:t>Ulaşım ve Lojistik; </a:t>
            </a:r>
            <a:r>
              <a:rPr lang="tr-TR"/>
              <a:t>Bir kargonun dağıtımında, aracın tüm teslimat noktalarını en kısa rotada              dolaşarak  başlangıç noktasına geri dönmesi. </a:t>
            </a:r>
          </a:p>
          <a:p>
            <a:endParaRPr lang="tr-TR"/>
          </a:p>
          <a:p>
            <a:r>
              <a:rPr lang="tr-TR" b="1"/>
              <a:t>Üretim Planlama; </a:t>
            </a:r>
            <a:r>
              <a:rPr lang="tr-TR"/>
              <a:t>CNC makinelerinde delme ya da kesme işlemlerinin, tüm noktalara en az               hareketle uygulanması. </a:t>
            </a:r>
          </a:p>
          <a:p>
            <a:endParaRPr lang="tr-TR"/>
          </a:p>
          <a:p>
            <a:r>
              <a:rPr lang="tr-TR" b="1"/>
              <a:t>Elektronik Tasarım;</a:t>
            </a:r>
            <a:r>
              <a:rPr lang="tr-TR"/>
              <a:t> Baskılı devre kartı (PCB) üzerinde delgi kafasının, tüm delikleri en kısa toplam    mesafe ile işlemesi. </a:t>
            </a:r>
          </a:p>
          <a:p>
            <a:endParaRPr lang="tr-TR"/>
          </a:p>
          <a:p>
            <a:r>
              <a:rPr lang="tr-TR" b="1"/>
              <a:t>Telekomünikasyon; </a:t>
            </a:r>
            <a:r>
              <a:rPr lang="tr-TR"/>
              <a:t>Veri paketlerinin bir ağ üzerindeki düğümlerden minimum gecikmeyle                  geçirilmesi. </a:t>
            </a:r>
          </a:p>
          <a:p>
            <a:endParaRPr lang="tr-TR"/>
          </a:p>
          <a:p>
            <a:r>
              <a:rPr lang="tr-TR" b="1"/>
              <a:t>Biyoinformatik; </a:t>
            </a:r>
            <a:r>
              <a:rPr lang="tr-TR"/>
              <a:t>DNA diziliminde belirli genetik işaretçilerin en kısa yol ile taranması.</a:t>
            </a:r>
          </a:p>
          <a:p>
            <a:endParaRPr lang="tr-TR"/>
          </a:p>
          <a:p>
            <a:r>
              <a:rPr lang="tr-TR" b="1"/>
              <a:t>Turizm Planlama; </a:t>
            </a:r>
            <a:r>
              <a:rPr lang="tr-TR"/>
              <a:t>Bir turistin belirli şehirleri ziyaret ederek başlangıç noktasına geri dönmesini          sağlayan en uygun tur rotasının oluşturulması. </a:t>
            </a:r>
          </a:p>
          <a:p>
            <a:endParaRPr lang="tr-TR"/>
          </a:p>
          <a:p>
            <a:r>
              <a:rPr lang="tr-TR" b="1"/>
              <a:t>Hedef-Silah Tahsisi; </a:t>
            </a:r>
            <a:r>
              <a:rPr lang="tr-TR"/>
              <a:t>Hedeflerde maksimum hasarı verecek silah eşlemesi (Atama Problemi) ve           angajman sıralamasın (GSP)</a:t>
            </a:r>
          </a:p>
          <a:p>
            <a:endParaRPr lang="tr-TR"/>
          </a:p>
        </p:txBody>
      </p:sp>
      <p:sp>
        <p:nvSpPr>
          <p:cNvPr id="3" name="Title 2">
            <a:extLst>
              <a:ext uri="{FF2B5EF4-FFF2-40B4-BE49-F238E27FC236}">
                <a16:creationId xmlns:a16="http://schemas.microsoft.com/office/drawing/2014/main" id="{D208B99E-E1F2-A871-4FFC-4BB119ABD4A8}"/>
              </a:ext>
            </a:extLst>
          </p:cNvPr>
          <p:cNvSpPr>
            <a:spLocks noGrp="1"/>
          </p:cNvSpPr>
          <p:nvPr>
            <p:ph type="title"/>
          </p:nvPr>
        </p:nvSpPr>
        <p:spPr/>
        <p:txBody>
          <a:bodyPr/>
          <a:lstStyle/>
          <a:p>
            <a:r>
              <a:rPr lang="tr-TR"/>
              <a:t>Bazı Uyulama Örnekleri</a:t>
            </a:r>
          </a:p>
        </p:txBody>
      </p:sp>
    </p:spTree>
    <p:extLst>
      <p:ext uri="{BB962C8B-B14F-4D97-AF65-F5344CB8AC3E}">
        <p14:creationId xmlns:p14="http://schemas.microsoft.com/office/powerpoint/2010/main" val="32453434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Content Placeholder 1">
                <a:extLst>
                  <a:ext uri="{FF2B5EF4-FFF2-40B4-BE49-F238E27FC236}">
                    <a16:creationId xmlns:a16="http://schemas.microsoft.com/office/drawing/2014/main" id="{E41A47B5-A763-09B8-4144-003EA36C1703}"/>
                  </a:ext>
                </a:extLst>
              </p:cNvPr>
              <p:cNvSpPr>
                <a:spLocks noGrp="1"/>
              </p:cNvSpPr>
              <p:nvPr>
                <p:ph idx="1"/>
              </p:nvPr>
            </p:nvSpPr>
            <p:spPr/>
            <p:txBody>
              <a:bodyPr>
                <a:normAutofit fontScale="92500"/>
              </a:bodyPr>
              <a:lstStyle/>
              <a:p>
                <a:r>
                  <a:rPr lang="tr-TR"/>
                  <a:t>Amaç foksiyonu eğer bir i noktasından j noktasına gidilmişse ilgili maliyete katlanılmıştır ve tüm                   gidilen noktaların maliyetleri toplamı amaç denklemini tanımlar. İ noktasından j noktasına gidilmişse   xij bir gidilmemişse sıfır değerini almış olsun ve Cij ilgili maliyeti gösteriyor olsun. Bu durumda; </a:t>
                </a:r>
              </a:p>
              <a:p>
                <a:endParaRPr lang="tr-TR"/>
              </a:p>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𝑀𝑖𝑛</m:t>
                      </m:r>
                      <m:r>
                        <a:rPr lang="tr-TR" b="0" i="1" smtClean="0">
                          <a:latin typeface="Cambria Math" panose="02040503050406030204" pitchFamily="18" charset="0"/>
                        </a:rPr>
                        <m:t> </m:t>
                      </m:r>
                      <m:r>
                        <a:rPr lang="tr-TR" b="0" i="1" smtClean="0">
                          <a:latin typeface="Cambria Math" panose="02040503050406030204" pitchFamily="18" charset="0"/>
                        </a:rPr>
                        <m:t>𝑍</m:t>
                      </m:r>
                      <m:r>
                        <a:rPr lang="tr-TR" b="0" i="1" smtClean="0">
                          <a:latin typeface="Cambria Math" panose="02040503050406030204" pitchFamily="18" charset="0"/>
                        </a:rPr>
                        <m:t>=</m:t>
                      </m:r>
                      <m:nary>
                        <m:naryPr>
                          <m:chr m:val="∑"/>
                          <m:ctrlPr>
                            <a:rPr lang="tr-TR" i="1" smtClean="0">
                              <a:latin typeface="Cambria Math" panose="02040503050406030204" pitchFamily="18" charset="0"/>
                            </a:rPr>
                          </m:ctrlPr>
                        </m:naryPr>
                        <m:sub>
                          <m:r>
                            <m:rPr>
                              <m:brk m:alnAt="23"/>
                            </m:rPr>
                            <a:rPr lang="tr-TR" b="0" i="1" smtClean="0">
                              <a:latin typeface="Cambria Math" panose="02040503050406030204" pitchFamily="18" charset="0"/>
                            </a:rPr>
                            <m:t>𝑖</m:t>
                          </m:r>
                          <m:r>
                            <a:rPr lang="tr-TR" b="0" i="1" smtClean="0">
                              <a:latin typeface="Cambria Math" panose="02040503050406030204" pitchFamily="18" charset="0"/>
                            </a:rPr>
                            <m:t>=1</m:t>
                          </m:r>
                        </m:sub>
                        <m:sup>
                          <m:r>
                            <a:rPr lang="tr-TR" b="0" i="1" smtClean="0">
                              <a:latin typeface="Cambria Math" panose="02040503050406030204" pitchFamily="18" charset="0"/>
                            </a:rPr>
                            <m:t>𝑁</m:t>
                          </m:r>
                        </m:sup>
                        <m:e>
                          <m:nary>
                            <m:naryPr>
                              <m:chr m:val="∑"/>
                              <m:ctrlPr>
                                <a:rPr lang="tr-TR" i="1" smtClean="0">
                                  <a:latin typeface="Cambria Math" panose="02040503050406030204" pitchFamily="18" charset="0"/>
                                </a:rPr>
                              </m:ctrlPr>
                            </m:naryPr>
                            <m:sub>
                              <m:r>
                                <m:rPr>
                                  <m:brk m:alnAt="23"/>
                                </m:rPr>
                                <a:rPr lang="tr-TR" b="0" i="1" smtClean="0">
                                  <a:latin typeface="Cambria Math" panose="02040503050406030204" pitchFamily="18" charset="0"/>
                                </a:rPr>
                                <m:t>𝑗</m:t>
                              </m:r>
                              <m:r>
                                <a:rPr lang="tr-TR" b="0" i="1" smtClean="0">
                                  <a:latin typeface="Cambria Math" panose="02040503050406030204" pitchFamily="18" charset="0"/>
                                </a:rPr>
                                <m:t>=1</m:t>
                              </m:r>
                            </m:sub>
                            <m:sup>
                              <m:r>
                                <a:rPr lang="tr-TR" b="0" i="1" smtClean="0">
                                  <a:latin typeface="Cambria Math" panose="02040503050406030204" pitchFamily="18" charset="0"/>
                                </a:rPr>
                                <m:t>𝑁</m:t>
                              </m:r>
                            </m:sup>
                            <m:e>
                              <m:sSub>
                                <m:sSubPr>
                                  <m:ctrlPr>
                                    <a:rPr lang="tr-TR" i="1" smtClean="0">
                                      <a:latin typeface="Cambria Math" panose="02040503050406030204" pitchFamily="18" charset="0"/>
                                    </a:rPr>
                                  </m:ctrlPr>
                                </m:sSubPr>
                                <m:e>
                                  <m:sSub>
                                    <m:sSubPr>
                                      <m:ctrlPr>
                                        <a:rPr lang="tr-TR" i="1" smtClean="0">
                                          <a:latin typeface="Cambria Math" panose="02040503050406030204" pitchFamily="18" charset="0"/>
                                        </a:rPr>
                                      </m:ctrlPr>
                                    </m:sSubPr>
                                    <m:e>
                                      <m:r>
                                        <a:rPr lang="tr-TR" b="0" i="1" smtClean="0">
                                          <a:latin typeface="Cambria Math" panose="02040503050406030204" pitchFamily="18" charset="0"/>
                                        </a:rPr>
                                        <m:t>𝐶</m:t>
                                      </m:r>
                                    </m:e>
                                    <m:sub>
                                      <m:r>
                                        <a:rPr lang="tr-TR" b="0" i="1" smtClean="0">
                                          <a:latin typeface="Cambria Math" panose="02040503050406030204" pitchFamily="18" charset="0"/>
                                        </a:rPr>
                                        <m:t>𝑖𝑗</m:t>
                                      </m:r>
                                    </m:sub>
                                  </m:sSub>
                                  <m:r>
                                    <a:rPr lang="tr-TR" b="0" i="1" smtClean="0">
                                      <a:latin typeface="Cambria Math" panose="02040503050406030204" pitchFamily="18" charset="0"/>
                                    </a:rPr>
                                    <m:t>𝑥</m:t>
                                  </m:r>
                                </m:e>
                                <m:sub>
                                  <m:r>
                                    <a:rPr lang="tr-TR" b="0" i="1" smtClean="0">
                                      <a:latin typeface="Cambria Math" panose="02040503050406030204" pitchFamily="18" charset="0"/>
                                    </a:rPr>
                                    <m:t>𝑖𝑗</m:t>
                                  </m:r>
                                </m:sub>
                              </m:sSub>
                            </m:e>
                          </m:nary>
                        </m:e>
                      </m:nary>
                    </m:oMath>
                  </m:oMathPara>
                </a14:m>
                <a:endParaRPr lang="tr-TR"/>
              </a:p>
              <a:p>
                <a:r>
                  <a:rPr lang="tr-TR"/>
                  <a:t>Kısıtlar ise iki gruptur. Birinci grup bir i noktasından yalnız ve yalnız bir j noktasına gidilebileceği ifade eder.</a:t>
                </a:r>
              </a:p>
              <a:p>
                <a:pPr/>
                <a14:m>
                  <m:oMathPara xmlns:m="http://schemas.openxmlformats.org/officeDocument/2006/math">
                    <m:oMathParaPr>
                      <m:jc m:val="centerGroup"/>
                    </m:oMathParaPr>
                    <m:oMath xmlns:m="http://schemas.openxmlformats.org/officeDocument/2006/math">
                      <m:nary>
                        <m:naryPr>
                          <m:chr m:val="∑"/>
                          <m:ctrlPr>
                            <a:rPr lang="tr-TR" i="1" smtClean="0">
                              <a:latin typeface="Cambria Math" panose="02040503050406030204" pitchFamily="18" charset="0"/>
                            </a:rPr>
                          </m:ctrlPr>
                        </m:naryPr>
                        <m:sub>
                          <m:r>
                            <m:rPr>
                              <m:brk m:alnAt="23"/>
                            </m:rPr>
                            <a:rPr lang="tr-TR" b="0" i="1" smtClean="0">
                              <a:latin typeface="Cambria Math" panose="02040503050406030204" pitchFamily="18" charset="0"/>
                            </a:rPr>
                            <m:t>𝑖</m:t>
                          </m:r>
                          <m:r>
                            <a:rPr lang="tr-TR" b="0" i="1" smtClean="0">
                              <a:latin typeface="Cambria Math" panose="02040503050406030204" pitchFamily="18" charset="0"/>
                            </a:rPr>
                            <m:t>=1</m:t>
                          </m:r>
                        </m:sub>
                        <m:sup>
                          <m:r>
                            <a:rPr lang="tr-TR" b="0" i="1" smtClean="0">
                              <a:latin typeface="Cambria Math" panose="02040503050406030204" pitchFamily="18" charset="0"/>
                            </a:rPr>
                            <m:t>𝑁</m:t>
                          </m:r>
                        </m:sup>
                        <m:e>
                          <m:sSub>
                            <m:sSubPr>
                              <m:ctrlPr>
                                <a:rPr lang="tr-TR"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𝑖𝑗</m:t>
                              </m:r>
                            </m:sub>
                          </m:sSub>
                          <m:r>
                            <a:rPr lang="tr-TR" b="0" i="1" smtClean="0">
                              <a:latin typeface="Cambria Math" panose="02040503050406030204" pitchFamily="18" charset="0"/>
                            </a:rPr>
                            <m:t>=1</m:t>
                          </m:r>
                        </m:e>
                      </m:nary>
                      <m:m>
                        <m:mPr>
                          <m:mcs>
                            <m:mc>
                              <m:mcPr>
                                <m:count m:val="2"/>
                                <m:mcJc m:val="center"/>
                              </m:mcPr>
                            </m:mc>
                          </m:mcs>
                          <m:ctrlPr>
                            <a:rPr lang="tr-TR" i="1" smtClean="0">
                              <a:latin typeface="Cambria Math" panose="02040503050406030204" pitchFamily="18" charset="0"/>
                            </a:rPr>
                          </m:ctrlPr>
                        </m:mPr>
                        <m:mr>
                          <m:e>
                            <m:r>
                              <m:rPr>
                                <m:brk m:alnAt="7"/>
                              </m:rPr>
                              <a:rPr lang="tr-TR" b="0" i="1" smtClean="0">
                                <a:latin typeface="Cambria Math" panose="02040503050406030204" pitchFamily="18" charset="0"/>
                              </a:rPr>
                              <m:t>𝑖</m:t>
                            </m:r>
                            <m:r>
                              <a:rPr lang="tr-TR" b="0"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𝑗</m:t>
                            </m:r>
                          </m:e>
                          <m:e>
                            <m:r>
                              <a:rPr lang="tr-TR"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 </m:t>
                            </m:r>
                            <m:r>
                              <a:rPr lang="tr-TR" b="0" i="1" smtClean="0">
                                <a:latin typeface="Cambria Math" panose="02040503050406030204" pitchFamily="18" charset="0"/>
                                <a:ea typeface="Cambria Math" panose="02040503050406030204" pitchFamily="18" charset="0"/>
                              </a:rPr>
                              <m:t>𝑗</m:t>
                            </m:r>
                            <m:r>
                              <a:rPr lang="tr-TR" b="0" i="1" smtClean="0">
                                <a:latin typeface="Cambria Math" panose="02040503050406030204" pitchFamily="18" charset="0"/>
                                <a:ea typeface="Cambria Math" panose="02040503050406030204" pitchFamily="18" charset="0"/>
                              </a:rPr>
                              <m:t>={1,..</m:t>
                            </m:r>
                            <m:r>
                              <a:rPr lang="tr-TR" b="0" i="1" smtClean="0">
                                <a:latin typeface="Cambria Math" panose="02040503050406030204" pitchFamily="18" charset="0"/>
                                <a:ea typeface="Cambria Math" panose="02040503050406030204" pitchFamily="18" charset="0"/>
                              </a:rPr>
                              <m:t>𝑛</m:t>
                            </m:r>
                            <m:r>
                              <a:rPr lang="tr-TR" b="0" i="1" smtClean="0">
                                <a:latin typeface="Cambria Math" panose="02040503050406030204" pitchFamily="18" charset="0"/>
                                <a:ea typeface="Cambria Math" panose="02040503050406030204" pitchFamily="18" charset="0"/>
                              </a:rPr>
                              <m:t>}</m:t>
                            </m:r>
                          </m:e>
                        </m:mr>
                      </m:m>
                    </m:oMath>
                  </m:oMathPara>
                </a14:m>
                <a:endParaRPr lang="tr-TR"/>
              </a:p>
              <a:p>
                <a:r>
                  <a:rPr lang="tr-TR"/>
                  <a:t>Bir j noktasına mutlaka bir i noktasından gelinmiştir.</a:t>
                </a:r>
              </a:p>
              <a:p>
                <a:pPr/>
                <a14:m>
                  <m:oMathPara xmlns:m="http://schemas.openxmlformats.org/officeDocument/2006/math">
                    <m:oMathParaPr>
                      <m:jc m:val="centerGroup"/>
                    </m:oMathParaPr>
                    <m:oMath xmlns:m="http://schemas.openxmlformats.org/officeDocument/2006/math">
                      <m:nary>
                        <m:naryPr>
                          <m:chr m:val="∑"/>
                          <m:ctrlPr>
                            <a:rPr lang="tr-TR" i="1" smtClean="0">
                              <a:latin typeface="Cambria Math" panose="02040503050406030204" pitchFamily="18" charset="0"/>
                            </a:rPr>
                          </m:ctrlPr>
                        </m:naryPr>
                        <m:sub>
                          <m:r>
                            <a:rPr lang="tr-TR" b="0" i="1" smtClean="0">
                              <a:latin typeface="Cambria Math" panose="02040503050406030204" pitchFamily="18" charset="0"/>
                            </a:rPr>
                            <m:t>𝑗</m:t>
                          </m:r>
                          <m:r>
                            <a:rPr lang="tr-TR" b="0" i="1" smtClean="0">
                              <a:latin typeface="Cambria Math" panose="02040503050406030204" pitchFamily="18" charset="0"/>
                            </a:rPr>
                            <m:t>=1</m:t>
                          </m:r>
                        </m:sub>
                        <m:sup>
                          <m:r>
                            <a:rPr lang="tr-TR" b="0" i="1" smtClean="0">
                              <a:latin typeface="Cambria Math" panose="02040503050406030204" pitchFamily="18" charset="0"/>
                            </a:rPr>
                            <m:t>𝑁</m:t>
                          </m:r>
                        </m:sup>
                        <m:e>
                          <m:sSub>
                            <m:sSubPr>
                              <m:ctrlPr>
                                <a:rPr lang="tr-TR"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𝑖𝑗</m:t>
                              </m:r>
                            </m:sub>
                          </m:sSub>
                          <m:r>
                            <a:rPr lang="tr-TR" b="0" i="1" smtClean="0">
                              <a:latin typeface="Cambria Math" panose="02040503050406030204" pitchFamily="18" charset="0"/>
                            </a:rPr>
                            <m:t>=1</m:t>
                          </m:r>
                        </m:e>
                      </m:nary>
                      <m:m>
                        <m:mPr>
                          <m:mcs>
                            <m:mc>
                              <m:mcPr>
                                <m:count m:val="2"/>
                                <m:mcJc m:val="center"/>
                              </m:mcPr>
                            </m:mc>
                          </m:mcs>
                          <m:ctrlPr>
                            <a:rPr lang="tr-TR" i="1" smtClean="0">
                              <a:latin typeface="Cambria Math" panose="02040503050406030204" pitchFamily="18" charset="0"/>
                            </a:rPr>
                          </m:ctrlPr>
                        </m:mPr>
                        <m:mr>
                          <m:e>
                            <m:r>
                              <m:rPr>
                                <m:brk m:alnAt="7"/>
                              </m:rPr>
                              <a:rPr lang="tr-TR" b="0" i="1" smtClean="0">
                                <a:latin typeface="Cambria Math" panose="02040503050406030204" pitchFamily="18" charset="0"/>
                              </a:rPr>
                              <m:t>𝑗</m:t>
                            </m:r>
                            <m:r>
                              <a:rPr lang="tr-TR">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𝑖</m:t>
                            </m:r>
                          </m:e>
                          <m:e>
                            <m:r>
                              <a:rPr lang="tr-TR"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 </m:t>
                            </m:r>
                            <m:r>
                              <a:rPr lang="tr-TR" b="0" i="1" smtClean="0">
                                <a:latin typeface="Cambria Math" panose="02040503050406030204" pitchFamily="18" charset="0"/>
                                <a:ea typeface="Cambria Math" panose="02040503050406030204" pitchFamily="18" charset="0"/>
                              </a:rPr>
                              <m:t>𝑖</m:t>
                            </m:r>
                            <m:r>
                              <a:rPr lang="tr-TR" b="0" i="1" smtClean="0">
                                <a:latin typeface="Cambria Math" panose="02040503050406030204" pitchFamily="18" charset="0"/>
                                <a:ea typeface="Cambria Math" panose="02040503050406030204" pitchFamily="18" charset="0"/>
                              </a:rPr>
                              <m:t>={1,..</m:t>
                            </m:r>
                            <m:r>
                              <a:rPr lang="tr-TR" b="0" i="1" smtClean="0">
                                <a:latin typeface="Cambria Math" panose="02040503050406030204" pitchFamily="18" charset="0"/>
                                <a:ea typeface="Cambria Math" panose="02040503050406030204" pitchFamily="18" charset="0"/>
                              </a:rPr>
                              <m:t>𝑛</m:t>
                            </m:r>
                            <m:r>
                              <a:rPr lang="tr-TR" b="0" i="1" smtClean="0">
                                <a:latin typeface="Cambria Math" panose="02040503050406030204" pitchFamily="18" charset="0"/>
                                <a:ea typeface="Cambria Math" panose="02040503050406030204" pitchFamily="18" charset="0"/>
                              </a:rPr>
                              <m:t>}</m:t>
                            </m:r>
                          </m:e>
                        </m:mr>
                      </m:m>
                    </m:oMath>
                  </m:oMathPara>
                </a14:m>
                <a:endParaRPr lang="tr-TR"/>
              </a:p>
              <a:p>
                <a:r>
                  <a:rPr lang="tr-TR"/>
                  <a:t>Bir düğüme yalnız ve yalnız bir kez gidileceği için alt çevrimleri engelleyen kısıtlar;</a:t>
                </a:r>
              </a:p>
              <a:p>
                <a:pPr algn="ctr"/>
                <a14:m>
                  <m:oMath xmlns:m="http://schemas.openxmlformats.org/officeDocument/2006/math">
                    <m:sSub>
                      <m:sSubPr>
                        <m:ctrlPr>
                          <a:rPr lang="tr-TR" i="1" smtClean="0">
                            <a:latin typeface="Cambria Math" panose="02040503050406030204" pitchFamily="18" charset="0"/>
                          </a:rPr>
                        </m:ctrlPr>
                      </m:sSubPr>
                      <m:e>
                        <m:r>
                          <a:rPr lang="tr-TR" b="0" i="1" smtClean="0">
                            <a:latin typeface="Cambria Math" panose="02040503050406030204" pitchFamily="18" charset="0"/>
                          </a:rPr>
                          <m:t>𝑢</m:t>
                        </m:r>
                      </m:e>
                      <m:sub>
                        <m:r>
                          <a:rPr lang="tr-TR" b="0" i="1" smtClean="0">
                            <a:latin typeface="Cambria Math" panose="02040503050406030204" pitchFamily="18" charset="0"/>
                          </a:rPr>
                          <m:t>𝑖</m:t>
                        </m:r>
                      </m:sub>
                    </m:sSub>
                    <m:r>
                      <a:rPr lang="tr-TR" b="0" i="1" smtClean="0">
                        <a:latin typeface="Cambria Math" panose="02040503050406030204" pitchFamily="18" charset="0"/>
                      </a:rPr>
                      <m:t>−</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𝑢</m:t>
                        </m:r>
                      </m:e>
                      <m:sub>
                        <m:r>
                          <a:rPr lang="tr-TR" b="0" i="1" smtClean="0">
                            <a:latin typeface="Cambria Math" panose="02040503050406030204" pitchFamily="18" charset="0"/>
                          </a:rPr>
                          <m:t>𝑗</m:t>
                        </m:r>
                      </m:sub>
                    </m:sSub>
                    <m:r>
                      <a:rPr lang="tr-TR" b="0" i="1" smtClean="0">
                        <a:latin typeface="Cambria Math" panose="02040503050406030204" pitchFamily="18" charset="0"/>
                      </a:rPr>
                      <m:t>+</m:t>
                    </m:r>
                    <m:r>
                      <a:rPr lang="tr-TR" b="0" i="1" smtClean="0">
                        <a:latin typeface="Cambria Math" panose="02040503050406030204" pitchFamily="18" charset="0"/>
                      </a:rPr>
                      <m:t>𝑛</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𝑖𝑗</m:t>
                        </m:r>
                      </m:sub>
                    </m:sSub>
                    <m:r>
                      <a:rPr lang="tr-TR" b="0"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𝑛</m:t>
                    </m:r>
                    <m:r>
                      <a:rPr lang="tr-TR" b="0" i="1" smtClean="0">
                        <a:latin typeface="Cambria Math" panose="02040503050406030204" pitchFamily="18" charset="0"/>
                        <a:ea typeface="Cambria Math" panose="02040503050406030204" pitchFamily="18" charset="0"/>
                      </a:rPr>
                      <m:t>−1  </m:t>
                    </m:r>
                  </m:oMath>
                </a14:m>
                <a:r>
                  <a:rPr lang="tr-TR"/>
                  <a:t>(Miller –Tucker-Zemlin)</a:t>
                </a:r>
              </a:p>
              <a:p>
                <a:pPr algn="ctr"/>
                <a:r>
                  <a:rPr lang="tr-TR"/>
                  <a:t>Burada </a:t>
                </a:r>
                <a14:m>
                  <m:oMath xmlns:m="http://schemas.openxmlformats.org/officeDocument/2006/math">
                    <m:r>
                      <a:rPr lang="tr-TR" b="0" i="1" smtClean="0">
                        <a:latin typeface="Cambria Math" panose="02040503050406030204" pitchFamily="18" charset="0"/>
                      </a:rPr>
                      <m:t>1</m:t>
                    </m:r>
                    <m:r>
                      <a:rPr lang="tr-TR" b="0" i="1" smtClean="0">
                        <a:latin typeface="Cambria Math" panose="02040503050406030204" pitchFamily="18" charset="0"/>
                        <a:ea typeface="Cambria Math" panose="02040503050406030204" pitchFamily="18" charset="0"/>
                      </a:rPr>
                      <m:t>≤</m:t>
                    </m:r>
                    <m:sSub>
                      <m:sSubPr>
                        <m:ctrlPr>
                          <a:rPr lang="tr-TR" b="0" i="1" smtClean="0">
                            <a:latin typeface="Cambria Math" panose="02040503050406030204" pitchFamily="18" charset="0"/>
                            <a:ea typeface="Cambria Math" panose="02040503050406030204" pitchFamily="18" charset="0"/>
                          </a:rPr>
                        </m:ctrlPr>
                      </m:sSubPr>
                      <m:e>
                        <m:r>
                          <a:rPr lang="tr-TR" b="0" i="1" smtClean="0">
                            <a:latin typeface="Cambria Math" panose="02040503050406030204" pitchFamily="18" charset="0"/>
                            <a:ea typeface="Cambria Math" panose="02040503050406030204" pitchFamily="18" charset="0"/>
                          </a:rPr>
                          <m:t>𝑢</m:t>
                        </m:r>
                      </m:e>
                      <m:sub>
                        <m:r>
                          <a:rPr lang="tr-TR" b="0" i="1" smtClean="0">
                            <a:latin typeface="Cambria Math" panose="02040503050406030204" pitchFamily="18" charset="0"/>
                            <a:ea typeface="Cambria Math" panose="02040503050406030204" pitchFamily="18" charset="0"/>
                          </a:rPr>
                          <m:t>𝑖</m:t>
                        </m:r>
                      </m:sub>
                    </m:sSub>
                    <m:r>
                      <a:rPr lang="tr-TR" b="0"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𝑛</m:t>
                    </m:r>
                    <m:r>
                      <a:rPr lang="tr-TR" b="0" i="1" smtClean="0">
                        <a:latin typeface="Cambria Math" panose="02040503050406030204" pitchFamily="18" charset="0"/>
                        <a:ea typeface="Cambria Math" panose="02040503050406030204" pitchFamily="18" charset="0"/>
                      </a:rPr>
                      <m:t>−1 </m:t>
                    </m:r>
                    <m:r>
                      <a:rPr lang="tr-TR" b="0" i="1" smtClean="0">
                        <a:latin typeface="Cambria Math" panose="02040503050406030204" pitchFamily="18" charset="0"/>
                        <a:ea typeface="Cambria Math" panose="02040503050406030204" pitchFamily="18" charset="0"/>
                      </a:rPr>
                      <m:t>𝑣𝑒</m:t>
                    </m:r>
                    <m:r>
                      <a:rPr lang="tr-TR" b="0" i="1" smtClean="0">
                        <a:latin typeface="Cambria Math" panose="02040503050406030204" pitchFamily="18" charset="0"/>
                        <a:ea typeface="Cambria Math" panose="02040503050406030204" pitchFamily="18" charset="0"/>
                      </a:rPr>
                      <m:t> </m:t>
                    </m:r>
                    <m:r>
                      <a:rPr lang="tr-TR" b="0" i="1" smtClean="0">
                        <a:latin typeface="Cambria Math" panose="02040503050406030204" pitchFamily="18" charset="0"/>
                        <a:ea typeface="Cambria Math" panose="02040503050406030204" pitchFamily="18" charset="0"/>
                      </a:rPr>
                      <m:t>𝑖</m:t>
                    </m:r>
                    <m:r>
                      <a:rPr lang="tr-TR" b="0"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𝑗</m:t>
                    </m:r>
                    <m:r>
                      <a:rPr lang="tr-TR" b="0" i="1" smtClean="0">
                        <a:latin typeface="Cambria Math" panose="02040503050406030204" pitchFamily="18" charset="0"/>
                        <a:ea typeface="Cambria Math" panose="02040503050406030204" pitchFamily="18" charset="0"/>
                      </a:rPr>
                      <m:t> 2≤</m:t>
                    </m:r>
                    <m:r>
                      <a:rPr lang="tr-TR" b="0" i="1" smtClean="0">
                        <a:latin typeface="Cambria Math" panose="02040503050406030204" pitchFamily="18" charset="0"/>
                        <a:ea typeface="Cambria Math" panose="02040503050406030204" pitchFamily="18" charset="0"/>
                      </a:rPr>
                      <m:t>𝑖</m:t>
                    </m:r>
                    <m:r>
                      <a:rPr lang="tr-TR" b="0"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𝑛</m:t>
                    </m:r>
                  </m:oMath>
                </a14:m>
                <a:endParaRPr lang="tr-TR"/>
              </a:p>
            </p:txBody>
          </p:sp>
        </mc:Choice>
        <mc:Fallback>
          <p:sp>
            <p:nvSpPr>
              <p:cNvPr id="2" name="Content Placeholder 1">
                <a:extLst>
                  <a:ext uri="{FF2B5EF4-FFF2-40B4-BE49-F238E27FC236}">
                    <a16:creationId xmlns:a16="http://schemas.microsoft.com/office/drawing/2014/main" id="{E41A47B5-A763-09B8-4144-003EA36C1703}"/>
                  </a:ext>
                </a:extLst>
              </p:cNvPr>
              <p:cNvSpPr>
                <a:spLocks noGrp="1" noRot="1" noChangeAspect="1" noMove="1" noResize="1" noEditPoints="1" noAdjustHandles="1" noChangeArrowheads="1" noChangeShapeType="1" noTextEdit="1"/>
              </p:cNvSpPr>
              <p:nvPr>
                <p:ph idx="1"/>
              </p:nvPr>
            </p:nvSpPr>
            <p:spPr>
              <a:blipFill>
                <a:blip r:embed="rId2"/>
                <a:stretch>
                  <a:fillRect l="-290" t="-375" r="-218"/>
                </a:stretch>
              </a:blipFill>
            </p:spPr>
            <p:txBody>
              <a:bodyPr/>
              <a:lstStyle/>
              <a:p>
                <a:r>
                  <a:rPr lang="tr-TR">
                    <a:noFill/>
                  </a:rPr>
                  <a:t> </a:t>
                </a:r>
              </a:p>
            </p:txBody>
          </p:sp>
        </mc:Fallback>
      </mc:AlternateContent>
      <p:sp>
        <p:nvSpPr>
          <p:cNvPr id="3" name="Title 2">
            <a:extLst>
              <a:ext uri="{FF2B5EF4-FFF2-40B4-BE49-F238E27FC236}">
                <a16:creationId xmlns:a16="http://schemas.microsoft.com/office/drawing/2014/main" id="{FFDA2D22-CA40-8939-824E-7EDCA21FBB22}"/>
              </a:ext>
            </a:extLst>
          </p:cNvPr>
          <p:cNvSpPr>
            <a:spLocks noGrp="1"/>
          </p:cNvSpPr>
          <p:nvPr>
            <p:ph type="title"/>
          </p:nvPr>
        </p:nvSpPr>
        <p:spPr/>
        <p:txBody>
          <a:bodyPr/>
          <a:lstStyle/>
          <a:p>
            <a:r>
              <a:rPr lang="tr-TR"/>
              <a:t>Genel Doğrusal Model Bileşenleri</a:t>
            </a:r>
          </a:p>
        </p:txBody>
      </p:sp>
    </p:spTree>
    <p:extLst>
      <p:ext uri="{BB962C8B-B14F-4D97-AF65-F5344CB8AC3E}">
        <p14:creationId xmlns:p14="http://schemas.microsoft.com/office/powerpoint/2010/main" val="26001850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B4FA8E1-5735-D3F4-B291-3CF7FB742359}"/>
              </a:ext>
            </a:extLst>
          </p:cNvPr>
          <p:cNvPicPr>
            <a:picLocks noGrp="1" noChangeAspect="1"/>
          </p:cNvPicPr>
          <p:nvPr>
            <p:ph idx="1"/>
          </p:nvPr>
        </p:nvPicPr>
        <p:blipFill>
          <a:blip r:embed="rId2"/>
          <a:stretch>
            <a:fillRect/>
          </a:stretch>
        </p:blipFill>
        <p:spPr>
          <a:xfrm>
            <a:off x="2339752" y="1312466"/>
            <a:ext cx="4104456" cy="1252438"/>
          </a:xfrm>
        </p:spPr>
      </p:pic>
      <p:sp>
        <p:nvSpPr>
          <p:cNvPr id="3" name="Title 2">
            <a:extLst>
              <a:ext uri="{FF2B5EF4-FFF2-40B4-BE49-F238E27FC236}">
                <a16:creationId xmlns:a16="http://schemas.microsoft.com/office/drawing/2014/main" id="{D578771D-B578-1920-45E6-ECB7DA271A35}"/>
              </a:ext>
            </a:extLst>
          </p:cNvPr>
          <p:cNvSpPr>
            <a:spLocks noGrp="1"/>
          </p:cNvSpPr>
          <p:nvPr>
            <p:ph type="title"/>
          </p:nvPr>
        </p:nvSpPr>
        <p:spPr/>
        <p:txBody>
          <a:bodyPr/>
          <a:lstStyle/>
          <a:p>
            <a:r>
              <a:rPr lang="tr-TR"/>
              <a:t>Örnek Problem</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DF519ED2-B9A7-B57B-F66F-9EB55D6FB3F2}"/>
                  </a:ext>
                </a:extLst>
              </p:cNvPr>
              <p:cNvSpPr txBox="1"/>
              <p:nvPr/>
            </p:nvSpPr>
            <p:spPr>
              <a:xfrm>
                <a:off x="647564" y="3075421"/>
                <a:ext cx="7488832" cy="2141292"/>
              </a:xfrm>
              <a:prstGeom prst="rect">
                <a:avLst/>
              </a:prstGeom>
              <a:noFill/>
            </p:spPr>
            <p:txBody>
              <a:bodyPr wrap="square">
                <a:spAutoFit/>
              </a:bodyPr>
              <a:lstStyle/>
              <a:p>
                <a:pPr>
                  <a:lnSpc>
                    <a:spcPct val="107000"/>
                  </a:lnSpc>
                  <a:spcAft>
                    <a:spcPts val="800"/>
                  </a:spcAft>
                </a:pPr>
                <a:r>
                  <a:rPr lang="tr-TR" sz="1400" kern="100">
                    <a:effectLst/>
                    <a:latin typeface="Calibri" panose="020F0502020204030204" pitchFamily="34" charset="0"/>
                    <a:ea typeface="Calibri" panose="020F0502020204030204" pitchFamily="34" charset="0"/>
                    <a:cs typeface="Times New Roman" panose="02020603050405020304" pitchFamily="18" charset="0"/>
                  </a:rPr>
                  <a:t> </a:t>
                </a:r>
              </a:p>
              <a:p>
                <a:pPr>
                  <a:lnSpc>
                    <a:spcPct val="107000"/>
                  </a:lnSpc>
                  <a:spcAft>
                    <a:spcPts val="800"/>
                  </a:spcAft>
                </a:pPr>
                <a14:m>
                  <m:oMathPara xmlns:m="http://schemas.openxmlformats.org/officeDocument/2006/math">
                    <m:oMathParaPr>
                      <m:jc m:val="centerGroup"/>
                    </m:oMathParaPr>
                    <m:oMath xmlns:m="http://schemas.openxmlformats.org/officeDocument/2006/math">
                      <m:r>
                        <m:rPr>
                          <m:sty m:val="p"/>
                        </m:rPr>
                        <a:rPr lang="tr-TR" sz="1400" kern="0">
                          <a:effectLst/>
                          <a:latin typeface="Cambria Math" panose="02040503050406030204" pitchFamily="18" charset="0"/>
                          <a:ea typeface="Times New Roman" panose="02020603050405020304" pitchFamily="18" charset="0"/>
                          <a:cs typeface="Times New Roman" panose="02020603050405020304" pitchFamily="18" charset="0"/>
                        </a:rPr>
                        <m:t>Min</m:t>
                      </m:r>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  </m:t>
                      </m:r>
                      <m:r>
                        <m:rPr>
                          <m:sty m:val="p"/>
                        </m:rPr>
                        <a:rPr lang="tr-TR" sz="1400" kern="0">
                          <a:effectLst/>
                          <a:latin typeface="Cambria Math" panose="02040503050406030204" pitchFamily="18" charset="0"/>
                          <a:ea typeface="Times New Roman" panose="02020603050405020304" pitchFamily="18" charset="0"/>
                          <a:cs typeface="Times New Roman" panose="02020603050405020304" pitchFamily="18" charset="0"/>
                        </a:rPr>
                        <m:t>Z</m:t>
                      </m:r>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 = 388 </m:t>
                      </m:r>
                      <m:sSub>
                        <m:sSubPr>
                          <m:ctrlP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tr-TR" sz="1400" kern="0">
                              <a:effectLst/>
                              <a:latin typeface="Cambria Math" panose="02040503050406030204" pitchFamily="18" charset="0"/>
                              <a:ea typeface="Times New Roman" panose="02020603050405020304" pitchFamily="18" charset="0"/>
                              <a:cs typeface="Times New Roman" panose="02020603050405020304" pitchFamily="18" charset="0"/>
                            </a:rPr>
                            <m:t>x</m:t>
                          </m:r>
                        </m:e>
                        <m:sub>
                          <m:r>
                            <m:rPr>
                              <m:sty m:val="p"/>
                            </m:rPr>
                            <a:rPr lang="tr-TR" sz="1400" kern="0">
                              <a:effectLst/>
                              <a:latin typeface="Cambria Math" panose="02040503050406030204" pitchFamily="18" charset="0"/>
                              <a:ea typeface="Times New Roman" panose="02020603050405020304" pitchFamily="18" charset="0"/>
                              <a:cs typeface="Times New Roman" panose="02020603050405020304" pitchFamily="18" charset="0"/>
                            </a:rPr>
                            <m:t>A</m:t>
                          </m:r>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tr-TR" sz="1400" kern="0">
                              <a:effectLst/>
                              <a:latin typeface="Cambria Math" panose="02040503050406030204" pitchFamily="18" charset="0"/>
                              <a:ea typeface="Times New Roman" panose="02020603050405020304" pitchFamily="18" charset="0"/>
                              <a:cs typeface="Times New Roman" panose="02020603050405020304" pitchFamily="18" charset="0"/>
                            </a:rPr>
                            <m:t>B</m:t>
                          </m:r>
                        </m:sub>
                      </m:sSub>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 + 235 </m:t>
                      </m:r>
                      <m:sSub>
                        <m:sSubPr>
                          <m:ctrlP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tr-TR" sz="1400" kern="0">
                              <a:effectLst/>
                              <a:latin typeface="Cambria Math" panose="02040503050406030204" pitchFamily="18" charset="0"/>
                              <a:ea typeface="Times New Roman" panose="02020603050405020304" pitchFamily="18" charset="0"/>
                              <a:cs typeface="Times New Roman" panose="02020603050405020304" pitchFamily="18" charset="0"/>
                            </a:rPr>
                            <m:t>x</m:t>
                          </m:r>
                        </m:e>
                        <m:sub>
                          <m:r>
                            <m:rPr>
                              <m:sty m:val="p"/>
                            </m:rPr>
                            <a:rPr lang="tr-TR" sz="1400" kern="0">
                              <a:effectLst/>
                              <a:latin typeface="Cambria Math" panose="02040503050406030204" pitchFamily="18" charset="0"/>
                              <a:ea typeface="Times New Roman" panose="02020603050405020304" pitchFamily="18" charset="0"/>
                              <a:cs typeface="Times New Roman" panose="02020603050405020304" pitchFamily="18" charset="0"/>
                            </a:rPr>
                            <m:t>A</m:t>
                          </m:r>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tr-TR" sz="1400" kern="0">
                              <a:effectLst/>
                              <a:latin typeface="Cambria Math" panose="02040503050406030204" pitchFamily="18" charset="0"/>
                              <a:ea typeface="Times New Roman" panose="02020603050405020304" pitchFamily="18" charset="0"/>
                              <a:cs typeface="Times New Roman" panose="02020603050405020304" pitchFamily="18" charset="0"/>
                            </a:rPr>
                            <m:t>E</m:t>
                          </m:r>
                        </m:sub>
                      </m:sSub>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 + 784 </m:t>
                      </m:r>
                      <m:sSub>
                        <m:sSubPr>
                          <m:ctrlP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tr-TR" sz="1400" kern="0">
                              <a:effectLst/>
                              <a:latin typeface="Cambria Math" panose="02040503050406030204" pitchFamily="18" charset="0"/>
                              <a:ea typeface="Times New Roman" panose="02020603050405020304" pitchFamily="18" charset="0"/>
                              <a:cs typeface="Times New Roman" panose="02020603050405020304" pitchFamily="18" charset="0"/>
                            </a:rPr>
                            <m:t>x</m:t>
                          </m:r>
                        </m:e>
                        <m:sub>
                          <m:r>
                            <m:rPr>
                              <m:sty m:val="p"/>
                            </m:rPr>
                            <a:rPr lang="tr-TR" sz="1400" kern="0">
                              <a:effectLst/>
                              <a:latin typeface="Cambria Math" panose="02040503050406030204" pitchFamily="18" charset="0"/>
                              <a:ea typeface="Times New Roman" panose="02020603050405020304" pitchFamily="18" charset="0"/>
                              <a:cs typeface="Times New Roman" panose="02020603050405020304" pitchFamily="18" charset="0"/>
                            </a:rPr>
                            <m:t>A</m:t>
                          </m:r>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tr-TR" sz="1400" kern="0">
                              <a:effectLst/>
                              <a:latin typeface="Cambria Math" panose="02040503050406030204" pitchFamily="18" charset="0"/>
                              <a:ea typeface="Times New Roman" panose="02020603050405020304" pitchFamily="18" charset="0"/>
                              <a:cs typeface="Times New Roman" panose="02020603050405020304" pitchFamily="18" charset="0"/>
                            </a:rPr>
                            <m:t>Ba</m:t>
                          </m:r>
                        </m:sub>
                      </m:sSub>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 + 272 </m:t>
                      </m:r>
                      <m:sSub>
                        <m:sSubPr>
                          <m:ctrlP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tr-TR" sz="1400" kern="0">
                              <a:effectLst/>
                              <a:latin typeface="Cambria Math" panose="02040503050406030204" pitchFamily="18" charset="0"/>
                              <a:ea typeface="Times New Roman" panose="02020603050405020304" pitchFamily="18" charset="0"/>
                              <a:cs typeface="Times New Roman" panose="02020603050405020304" pitchFamily="18" charset="0"/>
                            </a:rPr>
                            <m:t>x</m:t>
                          </m:r>
                        </m:e>
                        <m:sub>
                          <m:r>
                            <m:rPr>
                              <m:sty m:val="p"/>
                            </m:rPr>
                            <a:rPr lang="tr-TR" sz="1400" kern="0">
                              <a:effectLst/>
                              <a:latin typeface="Cambria Math" panose="02040503050406030204" pitchFamily="18" charset="0"/>
                              <a:ea typeface="Times New Roman" panose="02020603050405020304" pitchFamily="18" charset="0"/>
                              <a:cs typeface="Times New Roman" panose="02020603050405020304" pitchFamily="18" charset="0"/>
                            </a:rPr>
                            <m:t>A</m:t>
                          </m:r>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tr-TR" sz="1400" kern="0">
                              <a:effectLst/>
                              <a:latin typeface="Cambria Math" panose="02040503050406030204" pitchFamily="18" charset="0"/>
                              <a:ea typeface="Times New Roman" panose="02020603050405020304" pitchFamily="18" charset="0"/>
                              <a:cs typeface="Times New Roman" panose="02020603050405020304" pitchFamily="18" charset="0"/>
                            </a:rPr>
                            <m:t>K</m:t>
                          </m:r>
                        </m:sub>
                      </m:sSub>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 +</m:t>
                      </m:r>
                    </m:oMath>
                  </m:oMathPara>
                </a14:m>
                <a:endParaRPr lang="tr-TR" sz="14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388</m:t>
                      </m:r>
                      <m:sSub>
                        <m:sSubPr>
                          <m:ctrlP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𝐵</m:t>
                          </m:r>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𝐴</m:t>
                          </m:r>
                        </m:sub>
                      </m:sSub>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+153</m:t>
                      </m:r>
                      <m:sSub>
                        <m:sSubPr>
                          <m:ctrlP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𝐵</m:t>
                          </m:r>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𝐸</m:t>
                          </m:r>
                        </m:sub>
                      </m:sSub>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+1154</m:t>
                      </m:r>
                      <m:sSub>
                        <m:sSubPr>
                          <m:ctrlP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𝐵</m:t>
                          </m:r>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𝐵𝑎</m:t>
                          </m:r>
                        </m:sub>
                      </m:sSub>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+486</m:t>
                      </m:r>
                      <m:sSub>
                        <m:sSubPr>
                          <m:ctrlP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𝐵</m:t>
                          </m:r>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𝐾</m:t>
                          </m:r>
                        </m:sub>
                      </m:sSub>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tr-TR" sz="14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235</m:t>
                      </m:r>
                      <m:sSub>
                        <m:sSubPr>
                          <m:ctrlP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𝐸</m:t>
                          </m:r>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𝐴</m:t>
                          </m:r>
                        </m:sub>
                      </m:sSub>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+153</m:t>
                      </m:r>
                      <m:sSub>
                        <m:sSubPr>
                          <m:ctrlP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𝐸</m:t>
                          </m:r>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𝐵</m:t>
                          </m:r>
                        </m:sub>
                      </m:sSub>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+1054</m:t>
                      </m:r>
                      <m:sSub>
                        <m:sSubPr>
                          <m:ctrlP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𝐸</m:t>
                          </m:r>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𝐵𝑎</m:t>
                          </m:r>
                        </m:sub>
                      </m:sSub>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+334</m:t>
                      </m:r>
                      <m:sSub>
                        <m:sSubPr>
                          <m:ctrlP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𝐸</m:t>
                          </m:r>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𝐾</m:t>
                          </m:r>
                        </m:sub>
                      </m:sSub>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tr-TR" sz="14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784</m:t>
                      </m:r>
                      <m:sSub>
                        <m:sSubPr>
                          <m:ctrlP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𝐵𝑎</m:t>
                          </m:r>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𝐴</m:t>
                          </m:r>
                        </m:sub>
                      </m:sSub>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+1154</m:t>
                      </m:r>
                      <m:sSub>
                        <m:sSubPr>
                          <m:ctrlP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𝐵𝑎</m:t>
                          </m:r>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𝐵</m:t>
                          </m:r>
                        </m:sub>
                      </m:sSub>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+1054</m:t>
                      </m:r>
                      <m:sSub>
                        <m:sSubPr>
                          <m:ctrlP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𝐵𝑎</m:t>
                          </m:r>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𝐸</m:t>
                          </m:r>
                        </m:sub>
                      </m:sSub>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+841</m:t>
                      </m:r>
                      <m:sSub>
                        <m:sSubPr>
                          <m:ctrlP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𝐵𝑎</m:t>
                          </m:r>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𝐾</m:t>
                          </m:r>
                        </m:sub>
                      </m:sSub>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tr-TR" sz="14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272</m:t>
                      </m:r>
                      <m:sSub>
                        <m:sSubPr>
                          <m:ctrlP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𝐾</m:t>
                          </m:r>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𝐴</m:t>
                          </m:r>
                        </m:sub>
                      </m:sSub>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+486</m:t>
                      </m:r>
                      <m:sSub>
                        <m:sSubPr>
                          <m:ctrlP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𝐾</m:t>
                          </m:r>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𝐵</m:t>
                          </m:r>
                        </m:sub>
                      </m:sSub>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+334</m:t>
                      </m:r>
                      <m:sSub>
                        <m:sSubPr>
                          <m:ctrlP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𝐾</m:t>
                          </m:r>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𝐸</m:t>
                          </m:r>
                        </m:sub>
                      </m:sSub>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+841</m:t>
                      </m:r>
                      <m:sSub>
                        <m:sSubPr>
                          <m:ctrlP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𝐾</m:t>
                          </m:r>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400" i="1" kern="0">
                              <a:effectLst/>
                              <a:latin typeface="Cambria Math" panose="02040503050406030204" pitchFamily="18" charset="0"/>
                              <a:ea typeface="Times New Roman" panose="02020603050405020304" pitchFamily="18" charset="0"/>
                              <a:cs typeface="Times New Roman" panose="02020603050405020304" pitchFamily="18" charset="0"/>
                            </a:rPr>
                            <m:t>𝐵𝑎</m:t>
                          </m:r>
                        </m:sub>
                      </m:sSub>
                    </m:oMath>
                  </m:oMathPara>
                </a14:m>
                <a:endParaRPr lang="tr-TR" sz="1400" kern="10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 name="TextBox 1">
                <a:extLst>
                  <a:ext uri="{FF2B5EF4-FFF2-40B4-BE49-F238E27FC236}">
                    <a16:creationId xmlns:a16="http://schemas.microsoft.com/office/drawing/2014/main" id="{DF519ED2-B9A7-B57B-F66F-9EB55D6FB3F2}"/>
                  </a:ext>
                </a:extLst>
              </p:cNvPr>
              <p:cNvSpPr txBox="1">
                <a:spLocks noRot="1" noChangeAspect="1" noMove="1" noResize="1" noEditPoints="1" noAdjustHandles="1" noChangeArrowheads="1" noChangeShapeType="1" noTextEdit="1"/>
              </p:cNvSpPr>
              <p:nvPr/>
            </p:nvSpPr>
            <p:spPr>
              <a:xfrm>
                <a:off x="647564" y="3075421"/>
                <a:ext cx="7488832" cy="2141292"/>
              </a:xfrm>
              <a:prstGeom prst="rect">
                <a:avLst/>
              </a:prstGeom>
              <a:blipFill>
                <a:blip r:embed="rId3"/>
                <a:stretch>
                  <a:fillRect/>
                </a:stretch>
              </a:blipFill>
            </p:spPr>
            <p:txBody>
              <a:bodyPr/>
              <a:lstStyle/>
              <a:p>
                <a:r>
                  <a:rPr lang="tr-TR">
                    <a:noFill/>
                  </a:rPr>
                  <a:t> </a:t>
                </a:r>
              </a:p>
            </p:txBody>
          </p:sp>
        </mc:Fallback>
      </mc:AlternateContent>
    </p:spTree>
    <p:extLst>
      <p:ext uri="{BB962C8B-B14F-4D97-AF65-F5344CB8AC3E}">
        <p14:creationId xmlns:p14="http://schemas.microsoft.com/office/powerpoint/2010/main" val="42114626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0AE9B6A1-4384-66D3-9370-DD0FDC90E486}"/>
                  </a:ext>
                </a:extLst>
              </p:cNvPr>
              <p:cNvSpPr>
                <a:spLocks noGrp="1"/>
              </p:cNvSpPr>
              <p:nvPr>
                <p:ph idx="1"/>
              </p:nvPr>
            </p:nvSpPr>
            <p:spPr/>
            <p:txBody>
              <a:bodyPr>
                <a:normAutofit fontScale="92500"/>
              </a:bodyPr>
              <a:lstStyle/>
              <a:p>
                <a:pPr>
                  <a:lnSpc>
                    <a:spcPct val="107000"/>
                  </a:lnSpc>
                  <a:spcAft>
                    <a:spcPts val="800"/>
                  </a:spcAft>
                </a:pPr>
                <a: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a:t>Bir şehirden bir başka şehre gidilir;</a:t>
                </a:r>
              </a:p>
              <a:p>
                <a:pPr algn="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𝐸</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𝐵𝑎</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𝐾</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gn="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𝐸</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𝐵𝑎</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𝐾</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gn="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𝐸</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𝐸</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𝐸</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𝐵𝑎</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𝐸</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𝐾</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gn="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𝐵𝑎</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𝐵𝑎</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𝐵𝑎</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𝐸</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𝐵𝑎</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𝐾</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gn="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𝐾</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𝐾</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𝐾</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𝐸</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𝐾</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𝐵𝑎</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tr-TR" sz="1800" kern="100">
                    <a:effectLst/>
                    <a:latin typeface="Calibri" panose="020F0502020204030204" pitchFamily="34" charset="0"/>
                    <a:ea typeface="Calibri" panose="020F0502020204030204" pitchFamily="34" charset="0"/>
                    <a:cs typeface="Times New Roman" panose="02020603050405020304" pitchFamily="18" charset="0"/>
                  </a:rPr>
                  <a:t>Bir şehre bir diğer şehirden gelinmiştir;</a:t>
                </a:r>
              </a:p>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𝐸</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𝐵𝑎</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𝐾</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𝐸</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𝐵𝑎</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𝐾</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𝐸</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𝐸</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𝐵𝑎</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𝐸</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𝐾</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𝐸</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𝐵𝑎</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𝐵𝑎</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𝐸</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𝐵𝑎</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𝐾</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𝐵𝑎</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𝐾</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𝐾</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𝐸</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𝐾</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𝐵𝑎</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𝐾</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endParaRPr lang="tr-TR"/>
              </a:p>
            </p:txBody>
          </p:sp>
        </mc:Choice>
        <mc:Fallback xmlns="">
          <p:sp>
            <p:nvSpPr>
              <p:cNvPr id="2" name="Content Placeholder 1">
                <a:extLst>
                  <a:ext uri="{FF2B5EF4-FFF2-40B4-BE49-F238E27FC236}">
                    <a16:creationId xmlns:a16="http://schemas.microsoft.com/office/drawing/2014/main" id="{0AE9B6A1-4384-66D3-9370-DD0FDC90E486}"/>
                  </a:ext>
                </a:extLst>
              </p:cNvPr>
              <p:cNvSpPr>
                <a:spLocks noGrp="1" noRot="1" noChangeAspect="1" noMove="1" noResize="1" noEditPoints="1" noAdjustHandles="1" noChangeArrowheads="1" noChangeShapeType="1" noTextEdit="1"/>
              </p:cNvSpPr>
              <p:nvPr>
                <p:ph idx="1"/>
              </p:nvPr>
            </p:nvSpPr>
            <p:spPr>
              <a:blipFill>
                <a:blip r:embed="rId2"/>
                <a:stretch>
                  <a:fillRect l="-508" t="-500"/>
                </a:stretch>
              </a:blipFill>
            </p:spPr>
            <p:txBody>
              <a:bodyPr/>
              <a:lstStyle/>
              <a:p>
                <a:r>
                  <a:rPr lang="tr-TR">
                    <a:noFill/>
                  </a:rPr>
                  <a:t> </a:t>
                </a:r>
              </a:p>
            </p:txBody>
          </p:sp>
        </mc:Fallback>
      </mc:AlternateContent>
      <p:sp>
        <p:nvSpPr>
          <p:cNvPr id="3" name="Title 2">
            <a:extLst>
              <a:ext uri="{FF2B5EF4-FFF2-40B4-BE49-F238E27FC236}">
                <a16:creationId xmlns:a16="http://schemas.microsoft.com/office/drawing/2014/main" id="{8AD1A0FE-2343-D5C4-DF3B-05A754D1F398}"/>
              </a:ext>
            </a:extLst>
          </p:cNvPr>
          <p:cNvSpPr>
            <a:spLocks noGrp="1"/>
          </p:cNvSpPr>
          <p:nvPr>
            <p:ph type="title"/>
          </p:nvPr>
        </p:nvSpPr>
        <p:spPr/>
        <p:txBody>
          <a:bodyPr/>
          <a:lstStyle/>
          <a:p>
            <a:endParaRPr lang="tr-TR"/>
          </a:p>
        </p:txBody>
      </p:sp>
      <p:grpSp>
        <p:nvGrpSpPr>
          <p:cNvPr id="9" name="Group 8">
            <a:extLst>
              <a:ext uri="{FF2B5EF4-FFF2-40B4-BE49-F238E27FC236}">
                <a16:creationId xmlns:a16="http://schemas.microsoft.com/office/drawing/2014/main" id="{B30D1369-A1E3-1E50-6E95-15134FDB6EEF}"/>
              </a:ext>
            </a:extLst>
          </p:cNvPr>
          <p:cNvGrpSpPr/>
          <p:nvPr/>
        </p:nvGrpSpPr>
        <p:grpSpPr>
          <a:xfrm>
            <a:off x="7596336" y="2060848"/>
            <a:ext cx="1406935" cy="1623034"/>
            <a:chOff x="6189401" y="1013878"/>
            <a:chExt cx="1406935" cy="1623034"/>
          </a:xfrm>
        </p:grpSpPr>
        <p:sp>
          <p:nvSpPr>
            <p:cNvPr id="4" name="Oval 3">
              <a:extLst>
                <a:ext uri="{FF2B5EF4-FFF2-40B4-BE49-F238E27FC236}">
                  <a16:creationId xmlns:a16="http://schemas.microsoft.com/office/drawing/2014/main" id="{A6EE98C2-F7FB-B964-4222-EC4DA0AE2F51}"/>
                </a:ext>
              </a:extLst>
            </p:cNvPr>
            <p:cNvSpPr/>
            <p:nvPr/>
          </p:nvSpPr>
          <p:spPr>
            <a:xfrm>
              <a:off x="6189401" y="1805966"/>
              <a:ext cx="288032" cy="28803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sz="1200"/>
                <a:t>A</a:t>
              </a:r>
            </a:p>
          </p:txBody>
        </p:sp>
        <p:sp>
          <p:nvSpPr>
            <p:cNvPr id="5" name="Oval 4">
              <a:extLst>
                <a:ext uri="{FF2B5EF4-FFF2-40B4-BE49-F238E27FC236}">
                  <a16:creationId xmlns:a16="http://schemas.microsoft.com/office/drawing/2014/main" id="{3C989826-3A5E-CA3A-1CC9-A846BF8DB67E}"/>
                </a:ext>
              </a:extLst>
            </p:cNvPr>
            <p:cNvSpPr/>
            <p:nvPr/>
          </p:nvSpPr>
          <p:spPr>
            <a:xfrm>
              <a:off x="7266892" y="1013878"/>
              <a:ext cx="288032" cy="28803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sz="1200"/>
                <a:t>B</a:t>
              </a:r>
            </a:p>
          </p:txBody>
        </p:sp>
        <p:sp>
          <p:nvSpPr>
            <p:cNvPr id="6" name="Oval 5">
              <a:extLst>
                <a:ext uri="{FF2B5EF4-FFF2-40B4-BE49-F238E27FC236}">
                  <a16:creationId xmlns:a16="http://schemas.microsoft.com/office/drawing/2014/main" id="{C18E3C90-3564-F57B-0674-035EA679D631}"/>
                </a:ext>
              </a:extLst>
            </p:cNvPr>
            <p:cNvSpPr/>
            <p:nvPr/>
          </p:nvSpPr>
          <p:spPr>
            <a:xfrm>
              <a:off x="7266892" y="1445926"/>
              <a:ext cx="288032" cy="28803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sz="1200"/>
                <a:t>E</a:t>
              </a:r>
            </a:p>
          </p:txBody>
        </p:sp>
        <p:sp>
          <p:nvSpPr>
            <p:cNvPr id="7" name="Oval 6">
              <a:extLst>
                <a:ext uri="{FF2B5EF4-FFF2-40B4-BE49-F238E27FC236}">
                  <a16:creationId xmlns:a16="http://schemas.microsoft.com/office/drawing/2014/main" id="{8F8A79A3-375A-AE61-6665-AA94E6779CD6}"/>
                </a:ext>
              </a:extLst>
            </p:cNvPr>
            <p:cNvSpPr/>
            <p:nvPr/>
          </p:nvSpPr>
          <p:spPr>
            <a:xfrm>
              <a:off x="7287983" y="1844824"/>
              <a:ext cx="288032" cy="28803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sz="800"/>
                <a:t>Ba</a:t>
              </a:r>
            </a:p>
          </p:txBody>
        </p:sp>
        <p:sp>
          <p:nvSpPr>
            <p:cNvPr id="8" name="Oval 7">
              <a:extLst>
                <a:ext uri="{FF2B5EF4-FFF2-40B4-BE49-F238E27FC236}">
                  <a16:creationId xmlns:a16="http://schemas.microsoft.com/office/drawing/2014/main" id="{FC0B8726-148B-72F1-060D-0951C0B80FAE}"/>
                </a:ext>
              </a:extLst>
            </p:cNvPr>
            <p:cNvSpPr/>
            <p:nvPr/>
          </p:nvSpPr>
          <p:spPr>
            <a:xfrm>
              <a:off x="7308304" y="2348880"/>
              <a:ext cx="288032" cy="28803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sz="1200"/>
                <a:t>K</a:t>
              </a:r>
            </a:p>
          </p:txBody>
        </p:sp>
        <p:cxnSp>
          <p:nvCxnSpPr>
            <p:cNvPr id="10" name="Straight Arrow Connector 9">
              <a:extLst>
                <a:ext uri="{FF2B5EF4-FFF2-40B4-BE49-F238E27FC236}">
                  <a16:creationId xmlns:a16="http://schemas.microsoft.com/office/drawing/2014/main" id="{4C53637F-1C3B-B951-4FDD-5B086FD64472}"/>
                </a:ext>
              </a:extLst>
            </p:cNvPr>
            <p:cNvCxnSpPr>
              <a:stCxn id="4" idx="6"/>
              <a:endCxn id="5" idx="3"/>
            </p:cNvCxnSpPr>
            <p:nvPr/>
          </p:nvCxnSpPr>
          <p:spPr>
            <a:xfrm flipV="1">
              <a:off x="6477433" y="1259729"/>
              <a:ext cx="831640" cy="6902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E3789B15-C27B-8D75-AB9F-5DA259838995}"/>
                </a:ext>
              </a:extLst>
            </p:cNvPr>
            <p:cNvCxnSpPr>
              <a:stCxn id="4" idx="6"/>
              <a:endCxn id="6" idx="2"/>
            </p:cNvCxnSpPr>
            <p:nvPr/>
          </p:nvCxnSpPr>
          <p:spPr>
            <a:xfrm flipV="1">
              <a:off x="6477433" y="1589942"/>
              <a:ext cx="789459" cy="3600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C632FC45-6BCC-C566-4A0D-D8EF962BB22E}"/>
                </a:ext>
              </a:extLst>
            </p:cNvPr>
            <p:cNvCxnSpPr>
              <a:cxnSpLocks/>
              <a:stCxn id="4" idx="6"/>
              <a:endCxn id="7" idx="2"/>
            </p:cNvCxnSpPr>
            <p:nvPr/>
          </p:nvCxnSpPr>
          <p:spPr>
            <a:xfrm>
              <a:off x="6477433" y="1949982"/>
              <a:ext cx="810550" cy="388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7B567CF9-F65F-1B6D-350E-3580C2380942}"/>
                </a:ext>
              </a:extLst>
            </p:cNvPr>
            <p:cNvCxnSpPr>
              <a:stCxn id="4" idx="6"/>
              <a:endCxn id="8" idx="1"/>
            </p:cNvCxnSpPr>
            <p:nvPr/>
          </p:nvCxnSpPr>
          <p:spPr>
            <a:xfrm>
              <a:off x="6477433" y="1949982"/>
              <a:ext cx="873052" cy="4410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11" name="Group 10">
            <a:extLst>
              <a:ext uri="{FF2B5EF4-FFF2-40B4-BE49-F238E27FC236}">
                <a16:creationId xmlns:a16="http://schemas.microsoft.com/office/drawing/2014/main" id="{34C7A33C-6FA9-A7C8-0A90-0FB9B142CE66}"/>
              </a:ext>
            </a:extLst>
          </p:cNvPr>
          <p:cNvGrpSpPr/>
          <p:nvPr/>
        </p:nvGrpSpPr>
        <p:grpSpPr>
          <a:xfrm>
            <a:off x="6661332" y="3966206"/>
            <a:ext cx="1223367" cy="1623034"/>
            <a:chOff x="7367575" y="4077393"/>
            <a:chExt cx="1223367" cy="1623034"/>
          </a:xfrm>
        </p:grpSpPr>
        <p:sp>
          <p:nvSpPr>
            <p:cNvPr id="19" name="Oval 18">
              <a:extLst>
                <a:ext uri="{FF2B5EF4-FFF2-40B4-BE49-F238E27FC236}">
                  <a16:creationId xmlns:a16="http://schemas.microsoft.com/office/drawing/2014/main" id="{337E9ACD-E863-60C0-CFB7-AD7E4E6B09AA}"/>
                </a:ext>
              </a:extLst>
            </p:cNvPr>
            <p:cNvSpPr/>
            <p:nvPr/>
          </p:nvSpPr>
          <p:spPr>
            <a:xfrm>
              <a:off x="8302910" y="4653457"/>
              <a:ext cx="288032" cy="28803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sz="1200"/>
                <a:t>A</a:t>
              </a:r>
            </a:p>
          </p:txBody>
        </p:sp>
        <p:sp>
          <p:nvSpPr>
            <p:cNvPr id="20" name="Oval 19">
              <a:extLst>
                <a:ext uri="{FF2B5EF4-FFF2-40B4-BE49-F238E27FC236}">
                  <a16:creationId xmlns:a16="http://schemas.microsoft.com/office/drawing/2014/main" id="{7123F839-687D-24DF-3830-60DE432BE8AA}"/>
                </a:ext>
              </a:extLst>
            </p:cNvPr>
            <p:cNvSpPr/>
            <p:nvPr/>
          </p:nvSpPr>
          <p:spPr>
            <a:xfrm>
              <a:off x="7367575" y="4077393"/>
              <a:ext cx="288032" cy="28803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sz="1200"/>
                <a:t>B</a:t>
              </a:r>
            </a:p>
          </p:txBody>
        </p:sp>
        <p:sp>
          <p:nvSpPr>
            <p:cNvPr id="21" name="Oval 20">
              <a:extLst>
                <a:ext uri="{FF2B5EF4-FFF2-40B4-BE49-F238E27FC236}">
                  <a16:creationId xmlns:a16="http://schemas.microsoft.com/office/drawing/2014/main" id="{8F855CD7-760B-65C8-822A-184F318FF06A}"/>
                </a:ext>
              </a:extLst>
            </p:cNvPr>
            <p:cNvSpPr/>
            <p:nvPr/>
          </p:nvSpPr>
          <p:spPr>
            <a:xfrm>
              <a:off x="7367575" y="4509441"/>
              <a:ext cx="288032" cy="28803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sz="1200"/>
                <a:t>E</a:t>
              </a:r>
            </a:p>
          </p:txBody>
        </p:sp>
        <p:sp>
          <p:nvSpPr>
            <p:cNvPr id="22" name="Oval 21">
              <a:extLst>
                <a:ext uri="{FF2B5EF4-FFF2-40B4-BE49-F238E27FC236}">
                  <a16:creationId xmlns:a16="http://schemas.microsoft.com/office/drawing/2014/main" id="{A33A5560-E85E-E017-F807-F6EE0F292BC4}"/>
                </a:ext>
              </a:extLst>
            </p:cNvPr>
            <p:cNvSpPr/>
            <p:nvPr/>
          </p:nvSpPr>
          <p:spPr>
            <a:xfrm>
              <a:off x="7388666" y="4908339"/>
              <a:ext cx="288032" cy="28803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sz="800"/>
                <a:t>Ba</a:t>
              </a:r>
            </a:p>
          </p:txBody>
        </p:sp>
        <p:sp>
          <p:nvSpPr>
            <p:cNvPr id="23" name="Oval 22">
              <a:extLst>
                <a:ext uri="{FF2B5EF4-FFF2-40B4-BE49-F238E27FC236}">
                  <a16:creationId xmlns:a16="http://schemas.microsoft.com/office/drawing/2014/main" id="{50AFDEFB-F424-5643-8E41-61D2C431BF3D}"/>
                </a:ext>
              </a:extLst>
            </p:cNvPr>
            <p:cNvSpPr/>
            <p:nvPr/>
          </p:nvSpPr>
          <p:spPr>
            <a:xfrm>
              <a:off x="7408987" y="5412395"/>
              <a:ext cx="288032" cy="28803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sz="1200"/>
                <a:t>K</a:t>
              </a:r>
            </a:p>
          </p:txBody>
        </p:sp>
        <p:cxnSp>
          <p:nvCxnSpPr>
            <p:cNvPr id="33" name="Straight Arrow Connector 32">
              <a:extLst>
                <a:ext uri="{FF2B5EF4-FFF2-40B4-BE49-F238E27FC236}">
                  <a16:creationId xmlns:a16="http://schemas.microsoft.com/office/drawing/2014/main" id="{3F49C102-F13D-6568-2B19-9DC827BE7649}"/>
                </a:ext>
              </a:extLst>
            </p:cNvPr>
            <p:cNvCxnSpPr>
              <a:stCxn id="20" idx="6"/>
              <a:endCxn id="19" idx="2"/>
            </p:cNvCxnSpPr>
            <p:nvPr/>
          </p:nvCxnSpPr>
          <p:spPr>
            <a:xfrm>
              <a:off x="7655607" y="4221409"/>
              <a:ext cx="647303" cy="5760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F044868C-FCA3-E662-ACE8-4CF1405303CB}"/>
                </a:ext>
              </a:extLst>
            </p:cNvPr>
            <p:cNvCxnSpPr>
              <a:stCxn id="21" idx="6"/>
              <a:endCxn id="19" idx="2"/>
            </p:cNvCxnSpPr>
            <p:nvPr/>
          </p:nvCxnSpPr>
          <p:spPr>
            <a:xfrm>
              <a:off x="7655607" y="4653457"/>
              <a:ext cx="647303" cy="1440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D6B96E07-8137-EBAE-9831-AA6FAC00159F}"/>
                </a:ext>
              </a:extLst>
            </p:cNvPr>
            <p:cNvCxnSpPr>
              <a:stCxn id="22" idx="6"/>
              <a:endCxn id="19" idx="2"/>
            </p:cNvCxnSpPr>
            <p:nvPr/>
          </p:nvCxnSpPr>
          <p:spPr>
            <a:xfrm flipV="1">
              <a:off x="7676698" y="4797473"/>
              <a:ext cx="626212" cy="2548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7479AB10-FEA4-7ED8-E34C-D71F41C3A889}"/>
                </a:ext>
              </a:extLst>
            </p:cNvPr>
            <p:cNvCxnSpPr>
              <a:cxnSpLocks/>
              <a:stCxn id="23" idx="6"/>
              <a:endCxn id="19" idx="2"/>
            </p:cNvCxnSpPr>
            <p:nvPr/>
          </p:nvCxnSpPr>
          <p:spPr>
            <a:xfrm flipV="1">
              <a:off x="7697019" y="4797473"/>
              <a:ext cx="605891" cy="7589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944075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0 0 L 0 0.25 E" pathEditMode="relative" ptsTypes="">
                                      <p:cBhvr>
                                        <p:cTn id="6" dur="2000" fill="hold"/>
                                        <p:tgtEl>
                                          <p:spTgt spid="9"/>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Content Placeholder 1">
                <a:extLst>
                  <a:ext uri="{FF2B5EF4-FFF2-40B4-BE49-F238E27FC236}">
                    <a16:creationId xmlns:a16="http://schemas.microsoft.com/office/drawing/2014/main" id="{7CF33DC9-9C54-F857-2E1B-4BD38054FDAC}"/>
                  </a:ext>
                </a:extLst>
              </p:cNvPr>
              <p:cNvSpPr>
                <a:spLocks noGrp="1"/>
              </p:cNvSpPr>
              <p:nvPr>
                <p:ph idx="1"/>
              </p:nvPr>
            </p:nvSpPr>
            <p:spPr>
              <a:xfrm>
                <a:off x="45628" y="1643657"/>
                <a:ext cx="3672408" cy="4881686"/>
              </a:xfrm>
            </p:spPr>
            <p:txBody>
              <a:bodyPr>
                <a:norm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𝑢</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𝑢</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+5</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m:t>
                          </m:r>
                        </m:sub>
                      </m:sSub>
                      <m:r>
                        <a:rPr lang="tr-TR" sz="1800"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4</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𝑢</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𝑢</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𝐸</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+5</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𝐸</m:t>
                          </m:r>
                        </m:sub>
                      </m:sSub>
                      <m:r>
                        <a:rPr lang="tr-TR" sz="1800"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4</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𝑢</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𝑢</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𝐵𝑎</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+5</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𝐵𝑎</m:t>
                          </m:r>
                        </m:sub>
                      </m:sSub>
                      <m:r>
                        <a:rPr lang="tr-TR" sz="1800"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4</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𝑢</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𝑢</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𝐾</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+5</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𝐾</m:t>
                          </m:r>
                        </m:sub>
                      </m:sSub>
                      <m:r>
                        <a:rPr lang="tr-TR" sz="1800"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4</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𝑢</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m:t>
                          </m:r>
                        </m:sub>
                      </m:sSub>
                      <m:r>
                        <a:rPr lang="tr-TR" sz="1800"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1, </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𝑢</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m:t>
                          </m:r>
                        </m:sub>
                      </m:sSub>
                      <m:r>
                        <a:rPr lang="tr-TR" sz="1800"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4</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𝑢</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𝐸</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𝑢</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+5</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𝐸</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m:t>
                          </m:r>
                        </m:sub>
                      </m:sSub>
                      <m:r>
                        <a:rPr lang="tr-TR" sz="1800"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4</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𝑢</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𝐸</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𝑢</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+5</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𝐸</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m:t>
                          </m:r>
                        </m:sub>
                      </m:sSub>
                      <m:r>
                        <a:rPr lang="tr-TR" sz="1800"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4</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𝑢</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𝐸</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𝑢</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𝐵𝑎</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+5</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𝐸</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𝐵𝑎</m:t>
                          </m:r>
                        </m:sub>
                      </m:sSub>
                      <m:r>
                        <a:rPr lang="tr-TR" sz="1800"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4</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𝑢</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𝐸</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𝑢</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𝐾</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+5</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𝐸</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𝐾</m:t>
                          </m:r>
                        </m:sub>
                      </m:sSub>
                      <m:r>
                        <a:rPr lang="tr-TR" sz="1800"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4</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𝑢</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𝐸</m:t>
                          </m:r>
                        </m:sub>
                      </m:sSub>
                      <m:r>
                        <a:rPr lang="tr-TR" sz="1800"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1, </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𝑢</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𝐸</m:t>
                          </m:r>
                        </m:sub>
                      </m:sSub>
                      <m:r>
                        <a:rPr lang="tr-TR" sz="1800"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4</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endParaRPr lang="tr-TR"/>
              </a:p>
            </p:txBody>
          </p:sp>
        </mc:Choice>
        <mc:Fallback>
          <p:sp>
            <p:nvSpPr>
              <p:cNvPr id="2" name="Content Placeholder 1">
                <a:extLst>
                  <a:ext uri="{FF2B5EF4-FFF2-40B4-BE49-F238E27FC236}">
                    <a16:creationId xmlns:a16="http://schemas.microsoft.com/office/drawing/2014/main" id="{7CF33DC9-9C54-F857-2E1B-4BD38054FDAC}"/>
                  </a:ext>
                </a:extLst>
              </p:cNvPr>
              <p:cNvSpPr>
                <a:spLocks noGrp="1" noRot="1" noChangeAspect="1" noMove="1" noResize="1" noEditPoints="1" noAdjustHandles="1" noChangeArrowheads="1" noChangeShapeType="1" noTextEdit="1"/>
              </p:cNvSpPr>
              <p:nvPr>
                <p:ph idx="1"/>
              </p:nvPr>
            </p:nvSpPr>
            <p:spPr>
              <a:xfrm>
                <a:off x="45628" y="1643657"/>
                <a:ext cx="3672408" cy="4881686"/>
              </a:xfrm>
              <a:blipFill>
                <a:blip r:embed="rId2"/>
                <a:stretch>
                  <a:fillRect/>
                </a:stretch>
              </a:blipFill>
            </p:spPr>
            <p:txBody>
              <a:bodyPr/>
              <a:lstStyle/>
              <a:p>
                <a:r>
                  <a:rPr lang="tr-TR">
                    <a:noFill/>
                  </a:rPr>
                  <a:t> </a:t>
                </a:r>
              </a:p>
            </p:txBody>
          </p:sp>
        </mc:Fallback>
      </mc:AlternateContent>
      <p:sp>
        <p:nvSpPr>
          <p:cNvPr id="3" name="Title 2">
            <a:extLst>
              <a:ext uri="{FF2B5EF4-FFF2-40B4-BE49-F238E27FC236}">
                <a16:creationId xmlns:a16="http://schemas.microsoft.com/office/drawing/2014/main" id="{1CAAD909-F573-45F7-3F69-7EB0B376E9A5}"/>
              </a:ext>
            </a:extLst>
          </p:cNvPr>
          <p:cNvSpPr>
            <a:spLocks noGrp="1"/>
          </p:cNvSpPr>
          <p:nvPr>
            <p:ph type="title"/>
          </p:nvPr>
        </p:nvSpPr>
        <p:spPr/>
        <p:txBody>
          <a:bodyPr/>
          <a:lstStyle/>
          <a:p>
            <a:endParaRPr lang="tr-T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F4AABE52-BEF2-469B-A7AF-884C78B16A3A}"/>
                  </a:ext>
                </a:extLst>
              </p:cNvPr>
              <p:cNvSpPr txBox="1"/>
              <p:nvPr/>
            </p:nvSpPr>
            <p:spPr>
              <a:xfrm>
                <a:off x="3307556" y="1643657"/>
                <a:ext cx="4576812" cy="4630498"/>
              </a:xfrm>
              <a:prstGeom prst="rect">
                <a:avLst/>
              </a:prstGeom>
              <a:noFill/>
            </p:spPr>
            <p:txBody>
              <a:bodyPr wrap="square">
                <a:sp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𝑢</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𝐵𝑎</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𝑢</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+5</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𝐵𝑎</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m:t>
                          </m:r>
                        </m:sub>
                      </m:sSub>
                      <m:r>
                        <a:rPr lang="tr-TR" sz="1800"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4</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𝑢</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𝐵𝑎</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𝑢</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+5</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𝐵𝑎</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m:t>
                          </m:r>
                        </m:sub>
                      </m:sSub>
                      <m:r>
                        <a:rPr lang="tr-TR" sz="1800"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4</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𝑢</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𝐵𝑎</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𝑢</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𝐸</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+5</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𝐵𝑎</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𝐸</m:t>
                          </m:r>
                        </m:sub>
                      </m:sSub>
                      <m:r>
                        <a:rPr lang="tr-TR" sz="1800"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4</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𝑢</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𝐵𝑎</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𝑢</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𝐾</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+5</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𝐵𝑎</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𝐾</m:t>
                          </m:r>
                        </m:sub>
                      </m:sSub>
                      <m:r>
                        <a:rPr lang="tr-TR" sz="1800"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4</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𝑢</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𝐵𝑎</m:t>
                          </m:r>
                        </m:sub>
                      </m:sSub>
                      <m:r>
                        <a:rPr lang="tr-TR" sz="1800"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1, </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𝑢</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𝐵𝑎</m:t>
                          </m:r>
                        </m:sub>
                      </m:sSub>
                      <m:r>
                        <a:rPr lang="tr-TR" sz="1800"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4</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𝑢</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𝐾</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𝑢</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+5</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𝐾</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m:t>
                          </m:r>
                        </m:sub>
                      </m:sSub>
                      <m:r>
                        <a:rPr lang="tr-TR" sz="1800"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4</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𝑢</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𝐾</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𝑢</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+5</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𝐾</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m:t>
                          </m:r>
                        </m:sub>
                      </m:sSub>
                      <m:r>
                        <a:rPr lang="tr-TR" sz="1800"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4</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𝑢</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𝐾</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𝑢</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𝐸</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+5</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𝐾</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𝐸</m:t>
                          </m:r>
                        </m:sub>
                      </m:sSub>
                      <m:r>
                        <a:rPr lang="tr-TR" sz="1800"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4</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𝑢</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𝐾</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𝑢</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𝐵𝑎</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+5</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𝐾</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𝐵𝑎</m:t>
                          </m:r>
                        </m:sub>
                      </m:sSub>
                      <m:r>
                        <a:rPr lang="tr-TR" sz="1800"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4</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𝑢</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𝐾</m:t>
                          </m:r>
                        </m:sub>
                      </m:sSub>
                      <m:r>
                        <a:rPr lang="tr-TR" sz="1800"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1, </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𝑢</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𝐾</m:t>
                          </m:r>
                        </m:sub>
                      </m:sSub>
                      <m:r>
                        <a:rPr lang="tr-TR" sz="1800"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4</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d>
                        <m:dPr>
                          <m:begChr m:val="["/>
                          <m:endChr m:val="]"/>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𝑖𝑗</m:t>
                              </m:r>
                            </m:sub>
                          </m:sSub>
                          <m:r>
                            <a:rPr lang="tr-TR" sz="1800" kern="0">
                              <a:effectLst/>
                              <a:latin typeface="Cambria Math" panose="02040503050406030204" pitchFamily="18" charset="0"/>
                              <a:ea typeface="Times New Roman" panose="02020603050405020304" pitchFamily="18" charset="0"/>
                              <a:cs typeface="Times New Roman" panose="02020603050405020304" pitchFamily="18" charset="0"/>
                            </a:rPr>
                            <m:t>∈</m:t>
                          </m:r>
                          <m:r>
                            <m:rPr>
                              <m:lit/>
                            </m:r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0,1</m:t>
                          </m:r>
                          <m:r>
                            <m:rPr>
                              <m:lit/>
                            </m:r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e>
                      </m:d>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p:sp>
            <p:nvSpPr>
              <p:cNvPr id="5" name="TextBox 4">
                <a:extLst>
                  <a:ext uri="{FF2B5EF4-FFF2-40B4-BE49-F238E27FC236}">
                    <a16:creationId xmlns:a16="http://schemas.microsoft.com/office/drawing/2014/main" id="{F4AABE52-BEF2-469B-A7AF-884C78B16A3A}"/>
                  </a:ext>
                </a:extLst>
              </p:cNvPr>
              <p:cNvSpPr txBox="1">
                <a:spLocks noRot="1" noChangeAspect="1" noMove="1" noResize="1" noEditPoints="1" noAdjustHandles="1" noChangeArrowheads="1" noChangeShapeType="1" noTextEdit="1"/>
              </p:cNvSpPr>
              <p:nvPr/>
            </p:nvSpPr>
            <p:spPr>
              <a:xfrm>
                <a:off x="3307556" y="1643657"/>
                <a:ext cx="4576812" cy="4630498"/>
              </a:xfrm>
              <a:prstGeom prst="rect">
                <a:avLst/>
              </a:prstGeom>
              <a:blipFill>
                <a:blip r:embed="rId3"/>
                <a:stretch>
                  <a:fillRect/>
                </a:stretch>
              </a:blipFill>
            </p:spPr>
            <p:txBody>
              <a:bodyPr/>
              <a:lstStyle/>
              <a:p>
                <a:r>
                  <a:rPr lang="tr-TR">
                    <a:noFill/>
                  </a:rPr>
                  <a:t> </a:t>
                </a:r>
              </a:p>
            </p:txBody>
          </p:sp>
        </mc:Fallback>
      </mc:AlternateContent>
      <p:sp>
        <p:nvSpPr>
          <p:cNvPr id="7" name="TextBox 6">
            <a:extLst>
              <a:ext uri="{FF2B5EF4-FFF2-40B4-BE49-F238E27FC236}">
                <a16:creationId xmlns:a16="http://schemas.microsoft.com/office/drawing/2014/main" id="{B8A7A1F7-CDBB-751D-48D2-9D35843F4B2D}"/>
              </a:ext>
            </a:extLst>
          </p:cNvPr>
          <p:cNvSpPr txBox="1"/>
          <p:nvPr/>
        </p:nvSpPr>
        <p:spPr>
          <a:xfrm>
            <a:off x="821720" y="6377839"/>
            <a:ext cx="4576812" cy="369332"/>
          </a:xfrm>
          <a:prstGeom prst="rect">
            <a:avLst/>
          </a:prstGeom>
          <a:noFill/>
        </p:spPr>
        <p:txBody>
          <a:bodyPr wrap="square">
            <a:spAutoFit/>
          </a:bodyPr>
          <a:lstStyle/>
          <a:p>
            <a:r>
              <a:rPr lang="tr-TR"/>
              <a:t>Bayburt-Konya-</a:t>
            </a:r>
            <a:r>
              <a:rPr lang="tr-TR">
                <a:effectLst/>
              </a:rPr>
              <a:t>Bursa-Eskişehir-Ankara</a:t>
            </a:r>
            <a:endParaRPr lang="tr-T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0FE56D8-3CA4-FA14-B377-57BB40152712}"/>
                  </a:ext>
                </a:extLst>
              </p:cNvPr>
              <p:cNvSpPr txBox="1"/>
              <p:nvPr/>
            </p:nvSpPr>
            <p:spPr>
              <a:xfrm>
                <a:off x="4010110" y="871328"/>
                <a:ext cx="4581524" cy="668645"/>
              </a:xfrm>
              <a:prstGeom prst="rect">
                <a:avLst/>
              </a:prstGeom>
              <a:noFill/>
            </p:spPr>
            <p:txBody>
              <a:bodyPr wrap="square">
                <a:spAutoFit/>
              </a:bodyPr>
              <a:lstStyle/>
              <a:p>
                <a:pPr algn="ctr"/>
                <a14:m>
                  <m:oMath xmlns:m="http://schemas.openxmlformats.org/officeDocument/2006/math">
                    <m:sSub>
                      <m:sSubPr>
                        <m:ctrlPr>
                          <a:rPr lang="tr-TR" i="1" smtClean="0">
                            <a:latin typeface="Cambria Math" panose="02040503050406030204" pitchFamily="18" charset="0"/>
                          </a:rPr>
                        </m:ctrlPr>
                      </m:sSubPr>
                      <m:e>
                        <m:r>
                          <a:rPr lang="tr-TR" b="0" i="1" smtClean="0">
                            <a:latin typeface="Cambria Math" panose="02040503050406030204" pitchFamily="18" charset="0"/>
                          </a:rPr>
                          <m:t>𝑢</m:t>
                        </m:r>
                      </m:e>
                      <m:sub>
                        <m:r>
                          <a:rPr lang="tr-TR" b="0" i="1" smtClean="0">
                            <a:latin typeface="Cambria Math" panose="02040503050406030204" pitchFamily="18" charset="0"/>
                          </a:rPr>
                          <m:t>𝑖</m:t>
                        </m:r>
                      </m:sub>
                    </m:sSub>
                    <m:r>
                      <a:rPr lang="tr-TR" b="0" i="1" smtClean="0">
                        <a:latin typeface="Cambria Math" panose="02040503050406030204" pitchFamily="18" charset="0"/>
                      </a:rPr>
                      <m:t>−</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𝑢</m:t>
                        </m:r>
                      </m:e>
                      <m:sub>
                        <m:r>
                          <a:rPr lang="tr-TR" b="0" i="1" smtClean="0">
                            <a:latin typeface="Cambria Math" panose="02040503050406030204" pitchFamily="18" charset="0"/>
                          </a:rPr>
                          <m:t>𝑗</m:t>
                        </m:r>
                      </m:sub>
                    </m:sSub>
                    <m:r>
                      <a:rPr lang="tr-TR" b="0" i="1" smtClean="0">
                        <a:latin typeface="Cambria Math" panose="02040503050406030204" pitchFamily="18" charset="0"/>
                      </a:rPr>
                      <m:t>+</m:t>
                    </m:r>
                    <m:r>
                      <a:rPr lang="tr-TR" b="0" i="1" smtClean="0">
                        <a:latin typeface="Cambria Math" panose="02040503050406030204" pitchFamily="18" charset="0"/>
                      </a:rPr>
                      <m:t>𝑛</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𝑖𝑗</m:t>
                        </m:r>
                      </m:sub>
                    </m:sSub>
                    <m:r>
                      <a:rPr lang="tr-TR" b="0"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𝑛</m:t>
                    </m:r>
                    <m:r>
                      <a:rPr lang="tr-TR" b="0" i="1" smtClean="0">
                        <a:latin typeface="Cambria Math" panose="02040503050406030204" pitchFamily="18" charset="0"/>
                        <a:ea typeface="Cambria Math" panose="02040503050406030204" pitchFamily="18" charset="0"/>
                      </a:rPr>
                      <m:t>−1</m:t>
                    </m:r>
                  </m:oMath>
                </a14:m>
                <a:r>
                  <a:rPr lang="tr-TR"/>
                  <a:t> (Miller –Tucker-Zemlin)</a:t>
                </a:r>
              </a:p>
              <a:p>
                <a:pPr algn="ctr"/>
                <a:r>
                  <a:rPr lang="tr-TR"/>
                  <a:t>Burada </a:t>
                </a:r>
                <a14:m>
                  <m:oMath xmlns:m="http://schemas.openxmlformats.org/officeDocument/2006/math">
                    <m:r>
                      <a:rPr lang="tr-TR" b="0" i="1" smtClean="0">
                        <a:latin typeface="Cambria Math" panose="02040503050406030204" pitchFamily="18" charset="0"/>
                      </a:rPr>
                      <m:t>1</m:t>
                    </m:r>
                    <m:r>
                      <a:rPr lang="tr-TR" b="0" i="1" smtClean="0">
                        <a:latin typeface="Cambria Math" panose="02040503050406030204" pitchFamily="18" charset="0"/>
                        <a:ea typeface="Cambria Math" panose="02040503050406030204" pitchFamily="18" charset="0"/>
                      </a:rPr>
                      <m:t>≤</m:t>
                    </m:r>
                    <m:sSub>
                      <m:sSubPr>
                        <m:ctrlPr>
                          <a:rPr lang="tr-TR" b="0" i="1" smtClean="0">
                            <a:latin typeface="Cambria Math" panose="02040503050406030204" pitchFamily="18" charset="0"/>
                            <a:ea typeface="Cambria Math" panose="02040503050406030204" pitchFamily="18" charset="0"/>
                          </a:rPr>
                        </m:ctrlPr>
                      </m:sSubPr>
                      <m:e>
                        <m:r>
                          <a:rPr lang="tr-TR" b="0" i="1" smtClean="0">
                            <a:latin typeface="Cambria Math" panose="02040503050406030204" pitchFamily="18" charset="0"/>
                            <a:ea typeface="Cambria Math" panose="02040503050406030204" pitchFamily="18" charset="0"/>
                          </a:rPr>
                          <m:t>𝑢</m:t>
                        </m:r>
                      </m:e>
                      <m:sub>
                        <m:r>
                          <a:rPr lang="tr-TR" b="0" i="1" smtClean="0">
                            <a:latin typeface="Cambria Math" panose="02040503050406030204" pitchFamily="18" charset="0"/>
                            <a:ea typeface="Cambria Math" panose="02040503050406030204" pitchFamily="18" charset="0"/>
                          </a:rPr>
                          <m:t>𝑖</m:t>
                        </m:r>
                      </m:sub>
                    </m:sSub>
                    <m:r>
                      <a:rPr lang="tr-TR" b="0"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𝑛</m:t>
                    </m:r>
                    <m:r>
                      <a:rPr lang="tr-TR" b="0" i="1" smtClean="0">
                        <a:latin typeface="Cambria Math" panose="02040503050406030204" pitchFamily="18" charset="0"/>
                        <a:ea typeface="Cambria Math" panose="02040503050406030204" pitchFamily="18" charset="0"/>
                      </a:rPr>
                      <m:t>−1 </m:t>
                    </m:r>
                    <m:r>
                      <a:rPr lang="tr-TR" b="0" i="1" smtClean="0">
                        <a:latin typeface="Cambria Math" panose="02040503050406030204" pitchFamily="18" charset="0"/>
                        <a:ea typeface="Cambria Math" panose="02040503050406030204" pitchFamily="18" charset="0"/>
                      </a:rPr>
                      <m:t>𝑣𝑒</m:t>
                    </m:r>
                    <m:r>
                      <a:rPr lang="tr-TR" b="0" i="1" smtClean="0">
                        <a:latin typeface="Cambria Math" panose="02040503050406030204" pitchFamily="18" charset="0"/>
                        <a:ea typeface="Cambria Math" panose="02040503050406030204" pitchFamily="18" charset="0"/>
                      </a:rPr>
                      <m:t> </m:t>
                    </m:r>
                    <m:r>
                      <a:rPr lang="tr-TR" b="0" i="1" smtClean="0">
                        <a:latin typeface="Cambria Math" panose="02040503050406030204" pitchFamily="18" charset="0"/>
                        <a:ea typeface="Cambria Math" panose="02040503050406030204" pitchFamily="18" charset="0"/>
                      </a:rPr>
                      <m:t>𝑖</m:t>
                    </m:r>
                    <m:r>
                      <a:rPr lang="tr-TR" b="0"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𝑗</m:t>
                    </m:r>
                    <m:r>
                      <a:rPr lang="tr-TR" b="0" i="1" smtClean="0">
                        <a:latin typeface="Cambria Math" panose="02040503050406030204" pitchFamily="18" charset="0"/>
                        <a:ea typeface="Cambria Math" panose="02040503050406030204" pitchFamily="18" charset="0"/>
                      </a:rPr>
                      <m:t> 2≤</m:t>
                    </m:r>
                    <m:r>
                      <a:rPr lang="tr-TR" b="0" i="1" smtClean="0">
                        <a:latin typeface="Cambria Math" panose="02040503050406030204" pitchFamily="18" charset="0"/>
                        <a:ea typeface="Cambria Math" panose="02040503050406030204" pitchFamily="18" charset="0"/>
                      </a:rPr>
                      <m:t>𝑖</m:t>
                    </m:r>
                    <m:r>
                      <a:rPr lang="tr-TR" b="0"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𝑛</m:t>
                    </m:r>
                  </m:oMath>
                </a14:m>
                <a:endParaRPr lang="tr-TR"/>
              </a:p>
            </p:txBody>
          </p:sp>
        </mc:Choice>
        <mc:Fallback xmlns="">
          <p:sp>
            <p:nvSpPr>
              <p:cNvPr id="6" name="TextBox 5">
                <a:extLst>
                  <a:ext uri="{FF2B5EF4-FFF2-40B4-BE49-F238E27FC236}">
                    <a16:creationId xmlns:a16="http://schemas.microsoft.com/office/drawing/2014/main" id="{C0FE56D8-3CA4-FA14-B377-57BB40152712}"/>
                  </a:ext>
                </a:extLst>
              </p:cNvPr>
              <p:cNvSpPr txBox="1">
                <a:spLocks noRot="1" noChangeAspect="1" noMove="1" noResize="1" noEditPoints="1" noAdjustHandles="1" noChangeArrowheads="1" noChangeShapeType="1" noTextEdit="1"/>
              </p:cNvSpPr>
              <p:nvPr/>
            </p:nvSpPr>
            <p:spPr>
              <a:xfrm>
                <a:off x="4010110" y="871328"/>
                <a:ext cx="4581524" cy="668645"/>
              </a:xfrm>
              <a:prstGeom prst="rect">
                <a:avLst/>
              </a:prstGeom>
              <a:blipFill>
                <a:blip r:embed="rId4"/>
                <a:stretch>
                  <a:fillRect t="-4545" r="-1065" b="-13636"/>
                </a:stretch>
              </a:blipFill>
            </p:spPr>
            <p:txBody>
              <a:bodyPr/>
              <a:lstStyle/>
              <a:p>
                <a:r>
                  <a:rPr lang="tr-TR">
                    <a:noFill/>
                  </a:rPr>
                  <a:t> </a:t>
                </a:r>
              </a:p>
            </p:txBody>
          </p:sp>
        </mc:Fallback>
      </mc:AlternateContent>
      <p:graphicFrame>
        <p:nvGraphicFramePr>
          <p:cNvPr id="4" name="Diagram 3">
            <a:extLst>
              <a:ext uri="{FF2B5EF4-FFF2-40B4-BE49-F238E27FC236}">
                <a16:creationId xmlns:a16="http://schemas.microsoft.com/office/drawing/2014/main" id="{4D87D756-8D1A-185C-C378-08BABEA2D230}"/>
              </a:ext>
            </a:extLst>
          </p:cNvPr>
          <p:cNvGraphicFramePr/>
          <p:nvPr>
            <p:extLst>
              <p:ext uri="{D42A27DB-BD31-4B8C-83A1-F6EECF244321}">
                <p14:modId xmlns:p14="http://schemas.microsoft.com/office/powerpoint/2010/main" val="1425026701"/>
              </p:ext>
            </p:extLst>
          </p:nvPr>
        </p:nvGraphicFramePr>
        <p:xfrm>
          <a:off x="69589" y="2492896"/>
          <a:ext cx="2183904" cy="20320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53562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path" presetSubtype="0" accel="50000" decel="50000" fill="hold" grpId="0" nodeType="clickEffect">
                                  <p:stCondLst>
                                    <p:cond delay="0"/>
                                  </p:stCondLst>
                                  <p:childTnLst>
                                    <p:animMotion origin="layout" path="M 0 0 L 0.067 0.04 C 0.081 0.049 0.102 0.054 0.124 0.054 C 0.149 0.054 0.169 0.049 0.183 0.04 L 0.25 0 E" pathEditMode="relative" ptsTypes="">
                                      <p:cBhvr>
                                        <p:cTn id="6" dur="2000" fill="hold"/>
                                        <p:tgtEl>
                                          <p:spTgt spid="2">
                                            <p:txEl>
                                              <p:pRg st="0" end="0"/>
                                            </p:txEl>
                                          </p:spTgt>
                                        </p:tgtEl>
                                        <p:attrNameLst>
                                          <p:attrName>ppt_x</p:attrName>
                                          <p:attrName>ppt_y</p:attrName>
                                        </p:attrNameLst>
                                      </p:cBhvr>
                                    </p:animMotion>
                                  </p:childTnLst>
                                </p:cTn>
                              </p:par>
                              <p:par>
                                <p:cTn id="7" presetID="37" presetClass="path" presetSubtype="0" accel="50000" decel="50000" fill="hold" grpId="0" nodeType="withEffect">
                                  <p:stCondLst>
                                    <p:cond delay="0"/>
                                  </p:stCondLst>
                                  <p:childTnLst>
                                    <p:animMotion origin="layout" path="M 0 0 L 0.067 0.04 C 0.081 0.049 0.102 0.054 0.124 0.054 C 0.149 0.054 0.169 0.049 0.183 0.04 L 0.25 0 E" pathEditMode="relative" ptsTypes="">
                                      <p:cBhvr>
                                        <p:cTn id="8" dur="2000" fill="hold"/>
                                        <p:tgtEl>
                                          <p:spTgt spid="2">
                                            <p:txEl>
                                              <p:pRg st="1" end="1"/>
                                            </p:txEl>
                                          </p:spTgt>
                                        </p:tgtEl>
                                        <p:attrNameLst>
                                          <p:attrName>ppt_x</p:attrName>
                                          <p:attrName>ppt_y</p:attrName>
                                        </p:attrNameLst>
                                      </p:cBhvr>
                                    </p:animMotion>
                                  </p:childTnLst>
                                </p:cTn>
                              </p:par>
                              <p:par>
                                <p:cTn id="9" presetID="37" presetClass="path" presetSubtype="0" accel="50000" decel="50000" fill="hold" grpId="0" nodeType="withEffect">
                                  <p:stCondLst>
                                    <p:cond delay="0"/>
                                  </p:stCondLst>
                                  <p:childTnLst>
                                    <p:animMotion origin="layout" path="M 0 0 L 0.067 0.04 C 0.081 0.049 0.102 0.054 0.124 0.054 C 0.149 0.054 0.169 0.049 0.183 0.04 L 0.25 0 E" pathEditMode="relative" ptsTypes="">
                                      <p:cBhvr>
                                        <p:cTn id="10" dur="2000" fill="hold"/>
                                        <p:tgtEl>
                                          <p:spTgt spid="2">
                                            <p:txEl>
                                              <p:pRg st="2" end="2"/>
                                            </p:txEl>
                                          </p:spTgt>
                                        </p:tgtEl>
                                        <p:attrNameLst>
                                          <p:attrName>ppt_x</p:attrName>
                                          <p:attrName>ppt_y</p:attrName>
                                        </p:attrNameLst>
                                      </p:cBhvr>
                                    </p:animMotion>
                                  </p:childTnLst>
                                </p:cTn>
                              </p:par>
                              <p:par>
                                <p:cTn id="11" presetID="37" presetClass="path" presetSubtype="0" accel="50000" decel="50000" fill="hold" grpId="0" nodeType="withEffect">
                                  <p:stCondLst>
                                    <p:cond delay="0"/>
                                  </p:stCondLst>
                                  <p:childTnLst>
                                    <p:animMotion origin="layout" path="M 0 0 L 0.067 0.04 C 0.081 0.049 0.102 0.054 0.124 0.054 C 0.149 0.054 0.169 0.049 0.183 0.04 L 0.25 0 E" pathEditMode="relative" ptsTypes="">
                                      <p:cBhvr>
                                        <p:cTn id="12" dur="2000" fill="hold"/>
                                        <p:tgtEl>
                                          <p:spTgt spid="2">
                                            <p:txEl>
                                              <p:pRg st="3" end="3"/>
                                            </p:txEl>
                                          </p:spTgt>
                                        </p:tgtEl>
                                        <p:attrNameLst>
                                          <p:attrName>ppt_x</p:attrName>
                                          <p:attrName>ppt_y</p:attrName>
                                        </p:attrNameLst>
                                      </p:cBhvr>
                                    </p:animMotion>
                                  </p:childTnLst>
                                </p:cTn>
                              </p:par>
                              <p:par>
                                <p:cTn id="13" presetID="37" presetClass="path" presetSubtype="0" accel="50000" decel="50000" fill="hold" grpId="0" nodeType="withEffect">
                                  <p:stCondLst>
                                    <p:cond delay="0"/>
                                  </p:stCondLst>
                                  <p:childTnLst>
                                    <p:animMotion origin="layout" path="M 0 0 L 0.067 0.04 C 0.081 0.049 0.102 0.054 0.124 0.054 C 0.149 0.054 0.169 0.049 0.183 0.04 L 0.25 0 E" pathEditMode="relative" ptsTypes="">
                                      <p:cBhvr>
                                        <p:cTn id="14" dur="2000" fill="hold"/>
                                        <p:tgtEl>
                                          <p:spTgt spid="2">
                                            <p:txEl>
                                              <p:pRg st="4" end="4"/>
                                            </p:txEl>
                                          </p:spTgt>
                                        </p:tgtEl>
                                        <p:attrNameLst>
                                          <p:attrName>ppt_x</p:attrName>
                                          <p:attrName>ppt_y</p:attrName>
                                        </p:attrNameLst>
                                      </p:cBhvr>
                                    </p:animMotion>
                                  </p:childTnLst>
                                </p:cTn>
                              </p:par>
                              <p:par>
                                <p:cTn id="15" presetID="37" presetClass="path" presetSubtype="0" accel="50000" decel="50000" fill="hold" grpId="0" nodeType="withEffect">
                                  <p:stCondLst>
                                    <p:cond delay="0"/>
                                  </p:stCondLst>
                                  <p:childTnLst>
                                    <p:animMotion origin="layout" path="M 0 0 L 0.067 0.04 C 0.081 0.049 0.102 0.054 0.124 0.054 C 0.149 0.054 0.169 0.049 0.183 0.04 L 0.25 0 E" pathEditMode="relative" ptsTypes="">
                                      <p:cBhvr>
                                        <p:cTn id="16" dur="2000" fill="hold"/>
                                        <p:tgtEl>
                                          <p:spTgt spid="2">
                                            <p:txEl>
                                              <p:pRg st="5" end="5"/>
                                            </p:txEl>
                                          </p:spTgt>
                                        </p:tgtEl>
                                        <p:attrNameLst>
                                          <p:attrName>ppt_x</p:attrName>
                                          <p:attrName>ppt_y</p:attrName>
                                        </p:attrNameLst>
                                      </p:cBhvr>
                                    </p:animMotion>
                                  </p:childTnLst>
                                </p:cTn>
                              </p:par>
                              <p:par>
                                <p:cTn id="17" presetID="37" presetClass="path" presetSubtype="0" accel="50000" decel="50000" fill="hold" grpId="0" nodeType="withEffect">
                                  <p:stCondLst>
                                    <p:cond delay="0"/>
                                  </p:stCondLst>
                                  <p:childTnLst>
                                    <p:animMotion origin="layout" path="M 0 0 L 0.067 0.04 C 0.081 0.049 0.102 0.054 0.124 0.054 C 0.149 0.054 0.169 0.049 0.183 0.04 L 0.25 0 E" pathEditMode="relative" ptsTypes="">
                                      <p:cBhvr>
                                        <p:cTn id="18" dur="2000" fill="hold"/>
                                        <p:tgtEl>
                                          <p:spTgt spid="2">
                                            <p:txEl>
                                              <p:pRg st="6" end="6"/>
                                            </p:txEl>
                                          </p:spTgt>
                                        </p:tgtEl>
                                        <p:attrNameLst>
                                          <p:attrName>ppt_x</p:attrName>
                                          <p:attrName>ppt_y</p:attrName>
                                        </p:attrNameLst>
                                      </p:cBhvr>
                                    </p:animMotion>
                                  </p:childTnLst>
                                </p:cTn>
                              </p:par>
                              <p:par>
                                <p:cTn id="19" presetID="37" presetClass="path" presetSubtype="0" accel="50000" decel="50000" fill="hold" grpId="0" nodeType="withEffect">
                                  <p:stCondLst>
                                    <p:cond delay="0"/>
                                  </p:stCondLst>
                                  <p:childTnLst>
                                    <p:animMotion origin="layout" path="M 0 0 L 0.067 0.04 C 0.081 0.049 0.102 0.054 0.124 0.054 C 0.149 0.054 0.169 0.049 0.183 0.04 L 0.25 0 E" pathEditMode="relative" ptsTypes="">
                                      <p:cBhvr>
                                        <p:cTn id="20" dur="2000" fill="hold"/>
                                        <p:tgtEl>
                                          <p:spTgt spid="2">
                                            <p:txEl>
                                              <p:pRg st="7" end="7"/>
                                            </p:txEl>
                                          </p:spTgt>
                                        </p:tgtEl>
                                        <p:attrNameLst>
                                          <p:attrName>ppt_x</p:attrName>
                                          <p:attrName>ppt_y</p:attrName>
                                        </p:attrNameLst>
                                      </p:cBhvr>
                                    </p:animMotion>
                                  </p:childTnLst>
                                </p:cTn>
                              </p:par>
                              <p:par>
                                <p:cTn id="21" presetID="37" presetClass="path" presetSubtype="0" accel="50000" decel="50000" fill="hold" grpId="0" nodeType="withEffect">
                                  <p:stCondLst>
                                    <p:cond delay="0"/>
                                  </p:stCondLst>
                                  <p:childTnLst>
                                    <p:animMotion origin="layout" path="M 0 0 L 0.067 0.04 C 0.081 0.049 0.102 0.054 0.124 0.054 C 0.149 0.054 0.169 0.049 0.183 0.04 L 0.25 0 E" pathEditMode="relative" ptsTypes="">
                                      <p:cBhvr>
                                        <p:cTn id="22" dur="2000" fill="hold"/>
                                        <p:tgtEl>
                                          <p:spTgt spid="2">
                                            <p:txEl>
                                              <p:pRg st="8" end="8"/>
                                            </p:txEl>
                                          </p:spTgt>
                                        </p:tgtEl>
                                        <p:attrNameLst>
                                          <p:attrName>ppt_x</p:attrName>
                                          <p:attrName>ppt_y</p:attrName>
                                        </p:attrNameLst>
                                      </p:cBhvr>
                                    </p:animMotion>
                                  </p:childTnLst>
                                </p:cTn>
                              </p:par>
                              <p:par>
                                <p:cTn id="23" presetID="37" presetClass="path" presetSubtype="0" accel="50000" decel="50000" fill="hold" grpId="0" nodeType="withEffect">
                                  <p:stCondLst>
                                    <p:cond delay="0"/>
                                  </p:stCondLst>
                                  <p:childTnLst>
                                    <p:animMotion origin="layout" path="M 0 0 L 0.067 0.04 C 0.081 0.049 0.102 0.054 0.124 0.054 C 0.149 0.054 0.169 0.049 0.183 0.04 L 0.25 0 E" pathEditMode="relative" ptsTypes="">
                                      <p:cBhvr>
                                        <p:cTn id="24" dur="2000" fill="hold"/>
                                        <p:tgtEl>
                                          <p:spTgt spid="2">
                                            <p:txEl>
                                              <p:pRg st="9" end="9"/>
                                            </p:txEl>
                                          </p:spTgt>
                                        </p:tgtEl>
                                        <p:attrNameLst>
                                          <p:attrName>ppt_x</p:attrName>
                                          <p:attrName>ppt_y</p:attrName>
                                        </p:attrNameLst>
                                      </p:cBhvr>
                                    </p:animMotion>
                                  </p:childTnLst>
                                </p:cTn>
                              </p:par>
                              <p:par>
                                <p:cTn id="25" presetID="37" presetClass="path" presetSubtype="0" accel="50000" decel="50000" fill="hold" grpId="0" nodeType="withEffect">
                                  <p:stCondLst>
                                    <p:cond delay="0"/>
                                  </p:stCondLst>
                                  <p:childTnLst>
                                    <p:animMotion origin="layout" path="M 8.33333E-7 -3.33333E-6 L 0.06701 0.04005 C 0.08108 0.04908 0.10208 0.05394 0.12396 0.05394 C 0.14896 0.05394 0.16892 0.04908 0.18299 0.04005 L 0.25 -3.33333E-6 " pathEditMode="relative" rAng="0" ptsTypes="AAAAA">
                                      <p:cBhvr>
                                        <p:cTn id="26" dur="2000" fill="hold"/>
                                        <p:tgtEl>
                                          <p:spTgt spid="5"/>
                                        </p:tgtEl>
                                        <p:attrNameLst>
                                          <p:attrName>ppt_x</p:attrName>
                                          <p:attrName>ppt_y</p:attrName>
                                        </p:attrNameLst>
                                      </p:cBhvr>
                                      <p:rCtr x="12500" y="2685"/>
                                    </p:animMotion>
                                  </p:childTnLst>
                                </p:cTn>
                              </p:par>
                              <p:par>
                                <p:cTn id="27" presetID="37" presetClass="path" presetSubtype="0" accel="50000" decel="50000" fill="hold" nodeType="withEffect">
                                  <p:stCondLst>
                                    <p:cond delay="0"/>
                                  </p:stCondLst>
                                  <p:childTnLst>
                                    <p:animMotion origin="layout" path="M -3.33333E-6 4.07407E-6 L 0.06702 0.04004 C 0.08108 0.04907 0.10209 0.05393 0.12396 0.05393 C 0.14896 0.05393 0.16893 0.04907 0.18299 0.04004 L 0.25 4.07407E-6 " pathEditMode="relative" rAng="0" ptsTypes="AAAAA">
                                      <p:cBhvr>
                                        <p:cTn id="28" dur="2000" fill="hold"/>
                                        <p:tgtEl>
                                          <p:spTgt spid="5">
                                            <p:txEl>
                                              <p:pRg st="0" end="0"/>
                                            </p:txEl>
                                          </p:spTgt>
                                        </p:tgtEl>
                                        <p:attrNameLst>
                                          <p:attrName>ppt_x</p:attrName>
                                          <p:attrName>ppt_y</p:attrName>
                                        </p:attrNameLst>
                                      </p:cBhvr>
                                      <p:rCtr x="12500" y="2685"/>
                                    </p:animMotion>
                                  </p:childTnLst>
                                </p:cTn>
                              </p:par>
                              <p:par>
                                <p:cTn id="29" presetID="37" presetClass="path" presetSubtype="0" accel="50000" decel="50000" fill="hold" nodeType="withEffect">
                                  <p:stCondLst>
                                    <p:cond delay="0"/>
                                  </p:stCondLst>
                                  <p:childTnLst>
                                    <p:animMotion origin="layout" path="M -3.33333E-6 3.33333E-6 L 0.06702 0.04004 C 0.08108 0.04907 0.10209 0.05393 0.12396 0.05393 C 0.14896 0.05393 0.16893 0.04907 0.18299 0.04004 L 0.25 3.33333E-6 " pathEditMode="relative" rAng="0" ptsTypes="AAAAA">
                                      <p:cBhvr>
                                        <p:cTn id="30" dur="2000" fill="hold"/>
                                        <p:tgtEl>
                                          <p:spTgt spid="5">
                                            <p:txEl>
                                              <p:pRg st="1" end="1"/>
                                            </p:txEl>
                                          </p:spTgt>
                                        </p:tgtEl>
                                        <p:attrNameLst>
                                          <p:attrName>ppt_x</p:attrName>
                                          <p:attrName>ppt_y</p:attrName>
                                        </p:attrNameLst>
                                      </p:cBhvr>
                                      <p:rCtr x="12500" y="2685"/>
                                    </p:animMotion>
                                  </p:childTnLst>
                                </p:cTn>
                              </p:par>
                              <p:par>
                                <p:cTn id="31" presetID="37" presetClass="path" presetSubtype="0" accel="50000" decel="50000" fill="hold" nodeType="withEffect">
                                  <p:stCondLst>
                                    <p:cond delay="0"/>
                                  </p:stCondLst>
                                  <p:childTnLst>
                                    <p:animMotion origin="layout" path="M -3.33333E-6 2.59259E-6 L 0.06702 0.04004 C 0.08108 0.04907 0.10209 0.05393 0.12396 0.05393 C 0.14896 0.05393 0.16893 0.04907 0.18299 0.04004 L 0.25 2.59259E-6 " pathEditMode="relative" rAng="0" ptsTypes="AAAAA">
                                      <p:cBhvr>
                                        <p:cTn id="32" dur="2000" fill="hold"/>
                                        <p:tgtEl>
                                          <p:spTgt spid="5">
                                            <p:txEl>
                                              <p:pRg st="2" end="2"/>
                                            </p:txEl>
                                          </p:spTgt>
                                        </p:tgtEl>
                                        <p:attrNameLst>
                                          <p:attrName>ppt_x</p:attrName>
                                          <p:attrName>ppt_y</p:attrName>
                                        </p:attrNameLst>
                                      </p:cBhvr>
                                      <p:rCtr x="12500" y="2685"/>
                                    </p:animMotion>
                                  </p:childTnLst>
                                </p:cTn>
                              </p:par>
                              <p:par>
                                <p:cTn id="33" presetID="37" presetClass="path" presetSubtype="0" accel="50000" decel="50000" fill="hold" nodeType="withEffect">
                                  <p:stCondLst>
                                    <p:cond delay="0"/>
                                  </p:stCondLst>
                                  <p:childTnLst>
                                    <p:animMotion origin="layout" path="M 3.05556E-6 1.85185E-6 L 0.06701 0.04004 C 0.08107 0.04907 0.10208 0.05393 0.12396 0.05393 C 0.14896 0.05393 0.16892 0.04907 0.18298 0.04004 L 0.25 1.85185E-6 " pathEditMode="relative" rAng="0" ptsTypes="AAAAA">
                                      <p:cBhvr>
                                        <p:cTn id="34" dur="2000" fill="hold"/>
                                        <p:tgtEl>
                                          <p:spTgt spid="5">
                                            <p:txEl>
                                              <p:pRg st="3" end="3"/>
                                            </p:txEl>
                                          </p:spTgt>
                                        </p:tgtEl>
                                        <p:attrNameLst>
                                          <p:attrName>ppt_x</p:attrName>
                                          <p:attrName>ppt_y</p:attrName>
                                        </p:attrNameLst>
                                      </p:cBhvr>
                                      <p:rCtr x="12500" y="2685"/>
                                    </p:animMotion>
                                  </p:childTnLst>
                                </p:cTn>
                              </p:par>
                              <p:par>
                                <p:cTn id="35" presetID="37" presetClass="path" presetSubtype="0" accel="50000" decel="50000" fill="hold" nodeType="withEffect">
                                  <p:stCondLst>
                                    <p:cond delay="0"/>
                                  </p:stCondLst>
                                  <p:childTnLst>
                                    <p:animMotion origin="layout" path="M 3.05556E-6 -2.96296E-6 L 0.06701 0.04005 C 0.08107 0.04908 0.10208 0.05394 0.12396 0.05394 C 0.14896 0.05394 0.16892 0.04908 0.18298 0.04005 L 0.25 -2.96296E-6 " pathEditMode="relative" rAng="0" ptsTypes="AAAAA">
                                      <p:cBhvr>
                                        <p:cTn id="36" dur="2000" fill="hold"/>
                                        <p:tgtEl>
                                          <p:spTgt spid="5">
                                            <p:txEl>
                                              <p:pRg st="4" end="4"/>
                                            </p:txEl>
                                          </p:spTgt>
                                        </p:tgtEl>
                                        <p:attrNameLst>
                                          <p:attrName>ppt_x</p:attrName>
                                          <p:attrName>ppt_y</p:attrName>
                                        </p:attrNameLst>
                                      </p:cBhvr>
                                      <p:rCtr x="12500" y="2685"/>
                                    </p:animMotion>
                                  </p:childTnLst>
                                </p:cTn>
                              </p:par>
                              <p:par>
                                <p:cTn id="37" presetID="37" presetClass="path" presetSubtype="0" accel="50000" decel="50000" fill="hold" nodeType="withEffect">
                                  <p:stCondLst>
                                    <p:cond delay="0"/>
                                  </p:stCondLst>
                                  <p:childTnLst>
                                    <p:animMotion origin="layout" path="M -3.33333E-6 2.22222E-6 L 0.06702 0.04004 C 0.08108 0.04907 0.10209 0.05393 0.12396 0.05393 C 0.14896 0.05393 0.16893 0.04907 0.18299 0.04004 L 0.25 2.22222E-6 " pathEditMode="relative" rAng="0" ptsTypes="AAAAA">
                                      <p:cBhvr>
                                        <p:cTn id="38" dur="2000" fill="hold"/>
                                        <p:tgtEl>
                                          <p:spTgt spid="5">
                                            <p:txEl>
                                              <p:pRg st="5" end="5"/>
                                            </p:txEl>
                                          </p:spTgt>
                                        </p:tgtEl>
                                        <p:attrNameLst>
                                          <p:attrName>ppt_x</p:attrName>
                                          <p:attrName>ppt_y</p:attrName>
                                        </p:attrNameLst>
                                      </p:cBhvr>
                                      <p:rCtr x="12500" y="2685"/>
                                    </p:animMotion>
                                  </p:childTnLst>
                                </p:cTn>
                              </p:par>
                              <p:par>
                                <p:cTn id="39" presetID="37" presetClass="path" presetSubtype="0" accel="50000" decel="50000" fill="hold" nodeType="withEffect">
                                  <p:stCondLst>
                                    <p:cond delay="0"/>
                                  </p:stCondLst>
                                  <p:childTnLst>
                                    <p:animMotion origin="layout" path="M -3.33333E-6 1.48148E-6 L 0.06702 0.04004 C 0.08108 0.04907 0.10209 0.05393 0.12396 0.05393 C 0.14896 0.05393 0.16893 0.04907 0.18299 0.04004 L 0.25 1.48148E-6 " pathEditMode="relative" rAng="0" ptsTypes="AAAAA">
                                      <p:cBhvr>
                                        <p:cTn id="40" dur="2000" fill="hold"/>
                                        <p:tgtEl>
                                          <p:spTgt spid="5">
                                            <p:txEl>
                                              <p:pRg st="6" end="6"/>
                                            </p:txEl>
                                          </p:spTgt>
                                        </p:tgtEl>
                                        <p:attrNameLst>
                                          <p:attrName>ppt_x</p:attrName>
                                          <p:attrName>ppt_y</p:attrName>
                                        </p:attrNameLst>
                                      </p:cBhvr>
                                      <p:rCtr x="12500" y="2685"/>
                                    </p:animMotion>
                                  </p:childTnLst>
                                </p:cTn>
                              </p:par>
                              <p:par>
                                <p:cTn id="41" presetID="37" presetClass="path" presetSubtype="0" accel="50000" decel="50000" fill="hold" nodeType="withEffect">
                                  <p:stCondLst>
                                    <p:cond delay="0"/>
                                  </p:stCondLst>
                                  <p:childTnLst>
                                    <p:animMotion origin="layout" path="M -3.33333E-6 7.40741E-7 L 0.06702 0.04005 C 0.08108 0.04907 0.10209 0.05393 0.12396 0.05393 C 0.14896 0.05393 0.16893 0.04907 0.18299 0.04005 L 0.25 7.40741E-7 " pathEditMode="relative" rAng="0" ptsTypes="AAAAA">
                                      <p:cBhvr>
                                        <p:cTn id="42" dur="2000" fill="hold"/>
                                        <p:tgtEl>
                                          <p:spTgt spid="5">
                                            <p:txEl>
                                              <p:pRg st="7" end="7"/>
                                            </p:txEl>
                                          </p:spTgt>
                                        </p:tgtEl>
                                        <p:attrNameLst>
                                          <p:attrName>ppt_x</p:attrName>
                                          <p:attrName>ppt_y</p:attrName>
                                        </p:attrNameLst>
                                      </p:cBhvr>
                                      <p:rCtr x="12500" y="2685"/>
                                    </p:animMotion>
                                  </p:childTnLst>
                                </p:cTn>
                              </p:par>
                              <p:par>
                                <p:cTn id="43" presetID="37" presetClass="path" presetSubtype="0" accel="50000" decel="50000" fill="hold" nodeType="withEffect">
                                  <p:stCondLst>
                                    <p:cond delay="0"/>
                                  </p:stCondLst>
                                  <p:childTnLst>
                                    <p:animMotion origin="layout" path="M 3.05556E-6 1.11022E-16 L 0.06701 0.04005 C 0.08107 0.04907 0.10208 0.05394 0.12396 0.05394 C 0.14896 0.05394 0.16892 0.04907 0.18298 0.04005 L 0.25 1.11022E-16 " pathEditMode="relative" rAng="0" ptsTypes="AAAAA">
                                      <p:cBhvr>
                                        <p:cTn id="44" dur="2000" fill="hold"/>
                                        <p:tgtEl>
                                          <p:spTgt spid="5">
                                            <p:txEl>
                                              <p:pRg st="8" end="8"/>
                                            </p:txEl>
                                          </p:spTgt>
                                        </p:tgtEl>
                                        <p:attrNameLst>
                                          <p:attrName>ppt_x</p:attrName>
                                          <p:attrName>ppt_y</p:attrName>
                                        </p:attrNameLst>
                                      </p:cBhvr>
                                      <p:rCtr x="12500" y="2685"/>
                                    </p:animMotion>
                                  </p:childTnLst>
                                </p:cTn>
                              </p:par>
                              <p:par>
                                <p:cTn id="45" presetID="37" presetClass="path" presetSubtype="0" accel="50000" decel="50000" fill="hold" nodeType="withEffect">
                                  <p:stCondLst>
                                    <p:cond delay="0"/>
                                  </p:stCondLst>
                                  <p:childTnLst>
                                    <p:animMotion origin="layout" path="M -3.33333E-6 -4.81481E-6 L 0.06702 0.04005 C 0.08108 0.04908 0.10209 0.05394 0.12396 0.05394 C 0.14896 0.05394 0.16893 0.04908 0.18299 0.04005 L 0.25 -4.81481E-6 " pathEditMode="relative" rAng="0" ptsTypes="AAAAA">
                                      <p:cBhvr>
                                        <p:cTn id="46" dur="2000" fill="hold"/>
                                        <p:tgtEl>
                                          <p:spTgt spid="5">
                                            <p:txEl>
                                              <p:pRg st="9" end="9"/>
                                            </p:txEl>
                                          </p:spTgt>
                                        </p:tgtEl>
                                        <p:attrNameLst>
                                          <p:attrName>ppt_x</p:attrName>
                                          <p:attrName>ppt_y</p:attrName>
                                        </p:attrNameLst>
                                      </p:cBhvr>
                                      <p:rCtr x="12500" y="2685"/>
                                    </p:animMotion>
                                  </p:childTnLst>
                                </p:cTn>
                              </p:par>
                              <p:par>
                                <p:cTn id="47" presetID="37" presetClass="path" presetSubtype="0" accel="50000" decel="50000" fill="hold" nodeType="withEffect">
                                  <p:stCondLst>
                                    <p:cond delay="0"/>
                                  </p:stCondLst>
                                  <p:childTnLst>
                                    <p:animMotion origin="layout" path="M -3.33333E-6 -4.44444E-6 L 0.06702 0.04005 C 0.08108 0.04908 0.10209 0.05394 0.12396 0.05394 C 0.14896 0.05394 0.16893 0.04908 0.18299 0.04005 L 0.25 -4.44444E-6 " pathEditMode="relative" rAng="0" ptsTypes="AAAAA">
                                      <p:cBhvr>
                                        <p:cTn id="48" dur="2000" fill="hold"/>
                                        <p:tgtEl>
                                          <p:spTgt spid="5">
                                            <p:txEl>
                                              <p:pRg st="10" end="10"/>
                                            </p:txEl>
                                          </p:spTgt>
                                        </p:tgtEl>
                                        <p:attrNameLst>
                                          <p:attrName>ppt_x</p:attrName>
                                          <p:attrName>ppt_y</p:attrName>
                                        </p:attrNameLst>
                                      </p:cBhvr>
                                      <p:rCtr x="12500" y="2685"/>
                                    </p:animMotion>
                                  </p:childTnLst>
                                </p:cTn>
                              </p:par>
                            </p:childTnLst>
                          </p:cTn>
                        </p:par>
                        <p:par>
                          <p:cTn id="49" fill="hold">
                            <p:stCondLst>
                              <p:cond delay="2000"/>
                            </p:stCondLst>
                            <p:childTnLst>
                              <p:par>
                                <p:cTn id="50" presetID="2" presetClass="entr" presetSubtype="8" fill="hold" grpId="0" nodeType="afterEffect">
                                  <p:stCondLst>
                                    <p:cond delay="0"/>
                                  </p:stCondLst>
                                  <p:childTnLst>
                                    <p:set>
                                      <p:cBhvr>
                                        <p:cTn id="51" dur="1" fill="hold">
                                          <p:stCondLst>
                                            <p:cond delay="0"/>
                                          </p:stCondLst>
                                        </p:cTn>
                                        <p:tgtEl>
                                          <p:spTgt spid="4"/>
                                        </p:tgtEl>
                                        <p:attrNameLst>
                                          <p:attrName>style.visibility</p:attrName>
                                        </p:attrNameLst>
                                      </p:cBhvr>
                                      <p:to>
                                        <p:strVal val="visible"/>
                                      </p:to>
                                    </p:set>
                                    <p:anim calcmode="lin" valueType="num">
                                      <p:cBhvr additive="base">
                                        <p:cTn id="52" dur="500" fill="hold"/>
                                        <p:tgtEl>
                                          <p:spTgt spid="4"/>
                                        </p:tgtEl>
                                        <p:attrNameLst>
                                          <p:attrName>ppt_x</p:attrName>
                                        </p:attrNameLst>
                                      </p:cBhvr>
                                      <p:tavLst>
                                        <p:tav tm="0">
                                          <p:val>
                                            <p:strVal val="0-#ppt_w/2"/>
                                          </p:val>
                                        </p:tav>
                                        <p:tav tm="100000">
                                          <p:val>
                                            <p:strVal val="#ppt_x"/>
                                          </p:val>
                                        </p:tav>
                                      </p:tavLst>
                                    </p:anim>
                                    <p:anim calcmode="lin" valueType="num">
                                      <p:cBhvr additive="base">
                                        <p:cTn id="53"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5" grpId="0"/>
      <p:bldGraphic spid="4" grpId="0">
        <p:bldAsOne/>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2F53BC6-4AB1-8D26-F62A-83574812C0B2}"/>
              </a:ext>
            </a:extLst>
          </p:cNvPr>
          <p:cNvSpPr>
            <a:spLocks noGrp="1"/>
          </p:cNvSpPr>
          <p:nvPr>
            <p:ph idx="1"/>
          </p:nvPr>
        </p:nvSpPr>
        <p:spPr/>
        <p:txBody>
          <a:bodyPr/>
          <a:lstStyle/>
          <a:p>
            <a:r>
              <a:rPr lang="tr-TR"/>
              <a:t>Maliyetler tabloda verilmiştir.</a:t>
            </a:r>
          </a:p>
        </p:txBody>
      </p:sp>
      <p:sp>
        <p:nvSpPr>
          <p:cNvPr id="3" name="Title 2">
            <a:extLst>
              <a:ext uri="{FF2B5EF4-FFF2-40B4-BE49-F238E27FC236}">
                <a16:creationId xmlns:a16="http://schemas.microsoft.com/office/drawing/2014/main" id="{ADFC0448-BC79-AE40-CA8B-6A612B8E3CC3}"/>
              </a:ext>
            </a:extLst>
          </p:cNvPr>
          <p:cNvSpPr>
            <a:spLocks noGrp="1"/>
          </p:cNvSpPr>
          <p:nvPr>
            <p:ph type="title"/>
          </p:nvPr>
        </p:nvSpPr>
        <p:spPr/>
        <p:txBody>
          <a:bodyPr/>
          <a:lstStyle/>
          <a:p>
            <a:r>
              <a:rPr lang="tr-TR"/>
              <a:t>Örnek</a:t>
            </a:r>
          </a:p>
        </p:txBody>
      </p:sp>
      <p:pic>
        <p:nvPicPr>
          <p:cNvPr id="5" name="Picture 4">
            <a:extLst>
              <a:ext uri="{FF2B5EF4-FFF2-40B4-BE49-F238E27FC236}">
                <a16:creationId xmlns:a16="http://schemas.microsoft.com/office/drawing/2014/main" id="{38592C81-BCF4-1D87-F177-0F0ACDD8B94C}"/>
              </a:ext>
            </a:extLst>
          </p:cNvPr>
          <p:cNvPicPr>
            <a:picLocks noChangeAspect="1"/>
          </p:cNvPicPr>
          <p:nvPr/>
        </p:nvPicPr>
        <p:blipFill>
          <a:blip r:embed="rId2"/>
          <a:stretch>
            <a:fillRect/>
          </a:stretch>
        </p:blipFill>
        <p:spPr>
          <a:xfrm>
            <a:off x="2491479" y="1830236"/>
            <a:ext cx="4210638" cy="2067213"/>
          </a:xfrm>
          <a:prstGeom prst="rect">
            <a:avLst/>
          </a:prstGeom>
          <a:ln>
            <a:noFill/>
          </a:ln>
          <a:effectLst>
            <a:outerShdw blurRad="292100" dist="139700" dir="2700000" algn="tl" rotWithShape="0">
              <a:srgbClr val="333333">
                <a:alpha val="65000"/>
              </a:srgbClr>
            </a:outerShdw>
          </a:effectLst>
        </p:spPr>
      </p:pic>
      <p:pic>
        <p:nvPicPr>
          <p:cNvPr id="7" name="Picture 6">
            <a:extLst>
              <a:ext uri="{FF2B5EF4-FFF2-40B4-BE49-F238E27FC236}">
                <a16:creationId xmlns:a16="http://schemas.microsoft.com/office/drawing/2014/main" id="{FA4EEFC5-3FB8-C2C9-F5FB-FAF2FDD4C24E}"/>
              </a:ext>
            </a:extLst>
          </p:cNvPr>
          <p:cNvPicPr>
            <a:picLocks noChangeAspect="1"/>
          </p:cNvPicPr>
          <p:nvPr/>
        </p:nvPicPr>
        <p:blipFill>
          <a:blip r:embed="rId3"/>
          <a:stretch>
            <a:fillRect/>
          </a:stretch>
        </p:blipFill>
        <p:spPr>
          <a:xfrm>
            <a:off x="2339752" y="4242901"/>
            <a:ext cx="4824536" cy="197526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0584388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E30DE9E-5068-D160-0266-DF15A5DD2C89}"/>
              </a:ext>
            </a:extLst>
          </p:cNvPr>
          <p:cNvSpPr>
            <a:spLocks noGrp="1"/>
          </p:cNvSpPr>
          <p:nvPr>
            <p:ph idx="1"/>
          </p:nvPr>
        </p:nvSpPr>
        <p:spPr/>
        <p:txBody>
          <a:bodyPr/>
          <a:lstStyle/>
          <a:p>
            <a:endParaRPr lang="tr-TR"/>
          </a:p>
        </p:txBody>
      </p:sp>
      <p:sp>
        <p:nvSpPr>
          <p:cNvPr id="3" name="Title 2">
            <a:extLst>
              <a:ext uri="{FF2B5EF4-FFF2-40B4-BE49-F238E27FC236}">
                <a16:creationId xmlns:a16="http://schemas.microsoft.com/office/drawing/2014/main" id="{7DADC68B-AEF9-4618-04B4-D10AD242E727}"/>
              </a:ext>
            </a:extLst>
          </p:cNvPr>
          <p:cNvSpPr>
            <a:spLocks noGrp="1"/>
          </p:cNvSpPr>
          <p:nvPr>
            <p:ph type="title"/>
          </p:nvPr>
        </p:nvSpPr>
        <p:spPr/>
        <p:txBody>
          <a:bodyPr/>
          <a:lstStyle/>
          <a:p>
            <a:endParaRPr lang="tr-TR"/>
          </a:p>
        </p:txBody>
      </p:sp>
      <p:pic>
        <p:nvPicPr>
          <p:cNvPr id="5" name="Picture 4">
            <a:extLst>
              <a:ext uri="{FF2B5EF4-FFF2-40B4-BE49-F238E27FC236}">
                <a16:creationId xmlns:a16="http://schemas.microsoft.com/office/drawing/2014/main" id="{F18A07BF-297A-415A-325A-BF3833A4BD7B}"/>
              </a:ext>
            </a:extLst>
          </p:cNvPr>
          <p:cNvPicPr>
            <a:picLocks noChangeAspect="1"/>
          </p:cNvPicPr>
          <p:nvPr/>
        </p:nvPicPr>
        <p:blipFill>
          <a:blip r:embed="rId2"/>
          <a:stretch>
            <a:fillRect/>
          </a:stretch>
        </p:blipFill>
        <p:spPr>
          <a:xfrm>
            <a:off x="60922" y="928214"/>
            <a:ext cx="2872037" cy="3796930"/>
          </a:xfrm>
          <a:prstGeom prst="rect">
            <a:avLst/>
          </a:prstGeom>
          <a:ln>
            <a:noFill/>
          </a:ln>
          <a:effectLst>
            <a:outerShdw blurRad="292100" dist="139700" dir="2700000" algn="tl" rotWithShape="0">
              <a:srgbClr val="333333">
                <a:alpha val="65000"/>
              </a:srgbClr>
            </a:outerShdw>
          </a:effectLst>
        </p:spPr>
      </p:pic>
      <p:pic>
        <p:nvPicPr>
          <p:cNvPr id="9" name="Picture 8">
            <a:extLst>
              <a:ext uri="{FF2B5EF4-FFF2-40B4-BE49-F238E27FC236}">
                <a16:creationId xmlns:a16="http://schemas.microsoft.com/office/drawing/2014/main" id="{80118BC9-A356-9D39-9DEC-770C3B1E41D5}"/>
              </a:ext>
            </a:extLst>
          </p:cNvPr>
          <p:cNvPicPr>
            <a:picLocks noChangeAspect="1"/>
          </p:cNvPicPr>
          <p:nvPr/>
        </p:nvPicPr>
        <p:blipFill>
          <a:blip r:embed="rId3"/>
          <a:stretch>
            <a:fillRect/>
          </a:stretch>
        </p:blipFill>
        <p:spPr>
          <a:xfrm>
            <a:off x="3087221" y="3399990"/>
            <a:ext cx="2960417" cy="982227"/>
          </a:xfrm>
          <a:prstGeom prst="rect">
            <a:avLst/>
          </a:prstGeom>
          <a:ln>
            <a:noFill/>
          </a:ln>
          <a:effectLst>
            <a:outerShdw blurRad="292100" dist="139700" dir="2700000" algn="tl" rotWithShape="0">
              <a:srgbClr val="333333">
                <a:alpha val="65000"/>
              </a:srgbClr>
            </a:outerShdw>
          </a:effectLst>
        </p:spPr>
      </p:pic>
      <p:pic>
        <p:nvPicPr>
          <p:cNvPr id="11" name="Picture 10">
            <a:extLst>
              <a:ext uri="{FF2B5EF4-FFF2-40B4-BE49-F238E27FC236}">
                <a16:creationId xmlns:a16="http://schemas.microsoft.com/office/drawing/2014/main" id="{3E2031C8-1320-0456-0098-742F5DDB5FA9}"/>
              </a:ext>
            </a:extLst>
          </p:cNvPr>
          <p:cNvPicPr>
            <a:picLocks noChangeAspect="1"/>
          </p:cNvPicPr>
          <p:nvPr/>
        </p:nvPicPr>
        <p:blipFill>
          <a:blip r:embed="rId4"/>
          <a:stretch>
            <a:fillRect/>
          </a:stretch>
        </p:blipFill>
        <p:spPr>
          <a:xfrm>
            <a:off x="4805267" y="4938787"/>
            <a:ext cx="3342875" cy="578445"/>
          </a:xfrm>
          <a:prstGeom prst="rect">
            <a:avLst/>
          </a:prstGeom>
          <a:ln>
            <a:noFill/>
          </a:ln>
          <a:effectLst>
            <a:outerShdw blurRad="292100" dist="139700" dir="2700000" algn="tl" rotWithShape="0">
              <a:srgbClr val="333333">
                <a:alpha val="65000"/>
              </a:srgbClr>
            </a:outerShdw>
          </a:effectLst>
        </p:spPr>
      </p:pic>
      <p:pic>
        <p:nvPicPr>
          <p:cNvPr id="13" name="Picture 12">
            <a:extLst>
              <a:ext uri="{FF2B5EF4-FFF2-40B4-BE49-F238E27FC236}">
                <a16:creationId xmlns:a16="http://schemas.microsoft.com/office/drawing/2014/main" id="{581A153C-4E9C-E3B3-2943-C3E1B5F13262}"/>
              </a:ext>
            </a:extLst>
          </p:cNvPr>
          <p:cNvPicPr>
            <a:picLocks noChangeAspect="1"/>
          </p:cNvPicPr>
          <p:nvPr/>
        </p:nvPicPr>
        <p:blipFill>
          <a:blip r:embed="rId5"/>
          <a:stretch>
            <a:fillRect/>
          </a:stretch>
        </p:blipFill>
        <p:spPr>
          <a:xfrm>
            <a:off x="3087221" y="925038"/>
            <a:ext cx="2960417" cy="2261814"/>
          </a:xfrm>
          <a:prstGeom prst="rect">
            <a:avLst/>
          </a:prstGeom>
          <a:ln>
            <a:noFill/>
          </a:ln>
          <a:effectLst>
            <a:outerShdw blurRad="292100" dist="139700" dir="2700000" algn="tl" rotWithShape="0">
              <a:srgbClr val="333333">
                <a:alpha val="65000"/>
              </a:srgbClr>
            </a:outerShdw>
          </a:effectLst>
        </p:spPr>
      </p:pic>
      <p:pic>
        <p:nvPicPr>
          <p:cNvPr id="15" name="Picture 14">
            <a:extLst>
              <a:ext uri="{FF2B5EF4-FFF2-40B4-BE49-F238E27FC236}">
                <a16:creationId xmlns:a16="http://schemas.microsoft.com/office/drawing/2014/main" id="{EB1A9DC4-EBAD-CA60-A431-E5DAA64F9700}"/>
              </a:ext>
            </a:extLst>
          </p:cNvPr>
          <p:cNvPicPr>
            <a:picLocks noChangeAspect="1"/>
          </p:cNvPicPr>
          <p:nvPr/>
        </p:nvPicPr>
        <p:blipFill>
          <a:blip r:embed="rId6"/>
          <a:stretch>
            <a:fillRect/>
          </a:stretch>
        </p:blipFill>
        <p:spPr>
          <a:xfrm>
            <a:off x="6250876" y="925037"/>
            <a:ext cx="2832202" cy="219773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6270460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AA118207-B188-E699-24AE-E467AA0E542E}"/>
                  </a:ext>
                </a:extLst>
              </p:cNvPr>
              <p:cNvSpPr>
                <a:spLocks noGrp="1"/>
              </p:cNvSpPr>
              <p:nvPr>
                <p:ph idx="1"/>
              </p:nvPr>
            </p:nvSpPr>
            <p:spPr/>
            <p:txBody>
              <a:bodyPr>
                <a:normAutofit/>
              </a:bodyPr>
              <a:lstStyle/>
              <a:p>
                <a:r>
                  <a:rPr lang="tr-TR"/>
                  <a:t>Varsayalım ki sadece 4 adet şehir ziyaret hakkımız vardır. Bu durumda kısıtlarımız nasıl değişecektir;</a:t>
                </a:r>
              </a:p>
              <a:p>
                <a:pPr/>
                <a14:m>
                  <m:oMathPara xmlns:m="http://schemas.openxmlformats.org/officeDocument/2006/math">
                    <m:oMathParaPr>
                      <m:jc m:val="left"/>
                    </m:oMathParaPr>
                    <m:oMath xmlns:m="http://schemas.openxmlformats.org/officeDocument/2006/math">
                      <m:sSub>
                        <m:sSubPr>
                          <m:ctrlPr>
                            <a:rPr lang="tr-TR" sz="1600" i="1" kern="0" smtClean="0">
                              <a:effectLst/>
                              <a:latin typeface="Cambria Math" panose="02040503050406030204" pitchFamily="18" charset="0"/>
                              <a:cs typeface="Times New Roman" panose="02020603050405020304" pitchFamily="18" charset="0"/>
                            </a:rPr>
                          </m:ctrlPr>
                        </m:sSubPr>
                        <m:e>
                          <m:r>
                            <a:rPr lang="tr-TR" sz="1600" b="0" i="1" kern="0" smtClean="0">
                              <a:effectLst/>
                              <a:latin typeface="Cambria Math" panose="02040503050406030204" pitchFamily="18" charset="0"/>
                              <a:cs typeface="Times New Roman" panose="02020603050405020304" pitchFamily="18" charset="0"/>
                            </a:rPr>
                            <m:t>𝑦</m:t>
                          </m:r>
                        </m:e>
                        <m:sub>
                          <m:r>
                            <a:rPr lang="tr-TR" sz="1600" b="0" i="1" kern="0" smtClean="0">
                              <a:effectLst/>
                              <a:latin typeface="Cambria Math" panose="02040503050406030204" pitchFamily="18" charset="0"/>
                              <a:cs typeface="Times New Roman" panose="02020603050405020304" pitchFamily="18" charset="0"/>
                            </a:rPr>
                            <m:t>𝑖</m:t>
                          </m:r>
                        </m:sub>
                      </m:sSub>
                      <m:r>
                        <a:rPr lang="tr-TR" sz="1600" b="0" i="1" kern="0" smtClean="0">
                          <a:effectLst/>
                          <a:latin typeface="Cambria Math" panose="02040503050406030204" pitchFamily="18" charset="0"/>
                          <a:cs typeface="Times New Roman" panose="02020603050405020304" pitchFamily="18" charset="0"/>
                        </a:rPr>
                        <m:t>:</m:t>
                      </m:r>
                      <m:r>
                        <a:rPr lang="tr-TR" sz="1600" b="0" i="1" kern="0" smtClean="0">
                          <a:effectLst/>
                          <a:latin typeface="Cambria Math" panose="02040503050406030204" pitchFamily="18" charset="0"/>
                          <a:cs typeface="Times New Roman" panose="02020603050405020304" pitchFamily="18" charset="0"/>
                        </a:rPr>
                        <m:t>𝑖</m:t>
                      </m:r>
                      <m:r>
                        <a:rPr lang="tr-TR" sz="1600" b="0" i="1" kern="0" smtClean="0">
                          <a:effectLst/>
                          <a:latin typeface="Cambria Math" panose="02040503050406030204" pitchFamily="18" charset="0"/>
                          <a:cs typeface="Times New Roman" panose="02020603050405020304" pitchFamily="18" charset="0"/>
                        </a:rPr>
                        <m:t> ş</m:t>
                      </m:r>
                      <m:r>
                        <a:rPr lang="tr-TR" sz="1600" b="0" i="1" kern="0" smtClean="0">
                          <a:effectLst/>
                          <a:latin typeface="Cambria Math" panose="02040503050406030204" pitchFamily="18" charset="0"/>
                          <a:cs typeface="Times New Roman" panose="02020603050405020304" pitchFamily="18" charset="0"/>
                        </a:rPr>
                        <m:t>𝑒h𝑟𝑖𝑛𝑑𝑒</m:t>
                      </m:r>
                      <m:r>
                        <a:rPr lang="tr-TR" sz="1600" b="0" i="1" kern="0" smtClean="0">
                          <a:effectLst/>
                          <a:latin typeface="Cambria Math" panose="02040503050406030204" pitchFamily="18" charset="0"/>
                          <a:cs typeface="Times New Roman" panose="02020603050405020304" pitchFamily="18" charset="0"/>
                        </a:rPr>
                        <m:t> </m:t>
                      </m:r>
                      <m:r>
                        <a:rPr lang="tr-TR" sz="1600" b="0" i="1" kern="0" smtClean="0">
                          <a:effectLst/>
                          <a:latin typeface="Cambria Math" panose="02040503050406030204" pitchFamily="18" charset="0"/>
                          <a:cs typeface="Times New Roman" panose="02020603050405020304" pitchFamily="18" charset="0"/>
                        </a:rPr>
                        <m:t>𝑜𝑙𝑢𝑛𝑚𝑢</m:t>
                      </m:r>
                      <m:r>
                        <a:rPr lang="tr-TR" sz="1600" b="0" i="1" kern="0" smtClean="0">
                          <a:effectLst/>
                          <a:latin typeface="Cambria Math" panose="02040503050406030204" pitchFamily="18" charset="0"/>
                          <a:cs typeface="Times New Roman" panose="02020603050405020304" pitchFamily="18" charset="0"/>
                        </a:rPr>
                        <m:t>ş</m:t>
                      </m:r>
                      <m:r>
                        <a:rPr lang="tr-TR" sz="1600" b="0" i="1" kern="0" smtClean="0">
                          <a:effectLst/>
                          <a:latin typeface="Cambria Math" panose="02040503050406030204" pitchFamily="18" charset="0"/>
                          <a:cs typeface="Times New Roman" panose="02020603050405020304" pitchFamily="18" charset="0"/>
                        </a:rPr>
                        <m:t>𝑠𝑎</m:t>
                      </m:r>
                      <m:r>
                        <a:rPr lang="tr-TR" sz="1600" b="0" i="1" kern="0" smtClean="0">
                          <a:effectLst/>
                          <a:latin typeface="Cambria Math" panose="02040503050406030204" pitchFamily="18" charset="0"/>
                          <a:cs typeface="Times New Roman" panose="02020603050405020304" pitchFamily="18" charset="0"/>
                        </a:rPr>
                        <m:t> 1 </m:t>
                      </m:r>
                      <m:r>
                        <a:rPr lang="tr-TR" sz="1600" b="0" i="1" kern="0" smtClean="0">
                          <a:effectLst/>
                          <a:latin typeface="Cambria Math" panose="02040503050406030204" pitchFamily="18" charset="0"/>
                          <a:cs typeface="Times New Roman" panose="02020603050405020304" pitchFamily="18" charset="0"/>
                        </a:rPr>
                        <m:t>𝑑𝑒</m:t>
                      </m:r>
                      <m:r>
                        <a:rPr lang="tr-TR" sz="1600" b="0" i="1" kern="0" smtClean="0">
                          <a:effectLst/>
                          <a:latin typeface="Cambria Math" panose="02040503050406030204" pitchFamily="18" charset="0"/>
                          <a:cs typeface="Times New Roman" panose="02020603050405020304" pitchFamily="18" charset="0"/>
                        </a:rPr>
                        <m:t>ğ</m:t>
                      </m:r>
                      <m:r>
                        <a:rPr lang="tr-TR" sz="1600" b="0" i="1" kern="0" smtClean="0">
                          <a:effectLst/>
                          <a:latin typeface="Cambria Math" panose="02040503050406030204" pitchFamily="18" charset="0"/>
                          <a:cs typeface="Times New Roman" panose="02020603050405020304" pitchFamily="18" charset="0"/>
                        </a:rPr>
                        <m:t>𝑖𝑙𝑠𝑒</m:t>
                      </m:r>
                      <m:r>
                        <a:rPr lang="tr-TR" sz="1600" b="0" i="1" kern="0" smtClean="0">
                          <a:effectLst/>
                          <a:latin typeface="Cambria Math" panose="02040503050406030204" pitchFamily="18" charset="0"/>
                          <a:cs typeface="Times New Roman" panose="02020603050405020304" pitchFamily="18" charset="0"/>
                        </a:rPr>
                        <m:t> 0</m:t>
                      </m:r>
                    </m:oMath>
                  </m:oMathPara>
                </a14:m>
                <a:endParaRPr lang="tr-TR"/>
              </a:p>
              <a:p>
                <a:pPr>
                  <a:lnSpc>
                    <a:spcPct val="107000"/>
                  </a:lnSpc>
                  <a:spcAft>
                    <a:spcPts val="800"/>
                  </a:spcAft>
                </a:pPr>
                <a:endParaRPr lang="tr-TR" sz="16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tr-TR" sz="16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tr-TR" sz="16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tr-TR" sz="1600" kern="100">
                  <a:effectLst/>
                  <a:latin typeface="Calibri" panose="020F0502020204030204" pitchFamily="34" charset="0"/>
                  <a:ea typeface="Calibri" panose="020F0502020204030204" pitchFamily="34" charset="0"/>
                  <a:cs typeface="Times New Roman" panose="02020603050405020304" pitchFamily="18" charset="0"/>
                </a:endParaRPr>
              </a:p>
              <a:p>
                <a:endParaRPr lang="tr-TR"/>
              </a:p>
              <a:p>
                <a:endParaRPr lang="tr-TR"/>
              </a:p>
              <a:p>
                <a:endParaRPr lang="tr-TR"/>
              </a:p>
              <a:p>
                <a:endParaRPr lang="tr-TR"/>
              </a:p>
            </p:txBody>
          </p:sp>
        </mc:Choice>
        <mc:Fallback xmlns="">
          <p:sp>
            <p:nvSpPr>
              <p:cNvPr id="2" name="Content Placeholder 1">
                <a:extLst>
                  <a:ext uri="{FF2B5EF4-FFF2-40B4-BE49-F238E27FC236}">
                    <a16:creationId xmlns:a16="http://schemas.microsoft.com/office/drawing/2014/main" id="{AA118207-B188-E699-24AE-E467AA0E542E}"/>
                  </a:ext>
                </a:extLst>
              </p:cNvPr>
              <p:cNvSpPr>
                <a:spLocks noGrp="1" noRot="1" noChangeAspect="1" noMove="1" noResize="1" noEditPoints="1" noAdjustHandles="1" noChangeArrowheads="1" noChangeShapeType="1" noTextEdit="1"/>
              </p:cNvSpPr>
              <p:nvPr>
                <p:ph idx="1"/>
              </p:nvPr>
            </p:nvSpPr>
            <p:spPr>
              <a:blipFill>
                <a:blip r:embed="rId2"/>
                <a:stretch>
                  <a:fillRect l="-435" t="-375"/>
                </a:stretch>
              </a:blipFill>
            </p:spPr>
            <p:txBody>
              <a:bodyPr/>
              <a:lstStyle/>
              <a:p>
                <a:r>
                  <a:rPr lang="tr-TR">
                    <a:noFill/>
                  </a:rPr>
                  <a:t> </a:t>
                </a:r>
              </a:p>
            </p:txBody>
          </p:sp>
        </mc:Fallback>
      </mc:AlternateContent>
      <p:sp>
        <p:nvSpPr>
          <p:cNvPr id="3" name="Title 2">
            <a:extLst>
              <a:ext uri="{FF2B5EF4-FFF2-40B4-BE49-F238E27FC236}">
                <a16:creationId xmlns:a16="http://schemas.microsoft.com/office/drawing/2014/main" id="{1E88C202-3B64-665E-173B-A95AB1FFE256}"/>
              </a:ext>
            </a:extLst>
          </p:cNvPr>
          <p:cNvSpPr>
            <a:spLocks noGrp="1"/>
          </p:cNvSpPr>
          <p:nvPr>
            <p:ph type="title"/>
          </p:nvPr>
        </p:nvSpPr>
        <p:spPr/>
        <p:txBody>
          <a:bodyPr/>
          <a:lstStyle/>
          <a:p>
            <a:r>
              <a:rPr lang="tr-TR"/>
              <a:t>Özel Kısıtlı Problemler</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11A0774-2A98-3948-C284-440832FC6040}"/>
                  </a:ext>
                </a:extLst>
              </p:cNvPr>
              <p:cNvSpPr txBox="1"/>
              <p:nvPr/>
            </p:nvSpPr>
            <p:spPr>
              <a:xfrm>
                <a:off x="220203" y="2352744"/>
                <a:ext cx="4576812" cy="2152512"/>
              </a:xfrm>
              <a:prstGeom prst="rect">
                <a:avLst/>
              </a:prstGeom>
              <a:noFill/>
            </p:spPr>
            <p:txBody>
              <a:bodyPr wrap="square">
                <a:spAutoFit/>
              </a:bodyPr>
              <a:lstStyle/>
              <a:p>
                <a:pPr algn="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𝐸</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𝐵𝑎</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𝐾</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smtClean="0">
                              <a:effectLst/>
                              <a:latin typeface="Cambria Math" panose="02040503050406030204" pitchFamily="18" charset="0"/>
                              <a:cs typeface="Times New Roman" panose="02020603050405020304" pitchFamily="18" charset="0"/>
                            </a:rPr>
                          </m:ctrlPr>
                        </m:sSubPr>
                        <m:e>
                          <m:r>
                            <a:rPr lang="tr-TR" sz="1800" b="0" i="1" kern="0" smtClean="0">
                              <a:effectLst/>
                              <a:latin typeface="Cambria Math" panose="02040503050406030204" pitchFamily="18" charset="0"/>
                              <a:cs typeface="Times New Roman" panose="02020603050405020304" pitchFamily="18" charset="0"/>
                            </a:rPr>
                            <m:t>𝑦</m:t>
                          </m:r>
                        </m:e>
                        <m:sub>
                          <m:r>
                            <a:rPr lang="tr-TR" sz="1800" b="0" i="1" kern="0" smtClean="0">
                              <a:effectLst/>
                              <a:latin typeface="Cambria Math" panose="02040503050406030204" pitchFamily="18" charset="0"/>
                              <a:cs typeface="Times New Roman" panose="02020603050405020304" pitchFamily="18" charset="0"/>
                            </a:rPr>
                            <m:t>𝐴</m:t>
                          </m:r>
                        </m:sub>
                      </m:sSub>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gn="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𝐸</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𝐵𝑎</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𝐾</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i="1" kern="0">
                              <a:latin typeface="Cambria Math" panose="02040503050406030204" pitchFamily="18" charset="0"/>
                              <a:cs typeface="Times New Roman" panose="02020603050405020304" pitchFamily="18" charset="0"/>
                            </a:rPr>
                          </m:ctrlPr>
                        </m:sSubPr>
                        <m:e>
                          <m:r>
                            <a:rPr lang="tr-TR" kern="0">
                              <a:latin typeface="Cambria Math" panose="02040503050406030204" pitchFamily="18" charset="0"/>
                              <a:cs typeface="Times New Roman" panose="02020603050405020304" pitchFamily="18" charset="0"/>
                            </a:rPr>
                            <m:t>𝑦</m:t>
                          </m:r>
                        </m:e>
                        <m:sub>
                          <m:r>
                            <a:rPr lang="tr-TR" b="0" i="1" kern="0" smtClean="0">
                              <a:latin typeface="Cambria Math" panose="02040503050406030204" pitchFamily="18" charset="0"/>
                              <a:cs typeface="Times New Roman" panose="02020603050405020304" pitchFamily="18" charset="0"/>
                            </a:rPr>
                            <m:t>𝐵</m:t>
                          </m:r>
                        </m:sub>
                      </m:sSub>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gn="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𝐸</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𝐸</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𝐸</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𝐵𝑎</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𝐸</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𝐾</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i="1" kern="0">
                              <a:latin typeface="Cambria Math" panose="02040503050406030204" pitchFamily="18" charset="0"/>
                              <a:cs typeface="Times New Roman" panose="02020603050405020304" pitchFamily="18" charset="0"/>
                            </a:rPr>
                          </m:ctrlPr>
                        </m:sSubPr>
                        <m:e>
                          <m:r>
                            <a:rPr lang="tr-TR" kern="0">
                              <a:latin typeface="Cambria Math" panose="02040503050406030204" pitchFamily="18" charset="0"/>
                              <a:cs typeface="Times New Roman" panose="02020603050405020304" pitchFamily="18" charset="0"/>
                            </a:rPr>
                            <m:t>𝑦</m:t>
                          </m:r>
                        </m:e>
                        <m:sub>
                          <m:r>
                            <a:rPr lang="tr-TR" b="0" i="1" kern="0" smtClean="0">
                              <a:latin typeface="Cambria Math" panose="02040503050406030204" pitchFamily="18" charset="0"/>
                              <a:cs typeface="Times New Roman" panose="02020603050405020304" pitchFamily="18" charset="0"/>
                            </a:rPr>
                            <m:t>𝐸</m:t>
                          </m:r>
                        </m:sub>
                      </m:sSub>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gn="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𝐵𝑎</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𝐵𝑎</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𝐵𝑎</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𝐸</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𝐵𝑎</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𝐾</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i="1" kern="0">
                              <a:latin typeface="Cambria Math" panose="02040503050406030204" pitchFamily="18" charset="0"/>
                              <a:cs typeface="Times New Roman" panose="02020603050405020304" pitchFamily="18" charset="0"/>
                            </a:rPr>
                          </m:ctrlPr>
                        </m:sSubPr>
                        <m:e>
                          <m:r>
                            <a:rPr lang="tr-TR" kern="0">
                              <a:latin typeface="Cambria Math" panose="02040503050406030204" pitchFamily="18" charset="0"/>
                              <a:cs typeface="Times New Roman" panose="02020603050405020304" pitchFamily="18" charset="0"/>
                            </a:rPr>
                            <m:t>𝑦</m:t>
                          </m:r>
                        </m:e>
                        <m:sub>
                          <m:r>
                            <a:rPr lang="tr-TR" b="0" i="1" kern="0" smtClean="0">
                              <a:latin typeface="Cambria Math" panose="02040503050406030204" pitchFamily="18" charset="0"/>
                              <a:cs typeface="Times New Roman" panose="02020603050405020304" pitchFamily="18" charset="0"/>
                            </a:rPr>
                            <m:t>𝐵𝑎</m:t>
                          </m:r>
                        </m:sub>
                      </m:sSub>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gn="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𝐾</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𝐾</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𝐾</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𝐸</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𝐾</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𝐵𝑎</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i="1" kern="0">
                              <a:latin typeface="Cambria Math" panose="02040503050406030204" pitchFamily="18" charset="0"/>
                              <a:cs typeface="Times New Roman" panose="02020603050405020304" pitchFamily="18" charset="0"/>
                            </a:rPr>
                          </m:ctrlPr>
                        </m:sSubPr>
                        <m:e>
                          <m:r>
                            <a:rPr lang="tr-TR" kern="0">
                              <a:latin typeface="Cambria Math" panose="02040503050406030204" pitchFamily="18" charset="0"/>
                              <a:cs typeface="Times New Roman" panose="02020603050405020304" pitchFamily="18" charset="0"/>
                            </a:rPr>
                            <m:t>𝑦</m:t>
                          </m:r>
                        </m:e>
                        <m:sub>
                          <m:r>
                            <a:rPr lang="tr-TR" b="0" i="1" kern="0" smtClean="0">
                              <a:latin typeface="Cambria Math" panose="02040503050406030204" pitchFamily="18" charset="0"/>
                              <a:cs typeface="Times New Roman" panose="02020603050405020304" pitchFamily="18" charset="0"/>
                            </a:rPr>
                            <m:t>𝐾</m:t>
                          </m:r>
                        </m:sub>
                      </m:sSub>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7" name="TextBox 6">
                <a:extLst>
                  <a:ext uri="{FF2B5EF4-FFF2-40B4-BE49-F238E27FC236}">
                    <a16:creationId xmlns:a16="http://schemas.microsoft.com/office/drawing/2014/main" id="{611A0774-2A98-3948-C284-440832FC6040}"/>
                  </a:ext>
                </a:extLst>
              </p:cNvPr>
              <p:cNvSpPr txBox="1">
                <a:spLocks noRot="1" noChangeAspect="1" noMove="1" noResize="1" noEditPoints="1" noAdjustHandles="1" noChangeArrowheads="1" noChangeShapeType="1" noTextEdit="1"/>
              </p:cNvSpPr>
              <p:nvPr/>
            </p:nvSpPr>
            <p:spPr>
              <a:xfrm>
                <a:off x="220203" y="2352744"/>
                <a:ext cx="4576812" cy="2152512"/>
              </a:xfrm>
              <a:prstGeom prst="rect">
                <a:avLst/>
              </a:prstGeom>
              <a:blipFill>
                <a:blip r:embed="rId3"/>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A5ECC2F-DC2A-E016-774E-A69C50558984}"/>
                  </a:ext>
                </a:extLst>
              </p:cNvPr>
              <p:cNvSpPr txBox="1"/>
              <p:nvPr/>
            </p:nvSpPr>
            <p:spPr>
              <a:xfrm>
                <a:off x="4283968" y="2352744"/>
                <a:ext cx="4576812" cy="2152512"/>
              </a:xfrm>
              <a:prstGeom prst="rect">
                <a:avLst/>
              </a:prstGeom>
              <a:noFill/>
            </p:spPr>
            <p:txBody>
              <a:bodyPr wrap="square">
                <a:sp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𝐸</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𝐵𝑎</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𝐾</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i="1" kern="0">
                              <a:latin typeface="Cambria Math" panose="02040503050406030204" pitchFamily="18" charset="0"/>
                              <a:cs typeface="Times New Roman" panose="02020603050405020304" pitchFamily="18" charset="0"/>
                            </a:rPr>
                          </m:ctrlPr>
                        </m:sSubPr>
                        <m:e>
                          <m:r>
                            <a:rPr lang="tr-TR" kern="0">
                              <a:latin typeface="Cambria Math" panose="02040503050406030204" pitchFamily="18" charset="0"/>
                              <a:cs typeface="Times New Roman" panose="02020603050405020304" pitchFamily="18" charset="0"/>
                            </a:rPr>
                            <m:t>𝑦</m:t>
                          </m:r>
                        </m:e>
                        <m:sub>
                          <m:r>
                            <a:rPr lang="tr-TR" kern="0">
                              <a:latin typeface="Cambria Math" panose="02040503050406030204" pitchFamily="18" charset="0"/>
                              <a:cs typeface="Times New Roman" panose="02020603050405020304" pitchFamily="18" charset="0"/>
                            </a:rPr>
                            <m:t>𝐴</m:t>
                          </m:r>
                        </m:sub>
                      </m:sSub>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𝐸</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𝐵𝑎</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𝐾</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i="1" kern="0">
                              <a:latin typeface="Cambria Math" panose="02040503050406030204" pitchFamily="18" charset="0"/>
                              <a:cs typeface="Times New Roman" panose="02020603050405020304" pitchFamily="18" charset="0"/>
                            </a:rPr>
                          </m:ctrlPr>
                        </m:sSubPr>
                        <m:e>
                          <m:r>
                            <a:rPr lang="tr-TR" kern="0">
                              <a:latin typeface="Cambria Math" panose="02040503050406030204" pitchFamily="18" charset="0"/>
                              <a:cs typeface="Times New Roman" panose="02020603050405020304" pitchFamily="18" charset="0"/>
                            </a:rPr>
                            <m:t>𝑦</m:t>
                          </m:r>
                        </m:e>
                        <m:sub>
                          <m:r>
                            <a:rPr lang="tr-TR" b="0" i="1" kern="0" smtClean="0">
                              <a:latin typeface="Cambria Math" panose="02040503050406030204" pitchFamily="18" charset="0"/>
                              <a:cs typeface="Times New Roman" panose="02020603050405020304" pitchFamily="18" charset="0"/>
                            </a:rPr>
                            <m:t>𝐵</m:t>
                          </m:r>
                        </m:sub>
                      </m:sSub>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𝐸</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𝐸</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𝐵𝑎</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𝐸</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𝐾</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𝐸</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i="1" kern="0">
                              <a:latin typeface="Cambria Math" panose="02040503050406030204" pitchFamily="18" charset="0"/>
                              <a:cs typeface="Times New Roman" panose="02020603050405020304" pitchFamily="18" charset="0"/>
                            </a:rPr>
                          </m:ctrlPr>
                        </m:sSubPr>
                        <m:e>
                          <m:r>
                            <a:rPr lang="tr-TR" kern="0">
                              <a:latin typeface="Cambria Math" panose="02040503050406030204" pitchFamily="18" charset="0"/>
                              <a:cs typeface="Times New Roman" panose="02020603050405020304" pitchFamily="18" charset="0"/>
                            </a:rPr>
                            <m:t>𝑦</m:t>
                          </m:r>
                        </m:e>
                        <m:sub>
                          <m:r>
                            <a:rPr lang="tr-TR" b="0" i="1" kern="0" smtClean="0">
                              <a:latin typeface="Cambria Math" panose="02040503050406030204" pitchFamily="18" charset="0"/>
                              <a:cs typeface="Times New Roman" panose="02020603050405020304" pitchFamily="18" charset="0"/>
                            </a:rPr>
                            <m:t>𝐸</m:t>
                          </m:r>
                        </m:sub>
                      </m:sSub>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𝐵𝑎</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𝐵𝑎</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𝐸</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𝐵𝑎</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𝐾</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𝐵𝑎</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i="1" kern="0">
                              <a:latin typeface="Cambria Math" panose="02040503050406030204" pitchFamily="18" charset="0"/>
                              <a:cs typeface="Times New Roman" panose="02020603050405020304" pitchFamily="18" charset="0"/>
                            </a:rPr>
                          </m:ctrlPr>
                        </m:sSubPr>
                        <m:e>
                          <m:r>
                            <a:rPr lang="tr-TR" kern="0">
                              <a:latin typeface="Cambria Math" panose="02040503050406030204" pitchFamily="18" charset="0"/>
                              <a:cs typeface="Times New Roman" panose="02020603050405020304" pitchFamily="18" charset="0"/>
                            </a:rPr>
                            <m:t>𝑦</m:t>
                          </m:r>
                        </m:e>
                        <m:sub>
                          <m:r>
                            <a:rPr lang="tr-TR" b="0" i="1" kern="0" smtClean="0">
                              <a:latin typeface="Cambria Math" panose="02040503050406030204" pitchFamily="18" charset="0"/>
                              <a:cs typeface="Times New Roman" panose="02020603050405020304" pitchFamily="18" charset="0"/>
                            </a:rPr>
                            <m:t>𝐵𝑎</m:t>
                          </m:r>
                        </m:sub>
                      </m:sSub>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𝐾</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𝐾</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𝐸</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𝐾</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𝐵𝑎</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𝐾</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i="1" kern="0">
                              <a:latin typeface="Cambria Math" panose="02040503050406030204" pitchFamily="18" charset="0"/>
                              <a:cs typeface="Times New Roman" panose="02020603050405020304" pitchFamily="18" charset="0"/>
                            </a:rPr>
                          </m:ctrlPr>
                        </m:sSubPr>
                        <m:e>
                          <m:r>
                            <a:rPr lang="tr-TR" kern="0">
                              <a:latin typeface="Cambria Math" panose="02040503050406030204" pitchFamily="18" charset="0"/>
                              <a:cs typeface="Times New Roman" panose="02020603050405020304" pitchFamily="18" charset="0"/>
                            </a:rPr>
                            <m:t>𝑦</m:t>
                          </m:r>
                        </m:e>
                        <m:sub>
                          <m:r>
                            <a:rPr lang="tr-TR" b="0" i="1" kern="0" smtClean="0">
                              <a:latin typeface="Cambria Math" panose="02040503050406030204" pitchFamily="18" charset="0"/>
                              <a:cs typeface="Times New Roman" panose="02020603050405020304" pitchFamily="18" charset="0"/>
                            </a:rPr>
                            <m:t>𝐾</m:t>
                          </m:r>
                        </m:sub>
                      </m:sSub>
                    </m:oMath>
                  </m:oMathPara>
                </a14:m>
                <a:endParaRPr lang="tr-TR"/>
              </a:p>
            </p:txBody>
          </p:sp>
        </mc:Choice>
        <mc:Fallback xmlns="">
          <p:sp>
            <p:nvSpPr>
              <p:cNvPr id="9" name="TextBox 8">
                <a:extLst>
                  <a:ext uri="{FF2B5EF4-FFF2-40B4-BE49-F238E27FC236}">
                    <a16:creationId xmlns:a16="http://schemas.microsoft.com/office/drawing/2014/main" id="{2A5ECC2F-DC2A-E016-774E-A69C50558984}"/>
                  </a:ext>
                </a:extLst>
              </p:cNvPr>
              <p:cNvSpPr txBox="1">
                <a:spLocks noRot="1" noChangeAspect="1" noMove="1" noResize="1" noEditPoints="1" noAdjustHandles="1" noChangeArrowheads="1" noChangeShapeType="1" noTextEdit="1"/>
              </p:cNvSpPr>
              <p:nvPr/>
            </p:nvSpPr>
            <p:spPr>
              <a:xfrm>
                <a:off x="4283968" y="2352744"/>
                <a:ext cx="4576812" cy="2152512"/>
              </a:xfrm>
              <a:prstGeom prst="rect">
                <a:avLst/>
              </a:prstGeom>
              <a:blipFill>
                <a:blip r:embed="rId4"/>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15BE00A-9BE8-6C6B-78E3-8F01129FDD7F}"/>
                  </a:ext>
                </a:extLst>
              </p:cNvPr>
              <p:cNvSpPr txBox="1"/>
              <p:nvPr/>
            </p:nvSpPr>
            <p:spPr>
              <a:xfrm>
                <a:off x="2123728" y="4520385"/>
                <a:ext cx="4576812" cy="491288"/>
              </a:xfrm>
              <a:prstGeom prst="rect">
                <a:avLst/>
              </a:prstGeom>
              <a:noFill/>
            </p:spPr>
            <p:txBody>
              <a:bodyPr wrap="square">
                <a:sp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smtClean="0">
                              <a:effectLst/>
                              <a:latin typeface="Cambria Math" panose="02040503050406030204" pitchFamily="18" charset="0"/>
                              <a:cs typeface="Times New Roman" panose="02020603050405020304" pitchFamily="18" charset="0"/>
                            </a:rPr>
                          </m:ctrlPr>
                        </m:sSubPr>
                        <m:e>
                          <m:r>
                            <a:rPr lang="tr-TR" sz="1800" b="0" i="1" kern="0" smtClean="0">
                              <a:effectLst/>
                              <a:latin typeface="Cambria Math" panose="02040503050406030204" pitchFamily="18" charset="0"/>
                              <a:cs typeface="Times New Roman" panose="02020603050405020304" pitchFamily="18" charset="0"/>
                            </a:rPr>
                            <m:t>𝑦</m:t>
                          </m:r>
                        </m:e>
                        <m:sub>
                          <m:r>
                            <a:rPr lang="tr-TR" sz="1800" b="0" i="1" kern="0" smtClean="0">
                              <a:effectLst/>
                              <a:latin typeface="Cambria Math" panose="02040503050406030204" pitchFamily="18" charset="0"/>
                              <a:cs typeface="Times New Roman" panose="02020603050405020304" pitchFamily="18" charset="0"/>
                            </a:rPr>
                            <m:t>𝐴</m:t>
                          </m:r>
                        </m:sub>
                      </m:sSub>
                      <m:r>
                        <a:rPr lang="tr-TR" sz="1800" b="0" i="1" kern="0" smtClean="0">
                          <a:effectLst/>
                          <a:latin typeface="Cambria Math" panose="02040503050406030204" pitchFamily="18" charset="0"/>
                          <a:cs typeface="Times New Roman" panose="02020603050405020304" pitchFamily="18" charset="0"/>
                        </a:rPr>
                        <m:t>+</m:t>
                      </m:r>
                      <m:sSub>
                        <m:sSubPr>
                          <m:ctrlPr>
                            <a:rPr lang="tr-TR" i="1" kern="0">
                              <a:latin typeface="Cambria Math" panose="02040503050406030204" pitchFamily="18" charset="0"/>
                              <a:cs typeface="Times New Roman" panose="02020603050405020304" pitchFamily="18" charset="0"/>
                            </a:rPr>
                          </m:ctrlPr>
                        </m:sSubPr>
                        <m:e>
                          <m:r>
                            <a:rPr lang="tr-TR" kern="0">
                              <a:latin typeface="Cambria Math" panose="02040503050406030204" pitchFamily="18" charset="0"/>
                              <a:cs typeface="Times New Roman" panose="02020603050405020304" pitchFamily="18" charset="0"/>
                            </a:rPr>
                            <m:t>𝑦</m:t>
                          </m:r>
                        </m:e>
                        <m:sub>
                          <m:r>
                            <a:rPr lang="tr-TR" b="0" i="1" kern="0" smtClean="0">
                              <a:latin typeface="Cambria Math" panose="02040503050406030204" pitchFamily="18" charset="0"/>
                              <a:cs typeface="Times New Roman" panose="02020603050405020304" pitchFamily="18" charset="0"/>
                            </a:rPr>
                            <m:t>𝐵</m:t>
                          </m:r>
                        </m:sub>
                      </m:sSub>
                      <m:r>
                        <a:rPr lang="tr-TR" b="0" i="1" kern="0" smtClean="0">
                          <a:latin typeface="Cambria Math" panose="02040503050406030204" pitchFamily="18" charset="0"/>
                          <a:cs typeface="Times New Roman" panose="02020603050405020304" pitchFamily="18" charset="0"/>
                        </a:rPr>
                        <m:t>+</m:t>
                      </m:r>
                      <m:sSub>
                        <m:sSubPr>
                          <m:ctrlPr>
                            <a:rPr lang="tr-TR" i="1" kern="0">
                              <a:latin typeface="Cambria Math" panose="02040503050406030204" pitchFamily="18" charset="0"/>
                              <a:cs typeface="Times New Roman" panose="02020603050405020304" pitchFamily="18" charset="0"/>
                            </a:rPr>
                          </m:ctrlPr>
                        </m:sSubPr>
                        <m:e>
                          <m:r>
                            <a:rPr lang="tr-TR" kern="0">
                              <a:latin typeface="Cambria Math" panose="02040503050406030204" pitchFamily="18" charset="0"/>
                              <a:cs typeface="Times New Roman" panose="02020603050405020304" pitchFamily="18" charset="0"/>
                            </a:rPr>
                            <m:t>𝑦</m:t>
                          </m:r>
                        </m:e>
                        <m:sub>
                          <m:r>
                            <a:rPr lang="tr-TR" b="0" i="1" kern="0" smtClean="0">
                              <a:latin typeface="Cambria Math" panose="02040503050406030204" pitchFamily="18" charset="0"/>
                              <a:cs typeface="Times New Roman" panose="02020603050405020304" pitchFamily="18" charset="0"/>
                            </a:rPr>
                            <m:t>𝐸</m:t>
                          </m:r>
                        </m:sub>
                      </m:sSub>
                      <m:r>
                        <a:rPr lang="tr-TR" b="0" i="1" kern="0" smtClean="0">
                          <a:latin typeface="Cambria Math" panose="02040503050406030204" pitchFamily="18" charset="0"/>
                          <a:cs typeface="Times New Roman" panose="02020603050405020304" pitchFamily="18" charset="0"/>
                        </a:rPr>
                        <m:t>+</m:t>
                      </m:r>
                      <m:sSub>
                        <m:sSubPr>
                          <m:ctrlPr>
                            <a:rPr lang="tr-TR" i="1" kern="0">
                              <a:latin typeface="Cambria Math" panose="02040503050406030204" pitchFamily="18" charset="0"/>
                              <a:cs typeface="Times New Roman" panose="02020603050405020304" pitchFamily="18" charset="0"/>
                            </a:rPr>
                          </m:ctrlPr>
                        </m:sSubPr>
                        <m:e>
                          <m:r>
                            <a:rPr lang="tr-TR" kern="0">
                              <a:latin typeface="Cambria Math" panose="02040503050406030204" pitchFamily="18" charset="0"/>
                              <a:cs typeface="Times New Roman" panose="02020603050405020304" pitchFamily="18" charset="0"/>
                            </a:rPr>
                            <m:t>𝑦</m:t>
                          </m:r>
                        </m:e>
                        <m:sub>
                          <m:r>
                            <a:rPr lang="tr-TR" b="0" i="1" kern="0" smtClean="0">
                              <a:latin typeface="Cambria Math" panose="02040503050406030204" pitchFamily="18" charset="0"/>
                              <a:cs typeface="Times New Roman" panose="02020603050405020304" pitchFamily="18" charset="0"/>
                            </a:rPr>
                            <m:t>𝐵𝑎</m:t>
                          </m:r>
                        </m:sub>
                      </m:sSub>
                      <m:r>
                        <a:rPr lang="tr-TR" b="0" i="1" kern="0" smtClean="0">
                          <a:latin typeface="Cambria Math" panose="02040503050406030204" pitchFamily="18" charset="0"/>
                          <a:cs typeface="Times New Roman" panose="02020603050405020304" pitchFamily="18" charset="0"/>
                        </a:rPr>
                        <m:t>+</m:t>
                      </m:r>
                      <m:sSub>
                        <m:sSubPr>
                          <m:ctrlPr>
                            <a:rPr lang="tr-TR" i="1" kern="0">
                              <a:latin typeface="Cambria Math" panose="02040503050406030204" pitchFamily="18" charset="0"/>
                              <a:cs typeface="Times New Roman" panose="02020603050405020304" pitchFamily="18" charset="0"/>
                            </a:rPr>
                          </m:ctrlPr>
                        </m:sSubPr>
                        <m:e>
                          <m:r>
                            <a:rPr lang="tr-TR" kern="0">
                              <a:latin typeface="Cambria Math" panose="02040503050406030204" pitchFamily="18" charset="0"/>
                              <a:cs typeface="Times New Roman" panose="02020603050405020304" pitchFamily="18" charset="0"/>
                            </a:rPr>
                            <m:t>𝑦</m:t>
                          </m:r>
                        </m:e>
                        <m:sub>
                          <m:r>
                            <a:rPr lang="tr-TR" b="0" i="1" kern="0" smtClean="0">
                              <a:latin typeface="Cambria Math" panose="02040503050406030204" pitchFamily="18" charset="0"/>
                              <a:cs typeface="Times New Roman" panose="02020603050405020304" pitchFamily="18" charset="0"/>
                            </a:rPr>
                            <m:t>𝐾</m:t>
                          </m:r>
                        </m:sub>
                      </m:sSub>
                      <m:r>
                        <a:rPr lang="tr-TR" b="0" i="1" kern="0" smtClean="0">
                          <a:latin typeface="Cambria Math" panose="02040503050406030204" pitchFamily="18" charset="0"/>
                          <a:cs typeface="Times New Roman" panose="02020603050405020304" pitchFamily="18" charset="0"/>
                        </a:rPr>
                        <m:t>=4</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1" name="TextBox 10">
                <a:extLst>
                  <a:ext uri="{FF2B5EF4-FFF2-40B4-BE49-F238E27FC236}">
                    <a16:creationId xmlns:a16="http://schemas.microsoft.com/office/drawing/2014/main" id="{315BE00A-9BE8-6C6B-78E3-8F01129FDD7F}"/>
                  </a:ext>
                </a:extLst>
              </p:cNvPr>
              <p:cNvSpPr txBox="1">
                <a:spLocks noRot="1" noChangeAspect="1" noMove="1" noResize="1" noEditPoints="1" noAdjustHandles="1" noChangeArrowheads="1" noChangeShapeType="1" noTextEdit="1"/>
              </p:cNvSpPr>
              <p:nvPr/>
            </p:nvSpPr>
            <p:spPr>
              <a:xfrm>
                <a:off x="2123728" y="4520385"/>
                <a:ext cx="4576812" cy="491288"/>
              </a:xfrm>
              <a:prstGeom prst="rect">
                <a:avLst/>
              </a:prstGeom>
              <a:blipFill>
                <a:blip r:embed="rId5"/>
                <a:stretch>
                  <a:fillRect/>
                </a:stretch>
              </a:blipFill>
            </p:spPr>
            <p:txBody>
              <a:bodyPr/>
              <a:lstStyle/>
              <a:p>
                <a:r>
                  <a:rPr lang="tr-TR">
                    <a:noFill/>
                  </a:rPr>
                  <a:t> </a:t>
                </a:r>
              </a:p>
            </p:txBody>
          </p:sp>
        </mc:Fallback>
      </mc:AlternateContent>
    </p:spTree>
    <p:extLst>
      <p:ext uri="{BB962C8B-B14F-4D97-AF65-F5344CB8AC3E}">
        <p14:creationId xmlns:p14="http://schemas.microsoft.com/office/powerpoint/2010/main" val="18770252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16649244-0403-F243-696C-BAC44EB7B004}"/>
              </a:ext>
            </a:extLst>
          </p:cNvPr>
          <p:cNvGraphicFramePr>
            <a:graphicFrameLocks noGrp="1"/>
          </p:cNvGraphicFramePr>
          <p:nvPr>
            <p:ph idx="1"/>
          </p:nvPr>
        </p:nvGraphicFramePr>
        <p:xfrm>
          <a:off x="1763688" y="3358794"/>
          <a:ext cx="5578287" cy="1798320"/>
        </p:xfrm>
        <a:graphic>
          <a:graphicData uri="http://schemas.openxmlformats.org/drawingml/2006/table">
            <a:tbl>
              <a:tblPr/>
              <a:tblGrid>
                <a:gridCol w="819341">
                  <a:extLst>
                    <a:ext uri="{9D8B030D-6E8A-4147-A177-3AD203B41FA5}">
                      <a16:colId xmlns:a16="http://schemas.microsoft.com/office/drawing/2014/main" val="1501086448"/>
                    </a:ext>
                  </a:extLst>
                </a:gridCol>
                <a:gridCol w="1063816">
                  <a:extLst>
                    <a:ext uri="{9D8B030D-6E8A-4147-A177-3AD203B41FA5}">
                      <a16:colId xmlns:a16="http://schemas.microsoft.com/office/drawing/2014/main" val="616154272"/>
                    </a:ext>
                  </a:extLst>
                </a:gridCol>
                <a:gridCol w="1042035">
                  <a:extLst>
                    <a:ext uri="{9D8B030D-6E8A-4147-A177-3AD203B41FA5}">
                      <a16:colId xmlns:a16="http://schemas.microsoft.com/office/drawing/2014/main" val="1979080564"/>
                    </a:ext>
                  </a:extLst>
                </a:gridCol>
                <a:gridCol w="822071">
                  <a:extLst>
                    <a:ext uri="{9D8B030D-6E8A-4147-A177-3AD203B41FA5}">
                      <a16:colId xmlns:a16="http://schemas.microsoft.com/office/drawing/2014/main" val="2798300744"/>
                    </a:ext>
                  </a:extLst>
                </a:gridCol>
                <a:gridCol w="914718">
                  <a:extLst>
                    <a:ext uri="{9D8B030D-6E8A-4147-A177-3AD203B41FA5}">
                      <a16:colId xmlns:a16="http://schemas.microsoft.com/office/drawing/2014/main" val="3703652514"/>
                    </a:ext>
                  </a:extLst>
                </a:gridCol>
                <a:gridCol w="916306">
                  <a:extLst>
                    <a:ext uri="{9D8B030D-6E8A-4147-A177-3AD203B41FA5}">
                      <a16:colId xmlns:a16="http://schemas.microsoft.com/office/drawing/2014/main" val="3491417968"/>
                    </a:ext>
                  </a:extLst>
                </a:gridCol>
              </a:tblGrid>
              <a:tr h="133350">
                <a:tc>
                  <a:txBody>
                    <a:bodyPr/>
                    <a:lstStyle/>
                    <a:p>
                      <a:pPr rtl="0" fontAlgn="b">
                        <a:buNone/>
                      </a:pPr>
                      <a:r>
                        <a:rPr lang="tr-TR">
                          <a:effectLst/>
                        </a:rPr>
                        <a:t>Şehir</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rtl="0" fontAlgn="b">
                        <a:buNone/>
                      </a:pPr>
                      <a:r>
                        <a:rPr lang="tr-TR">
                          <a:effectLst/>
                        </a:rPr>
                        <a:t>İstanbul (İ)</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rtl="0" fontAlgn="b">
                        <a:buNone/>
                      </a:pPr>
                      <a:r>
                        <a:rPr lang="tr-TR">
                          <a:effectLst/>
                        </a:rPr>
                        <a:t>Ankara (A)</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rtl="0" fontAlgn="b">
                        <a:buNone/>
                      </a:pPr>
                      <a:r>
                        <a:rPr lang="tr-TR">
                          <a:effectLst/>
                        </a:rPr>
                        <a:t>Urfa (U)</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rtl="0" fontAlgn="b">
                        <a:buNone/>
                      </a:pPr>
                      <a:r>
                        <a:rPr lang="tr-TR">
                          <a:effectLst/>
                        </a:rPr>
                        <a:t>Bursa (B)</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rtl="0" fontAlgn="b">
                        <a:buNone/>
                      </a:pPr>
                      <a:r>
                        <a:rPr lang="tr-TR">
                          <a:effectLst/>
                        </a:rPr>
                        <a:t>Konya (K)</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893177088"/>
                  </a:ext>
                </a:extLst>
              </a:tr>
              <a:tr h="133350">
                <a:tc>
                  <a:txBody>
                    <a:bodyPr/>
                    <a:lstStyle/>
                    <a:p>
                      <a:pPr rtl="0" fontAlgn="b">
                        <a:buNone/>
                      </a:pPr>
                      <a:r>
                        <a:rPr lang="tr-TR">
                          <a:effectLst/>
                        </a:rPr>
                        <a:t>İstanbul</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tr-TR">
                          <a:effectLst/>
                        </a:rPr>
                        <a:t>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tr-TR">
                          <a:effectLst/>
                        </a:rPr>
                        <a:t>400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tr-TR">
                          <a:effectLst/>
                        </a:rPr>
                        <a:t>600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tr-TR">
                          <a:effectLst/>
                        </a:rPr>
                        <a:t>250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tr-TR">
                          <a:effectLst/>
                        </a:rPr>
                        <a:t>1000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727348016"/>
                  </a:ext>
                </a:extLst>
              </a:tr>
              <a:tr h="133350">
                <a:tc>
                  <a:txBody>
                    <a:bodyPr/>
                    <a:lstStyle/>
                    <a:p>
                      <a:pPr rtl="0" fontAlgn="b">
                        <a:buNone/>
                      </a:pPr>
                      <a:r>
                        <a:rPr lang="tr-TR">
                          <a:effectLst/>
                        </a:rPr>
                        <a:t>Ankara</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tr-TR">
                          <a:effectLst/>
                        </a:rPr>
                        <a:t>400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tr-TR">
                          <a:effectLst/>
                        </a:rPr>
                        <a:t>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tr-TR">
                          <a:effectLst/>
                        </a:rPr>
                        <a:t>900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tr-TR">
                          <a:effectLst/>
                        </a:rPr>
                        <a:t>650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tr-TR">
                          <a:effectLst/>
                        </a:rPr>
                        <a:t>800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673290053"/>
                  </a:ext>
                </a:extLst>
              </a:tr>
              <a:tr h="133350">
                <a:tc>
                  <a:txBody>
                    <a:bodyPr/>
                    <a:lstStyle/>
                    <a:p>
                      <a:pPr rtl="0" fontAlgn="b">
                        <a:buNone/>
                      </a:pPr>
                      <a:r>
                        <a:rPr lang="tr-TR">
                          <a:effectLst/>
                        </a:rPr>
                        <a:t>Urfa</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tr-TR">
                          <a:effectLst/>
                        </a:rPr>
                        <a:t>600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tr-TR">
                          <a:effectLst/>
                        </a:rPr>
                        <a:t>900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tr-TR">
                          <a:effectLst/>
                        </a:rPr>
                        <a:t>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tr-TR">
                          <a:effectLst/>
                        </a:rPr>
                        <a:t>700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tr-TR">
                          <a:effectLst/>
                        </a:rPr>
                        <a:t>750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897250137"/>
                  </a:ext>
                </a:extLst>
              </a:tr>
              <a:tr h="133350">
                <a:tc>
                  <a:txBody>
                    <a:bodyPr/>
                    <a:lstStyle/>
                    <a:p>
                      <a:pPr rtl="0" fontAlgn="b">
                        <a:buNone/>
                      </a:pPr>
                      <a:r>
                        <a:rPr lang="tr-TR">
                          <a:effectLst/>
                        </a:rPr>
                        <a:t>Bursa</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tr-TR">
                          <a:effectLst/>
                        </a:rPr>
                        <a:t>250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tr-TR">
                          <a:effectLst/>
                        </a:rPr>
                        <a:t>650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tr-TR">
                          <a:effectLst/>
                        </a:rPr>
                        <a:t>700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tr-TR">
                          <a:effectLst/>
                        </a:rPr>
                        <a:t>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tr-TR">
                          <a:effectLst/>
                        </a:rPr>
                        <a:t>950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048613391"/>
                  </a:ext>
                </a:extLst>
              </a:tr>
              <a:tr h="133350">
                <a:tc>
                  <a:txBody>
                    <a:bodyPr/>
                    <a:lstStyle/>
                    <a:p>
                      <a:pPr rtl="0" fontAlgn="b">
                        <a:buNone/>
                      </a:pPr>
                      <a:r>
                        <a:rPr lang="tr-TR">
                          <a:effectLst/>
                        </a:rPr>
                        <a:t>Konya</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tr-TR">
                          <a:effectLst/>
                        </a:rPr>
                        <a:t>1000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tr-TR">
                          <a:effectLst/>
                        </a:rPr>
                        <a:t>800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tr-TR">
                          <a:effectLst/>
                        </a:rPr>
                        <a:t>750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tr-TR">
                          <a:effectLst/>
                        </a:rPr>
                        <a:t>950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tr-TR">
                          <a:effectLst/>
                        </a:rPr>
                        <a:t>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679231886"/>
                  </a:ext>
                </a:extLst>
              </a:tr>
            </a:tbl>
          </a:graphicData>
        </a:graphic>
      </p:graphicFrame>
      <p:sp>
        <p:nvSpPr>
          <p:cNvPr id="3" name="Title 2">
            <a:extLst>
              <a:ext uri="{FF2B5EF4-FFF2-40B4-BE49-F238E27FC236}">
                <a16:creationId xmlns:a16="http://schemas.microsoft.com/office/drawing/2014/main" id="{318118FB-7A88-E8F2-F337-26710D2EC262}"/>
              </a:ext>
            </a:extLst>
          </p:cNvPr>
          <p:cNvSpPr>
            <a:spLocks noGrp="1"/>
          </p:cNvSpPr>
          <p:nvPr>
            <p:ph type="title"/>
          </p:nvPr>
        </p:nvSpPr>
        <p:spPr/>
        <p:txBody>
          <a:bodyPr/>
          <a:lstStyle/>
          <a:p>
            <a:r>
              <a:rPr lang="tr-TR"/>
              <a:t>Maliyet Kısıtı Altında Şehir Sayısını Maksimize Etme</a:t>
            </a:r>
          </a:p>
        </p:txBody>
      </p:sp>
      <p:sp>
        <p:nvSpPr>
          <p:cNvPr id="6" name="TextBox 5">
            <a:extLst>
              <a:ext uri="{FF2B5EF4-FFF2-40B4-BE49-F238E27FC236}">
                <a16:creationId xmlns:a16="http://schemas.microsoft.com/office/drawing/2014/main" id="{9B93089F-6789-B716-DEDE-D17D208D6E6C}"/>
              </a:ext>
            </a:extLst>
          </p:cNvPr>
          <p:cNvSpPr txBox="1"/>
          <p:nvPr/>
        </p:nvSpPr>
        <p:spPr>
          <a:xfrm>
            <a:off x="395536" y="1198632"/>
            <a:ext cx="8496944" cy="1754326"/>
          </a:xfrm>
          <a:prstGeom prst="rect">
            <a:avLst/>
          </a:prstGeom>
          <a:noFill/>
        </p:spPr>
        <p:txBody>
          <a:bodyPr wrap="square">
            <a:spAutoFit/>
          </a:bodyPr>
          <a:lstStyle/>
          <a:p>
            <a:pPr>
              <a:buNone/>
            </a:pPr>
            <a:r>
              <a:rPr lang="tr-TR"/>
              <a:t>Bu problemin temel amacı, sınırlı bir bütçe ile mümkün olduğunca çok şehri ziyaret ederek turu tamamlamaktır.</a:t>
            </a:r>
          </a:p>
          <a:p>
            <a:pPr>
              <a:buNone/>
            </a:pPr>
            <a:endParaRPr lang="tr-TR"/>
          </a:p>
          <a:p>
            <a:pPr>
              <a:buFont typeface="Arial" panose="020B0604020202020204" pitchFamily="34" charset="0"/>
              <a:buChar char="•"/>
            </a:pPr>
            <a:r>
              <a:rPr lang="tr-TR" b="1"/>
              <a:t>Problem:</a:t>
            </a:r>
            <a:r>
              <a:rPr lang="tr-TR"/>
              <a:t> Elimizde bir dizi şehir ve her bir şehir arasındaki gidiş-dönüş maliyetleri               bulunmaktadır. Turumuza İstanbul'dan başlayıp, maliyet kısıtı dahilinde maksimum sayıda  şehri ziyaret ederek turumuzu tamamlamamız gerekmektedir.</a:t>
            </a:r>
          </a:p>
        </p:txBody>
      </p:sp>
    </p:spTree>
    <p:extLst>
      <p:ext uri="{BB962C8B-B14F-4D97-AF65-F5344CB8AC3E}">
        <p14:creationId xmlns:p14="http://schemas.microsoft.com/office/powerpoint/2010/main" val="37013526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05DAD-A93D-70D9-737A-5643F5623415}"/>
              </a:ext>
            </a:extLst>
          </p:cNvPr>
          <p:cNvSpPr>
            <a:spLocks noGrp="1"/>
          </p:cNvSpPr>
          <p:nvPr>
            <p:ph type="title"/>
          </p:nvPr>
        </p:nvSpPr>
        <p:spPr/>
        <p:txBody>
          <a:bodyPr/>
          <a:lstStyle/>
          <a:p>
            <a:endParaRPr lang="tr-TR"/>
          </a:p>
        </p:txBody>
      </p:sp>
      <p:pic>
        <p:nvPicPr>
          <p:cNvPr id="5" name="Picture 4">
            <a:extLst>
              <a:ext uri="{FF2B5EF4-FFF2-40B4-BE49-F238E27FC236}">
                <a16:creationId xmlns:a16="http://schemas.microsoft.com/office/drawing/2014/main" id="{E126C5F3-1F2E-CA12-3A5A-1848764AB825}"/>
              </a:ext>
            </a:extLst>
          </p:cNvPr>
          <p:cNvPicPr>
            <a:picLocks noChangeAspect="1"/>
          </p:cNvPicPr>
          <p:nvPr/>
        </p:nvPicPr>
        <p:blipFill>
          <a:blip r:embed="rId2"/>
          <a:stretch>
            <a:fillRect/>
          </a:stretch>
        </p:blipFill>
        <p:spPr>
          <a:xfrm>
            <a:off x="395536" y="1052737"/>
            <a:ext cx="4176464" cy="1649076"/>
          </a:xfrm>
          <a:prstGeom prst="rect">
            <a:avLst/>
          </a:prstGeom>
        </p:spPr>
      </p:pic>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2994B22F-7560-F9F6-F037-61E2BE8C53CF}"/>
                  </a:ext>
                </a:extLst>
              </p:cNvPr>
              <p:cNvSpPr txBox="1"/>
              <p:nvPr/>
            </p:nvSpPr>
            <p:spPr>
              <a:xfrm>
                <a:off x="2267744" y="4941168"/>
                <a:ext cx="3483582" cy="276999"/>
              </a:xfrm>
              <a:prstGeom prst="rect">
                <a:avLst/>
              </a:prstGeom>
              <a:noFill/>
            </p:spPr>
            <p:txBody>
              <a:bodyPr wrap="none" lIns="0" tIns="0" rIns="0" bIns="0" rtlCol="0">
                <a:spAutoFit/>
              </a:bodyPr>
              <a:lstStyle/>
              <a:p>
                <a14:m>
                  <m:oMath xmlns:m="http://schemas.openxmlformats.org/officeDocument/2006/math">
                    <m:r>
                      <a:rPr lang="tr-TR" b="0" i="1" smtClean="0">
                        <a:latin typeface="Cambria Math" panose="02040503050406030204" pitchFamily="18" charset="0"/>
                      </a:rPr>
                      <m:t>𝑀𝑎𝑥</m:t>
                    </m:r>
                    <m:r>
                      <a:rPr lang="tr-TR" b="0" i="1" smtClean="0">
                        <a:latin typeface="Cambria Math" panose="02040503050406030204" pitchFamily="18" charset="0"/>
                      </a:rPr>
                      <m:t> </m:t>
                    </m:r>
                    <m:r>
                      <a:rPr lang="tr-TR" b="0" i="1" smtClean="0">
                        <a:latin typeface="Cambria Math" panose="02040503050406030204" pitchFamily="18" charset="0"/>
                      </a:rPr>
                      <m:t>𝑍</m:t>
                    </m:r>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𝑦</m:t>
                        </m:r>
                      </m:e>
                      <m:sub>
                        <m:r>
                          <a:rPr lang="tr-TR" b="0" i="1" smtClean="0">
                            <a:latin typeface="Cambria Math" panose="02040503050406030204" pitchFamily="18" charset="0"/>
                          </a:rPr>
                          <m:t>𝑎</m:t>
                        </m:r>
                      </m:sub>
                    </m:sSub>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𝑦</m:t>
                        </m:r>
                      </m:e>
                      <m:sub>
                        <m:r>
                          <a:rPr lang="tr-TR" b="0" i="1" smtClean="0">
                            <a:latin typeface="Cambria Math" panose="02040503050406030204" pitchFamily="18" charset="0"/>
                          </a:rPr>
                          <m:t>𝑢</m:t>
                        </m:r>
                      </m:sub>
                    </m:sSub>
                    <m:r>
                      <a:rPr lang="tr-TR" b="0" i="1" smtClean="0">
                        <a:latin typeface="Cambria Math" panose="02040503050406030204" pitchFamily="18" charset="0"/>
                      </a:rPr>
                      <m:t>+</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𝑦</m:t>
                        </m:r>
                      </m:e>
                      <m:sub>
                        <m:r>
                          <a:rPr lang="tr-TR" b="0" i="1" smtClean="0">
                            <a:latin typeface="Cambria Math" panose="02040503050406030204" pitchFamily="18" charset="0"/>
                          </a:rPr>
                          <m:t>𝑏</m:t>
                        </m:r>
                      </m:sub>
                    </m:sSub>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𝑦</m:t>
                        </m:r>
                      </m:e>
                      <m:sub>
                        <m:r>
                          <a:rPr lang="tr-TR" b="0" i="1" smtClean="0">
                            <a:latin typeface="Cambria Math" panose="02040503050406030204" pitchFamily="18" charset="0"/>
                          </a:rPr>
                          <m:t>𝑘</m:t>
                        </m:r>
                        <m:r>
                          <a:rPr lang="tr-TR" b="0" i="1" smtClean="0">
                            <a:latin typeface="Cambria Math" panose="02040503050406030204" pitchFamily="18" charset="0"/>
                          </a:rPr>
                          <m:t> </m:t>
                        </m:r>
                      </m:sub>
                    </m:sSub>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𝑦</m:t>
                        </m:r>
                      </m:e>
                      <m:sub>
                        <m:r>
                          <a:rPr lang="tr-TR" b="0" i="1" smtClean="0">
                            <a:latin typeface="Cambria Math" panose="02040503050406030204" pitchFamily="18" charset="0"/>
                          </a:rPr>
                          <m:t>𝑖</m:t>
                        </m:r>
                      </m:sub>
                    </m:sSub>
                  </m:oMath>
                </a14:m>
                <a:r>
                  <a:rPr lang="tr-TR"/>
                  <a:t> </a:t>
                </a:r>
              </a:p>
            </p:txBody>
          </p:sp>
        </mc:Choice>
        <mc:Fallback>
          <p:sp>
            <p:nvSpPr>
              <p:cNvPr id="8" name="TextBox 7">
                <a:extLst>
                  <a:ext uri="{FF2B5EF4-FFF2-40B4-BE49-F238E27FC236}">
                    <a16:creationId xmlns:a16="http://schemas.microsoft.com/office/drawing/2014/main" id="{2994B22F-7560-F9F6-F037-61E2BE8C53CF}"/>
                  </a:ext>
                </a:extLst>
              </p:cNvPr>
              <p:cNvSpPr txBox="1">
                <a:spLocks noRot="1" noChangeAspect="1" noMove="1" noResize="1" noEditPoints="1" noAdjustHandles="1" noChangeArrowheads="1" noChangeShapeType="1" noTextEdit="1"/>
              </p:cNvSpPr>
              <p:nvPr/>
            </p:nvSpPr>
            <p:spPr>
              <a:xfrm>
                <a:off x="2267744" y="4941168"/>
                <a:ext cx="3483582" cy="276999"/>
              </a:xfrm>
              <a:prstGeom prst="rect">
                <a:avLst/>
              </a:prstGeom>
              <a:blipFill>
                <a:blip r:embed="rId3"/>
                <a:stretch>
                  <a:fillRect l="-2277" b="-26667"/>
                </a:stretch>
              </a:blipFill>
            </p:spPr>
            <p:txBody>
              <a:bodyPr/>
              <a:lstStyle/>
              <a:p>
                <a:r>
                  <a:rPr lang="tr-TR">
                    <a:noFill/>
                  </a:rPr>
                  <a:t> </a:t>
                </a:r>
              </a:p>
            </p:txBody>
          </p:sp>
        </mc:Fallback>
      </mc:AlternateContent>
      <p:pic>
        <p:nvPicPr>
          <p:cNvPr id="11" name="Picture 10">
            <a:extLst>
              <a:ext uri="{FF2B5EF4-FFF2-40B4-BE49-F238E27FC236}">
                <a16:creationId xmlns:a16="http://schemas.microsoft.com/office/drawing/2014/main" id="{01D53040-EA98-4CCE-6735-6DFEDC730F0F}"/>
              </a:ext>
            </a:extLst>
          </p:cNvPr>
          <p:cNvPicPr>
            <a:picLocks noChangeAspect="1"/>
          </p:cNvPicPr>
          <p:nvPr/>
        </p:nvPicPr>
        <p:blipFill>
          <a:blip r:embed="rId4"/>
          <a:stretch>
            <a:fillRect/>
          </a:stretch>
        </p:blipFill>
        <p:spPr>
          <a:xfrm>
            <a:off x="5982007" y="995587"/>
            <a:ext cx="2791215" cy="1667108"/>
          </a:xfrm>
          <a:prstGeom prst="rect">
            <a:avLst/>
          </a:prstGeom>
        </p:spPr>
      </p:pic>
      <p:pic>
        <p:nvPicPr>
          <p:cNvPr id="13" name="Picture 12">
            <a:extLst>
              <a:ext uri="{FF2B5EF4-FFF2-40B4-BE49-F238E27FC236}">
                <a16:creationId xmlns:a16="http://schemas.microsoft.com/office/drawing/2014/main" id="{801EF5DE-E362-31AA-2DF1-3B64FF43C7D2}"/>
              </a:ext>
            </a:extLst>
          </p:cNvPr>
          <p:cNvPicPr>
            <a:picLocks noChangeAspect="1"/>
          </p:cNvPicPr>
          <p:nvPr/>
        </p:nvPicPr>
        <p:blipFill>
          <a:blip r:embed="rId5"/>
          <a:stretch>
            <a:fillRect/>
          </a:stretch>
        </p:blipFill>
        <p:spPr>
          <a:xfrm>
            <a:off x="6010956" y="2923405"/>
            <a:ext cx="2781688" cy="1667108"/>
          </a:xfrm>
          <a:prstGeom prst="rect">
            <a:avLst/>
          </a:prstGeom>
        </p:spPr>
      </p:pic>
    </p:spTree>
    <p:extLst>
      <p:ext uri="{BB962C8B-B14F-4D97-AF65-F5344CB8AC3E}">
        <p14:creationId xmlns:p14="http://schemas.microsoft.com/office/powerpoint/2010/main" val="1512426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E05EE74-730D-2FE3-AFA5-1AE494CB67A2}"/>
              </a:ext>
            </a:extLst>
          </p:cNvPr>
          <p:cNvPicPr>
            <a:picLocks noChangeAspect="1"/>
          </p:cNvPicPr>
          <p:nvPr/>
        </p:nvPicPr>
        <p:blipFill>
          <a:blip r:embed="rId2"/>
          <a:stretch>
            <a:fillRect/>
          </a:stretch>
        </p:blipFill>
        <p:spPr>
          <a:xfrm>
            <a:off x="1416432" y="908720"/>
            <a:ext cx="6311135" cy="3603969"/>
          </a:xfrm>
          <a:prstGeom prst="rect">
            <a:avLst/>
          </a:prstGeom>
        </p:spPr>
      </p:pic>
      <p:sp>
        <p:nvSpPr>
          <p:cNvPr id="3" name="Title 2">
            <a:extLst>
              <a:ext uri="{FF2B5EF4-FFF2-40B4-BE49-F238E27FC236}">
                <a16:creationId xmlns:a16="http://schemas.microsoft.com/office/drawing/2014/main" id="{25BCEE20-9E0B-67D6-4B2A-BBDF2B6261EC}"/>
              </a:ext>
            </a:extLst>
          </p:cNvPr>
          <p:cNvSpPr>
            <a:spLocks noGrp="1"/>
          </p:cNvSpPr>
          <p:nvPr>
            <p:ph type="title"/>
          </p:nvPr>
        </p:nvSpPr>
        <p:spPr/>
        <p:txBody>
          <a:bodyPr/>
          <a:lstStyle/>
          <a:p>
            <a:endParaRPr lang="tr-TR"/>
          </a:p>
        </p:txBody>
      </p:sp>
      <p:graphicFrame>
        <p:nvGraphicFramePr>
          <p:cNvPr id="2" name="Diagram 1">
            <a:extLst>
              <a:ext uri="{FF2B5EF4-FFF2-40B4-BE49-F238E27FC236}">
                <a16:creationId xmlns:a16="http://schemas.microsoft.com/office/drawing/2014/main" id="{5CF9BDD2-5A63-5067-E869-A5D69B56E625}"/>
              </a:ext>
            </a:extLst>
          </p:cNvPr>
          <p:cNvGraphicFramePr/>
          <p:nvPr>
            <p:extLst>
              <p:ext uri="{D42A27DB-BD31-4B8C-83A1-F6EECF244321}">
                <p14:modId xmlns:p14="http://schemas.microsoft.com/office/powerpoint/2010/main" val="1801413321"/>
              </p:ext>
            </p:extLst>
          </p:nvPr>
        </p:nvGraphicFramePr>
        <p:xfrm>
          <a:off x="3419872" y="4664828"/>
          <a:ext cx="2903984" cy="17439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28500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AsOne/>
      </p:bldGraphic>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6852FFB-6B46-D77B-7753-348A168877AF}"/>
              </a:ext>
            </a:extLst>
          </p:cNvPr>
          <p:cNvSpPr>
            <a:spLocks noGrp="1"/>
          </p:cNvSpPr>
          <p:nvPr>
            <p:ph idx="1"/>
          </p:nvPr>
        </p:nvSpPr>
        <p:spPr/>
        <p:txBody>
          <a:bodyPr/>
          <a:lstStyle/>
          <a:p>
            <a:r>
              <a:rPr lang="tr-TR">
                <a:effectLst/>
              </a:rPr>
              <a:t>A-B-C-D-E şehirlerine ilişkin satış karları ve maliyetleri tabloda görülmektedir. Her şehir yalnızca bir  kez ziyaret edilecektir. Toplam seyahat bütçesi </a:t>
            </a:r>
            <a:r>
              <a:rPr lang="tr-TR"/>
              <a:t>7</a:t>
            </a:r>
            <a:r>
              <a:rPr lang="tr-TR">
                <a:effectLst/>
              </a:rPr>
              <a:t> ₺ olduğuna göre en yüksek karı veren modeli     kurunuz. </a:t>
            </a:r>
          </a:p>
          <a:p>
            <a:endParaRPr lang="tr-TR">
              <a:effectLst/>
            </a:endParaRPr>
          </a:p>
          <a:p>
            <a:br>
              <a:rPr lang="tr-TR">
                <a:effectLst/>
              </a:rPr>
            </a:br>
            <a:endParaRPr lang="tr-TR"/>
          </a:p>
        </p:txBody>
      </p:sp>
      <p:sp>
        <p:nvSpPr>
          <p:cNvPr id="3" name="Title 2">
            <a:extLst>
              <a:ext uri="{FF2B5EF4-FFF2-40B4-BE49-F238E27FC236}">
                <a16:creationId xmlns:a16="http://schemas.microsoft.com/office/drawing/2014/main" id="{2378AB00-73F4-A664-438D-59EE25F4F540}"/>
              </a:ext>
            </a:extLst>
          </p:cNvPr>
          <p:cNvSpPr>
            <a:spLocks noGrp="1"/>
          </p:cNvSpPr>
          <p:nvPr>
            <p:ph type="title"/>
          </p:nvPr>
        </p:nvSpPr>
        <p:spPr/>
        <p:txBody>
          <a:bodyPr/>
          <a:lstStyle/>
          <a:p>
            <a:endParaRPr lang="tr-TR"/>
          </a:p>
        </p:txBody>
      </p:sp>
      <p:pic>
        <p:nvPicPr>
          <p:cNvPr id="5" name="Picture 4">
            <a:extLst>
              <a:ext uri="{FF2B5EF4-FFF2-40B4-BE49-F238E27FC236}">
                <a16:creationId xmlns:a16="http://schemas.microsoft.com/office/drawing/2014/main" id="{FB677CA7-8E19-F262-EB76-7D61ABC8599D}"/>
              </a:ext>
            </a:extLst>
          </p:cNvPr>
          <p:cNvPicPr>
            <a:picLocks noChangeAspect="1"/>
          </p:cNvPicPr>
          <p:nvPr/>
        </p:nvPicPr>
        <p:blipFill>
          <a:blip r:embed="rId2"/>
          <a:stretch>
            <a:fillRect/>
          </a:stretch>
        </p:blipFill>
        <p:spPr>
          <a:xfrm>
            <a:off x="3347864" y="2204864"/>
            <a:ext cx="2335016" cy="1440160"/>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1014B1C-85DE-AC52-C543-D74CE54EC7FA}"/>
                  </a:ext>
                </a:extLst>
              </p:cNvPr>
              <p:cNvSpPr txBox="1"/>
              <p:nvPr/>
            </p:nvSpPr>
            <p:spPr>
              <a:xfrm>
                <a:off x="1979712" y="3789040"/>
                <a:ext cx="518457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tr-TR" i="1" smtClean="0">
                          <a:latin typeface="Cambria Math" panose="02040503050406030204" pitchFamily="18" charset="0"/>
                        </a:rPr>
                        <m:t>𝑀𝑎𝑘𝑠</m:t>
                      </m:r>
                      <m:r>
                        <a:rPr lang="tr-TR" i="0">
                          <a:latin typeface="Cambria Math" panose="02040503050406030204" pitchFamily="18" charset="0"/>
                        </a:rPr>
                        <m:t> </m:t>
                      </m:r>
                      <m:r>
                        <a:rPr lang="tr-TR" i="1">
                          <a:latin typeface="Cambria Math" panose="02040503050406030204" pitchFamily="18" charset="0"/>
                        </a:rPr>
                        <m:t>𝑍</m:t>
                      </m:r>
                      <m:r>
                        <a:rPr lang="tr-TR" i="0">
                          <a:latin typeface="Cambria Math" panose="02040503050406030204" pitchFamily="18" charset="0"/>
                        </a:rPr>
                        <m:t>=</m:t>
                      </m:r>
                      <m:sSub>
                        <m:sSubPr>
                          <m:ctrlPr>
                            <a:rPr lang="tr-TR" i="1">
                              <a:solidFill>
                                <a:srgbClr val="836967"/>
                              </a:solidFill>
                              <a:latin typeface="Cambria Math" panose="02040503050406030204" pitchFamily="18" charset="0"/>
                            </a:rPr>
                          </m:ctrlPr>
                        </m:sSubPr>
                        <m:e>
                          <m:r>
                            <a:rPr lang="tr-TR" i="1">
                              <a:latin typeface="Cambria Math" panose="02040503050406030204" pitchFamily="18" charset="0"/>
                            </a:rPr>
                            <m:t>𝐴</m:t>
                          </m:r>
                        </m:e>
                        <m:sub>
                          <m:r>
                            <a:rPr lang="tr-TR" i="1">
                              <a:latin typeface="Cambria Math" panose="02040503050406030204" pitchFamily="18" charset="0"/>
                            </a:rPr>
                            <m:t>𝐾𝑎𝑟</m:t>
                          </m:r>
                        </m:sub>
                      </m:sSub>
                      <m:r>
                        <a:rPr lang="tr-TR" i="0">
                          <a:latin typeface="Cambria Math" panose="02040503050406030204" pitchFamily="18" charset="0"/>
                        </a:rPr>
                        <m:t>+</m:t>
                      </m:r>
                      <m:sSub>
                        <m:sSubPr>
                          <m:ctrlPr>
                            <a:rPr lang="tr-TR" i="1">
                              <a:solidFill>
                                <a:srgbClr val="836967"/>
                              </a:solidFill>
                              <a:latin typeface="Cambria Math" panose="02040503050406030204" pitchFamily="18" charset="0"/>
                            </a:rPr>
                          </m:ctrlPr>
                        </m:sSubPr>
                        <m:e>
                          <m:r>
                            <a:rPr lang="tr-TR" i="1">
                              <a:latin typeface="Cambria Math" panose="02040503050406030204" pitchFamily="18" charset="0"/>
                            </a:rPr>
                            <m:t>𝐵</m:t>
                          </m:r>
                        </m:e>
                        <m:sub>
                          <m:r>
                            <a:rPr lang="tr-TR" i="1">
                              <a:latin typeface="Cambria Math" panose="02040503050406030204" pitchFamily="18" charset="0"/>
                            </a:rPr>
                            <m:t>𝐾𝑎𝑟</m:t>
                          </m:r>
                        </m:sub>
                      </m:sSub>
                      <m:r>
                        <a:rPr lang="tr-TR" i="0">
                          <a:latin typeface="Cambria Math" panose="02040503050406030204" pitchFamily="18" charset="0"/>
                        </a:rPr>
                        <m:t>+</m:t>
                      </m:r>
                      <m:sSub>
                        <m:sSubPr>
                          <m:ctrlPr>
                            <a:rPr lang="tr-TR" i="1">
                              <a:solidFill>
                                <a:srgbClr val="836967"/>
                              </a:solidFill>
                              <a:latin typeface="Cambria Math" panose="02040503050406030204" pitchFamily="18" charset="0"/>
                            </a:rPr>
                          </m:ctrlPr>
                        </m:sSubPr>
                        <m:e>
                          <m:r>
                            <a:rPr lang="tr-TR" i="1">
                              <a:latin typeface="Cambria Math" panose="02040503050406030204" pitchFamily="18" charset="0"/>
                            </a:rPr>
                            <m:t>𝐶</m:t>
                          </m:r>
                        </m:e>
                        <m:sub>
                          <m:r>
                            <a:rPr lang="tr-TR" i="1">
                              <a:latin typeface="Cambria Math" panose="02040503050406030204" pitchFamily="18" charset="0"/>
                            </a:rPr>
                            <m:t>𝐾𝑎𝑟</m:t>
                          </m:r>
                        </m:sub>
                      </m:sSub>
                      <m:r>
                        <a:rPr lang="tr-TR" i="0">
                          <a:latin typeface="Cambria Math" panose="02040503050406030204" pitchFamily="18" charset="0"/>
                        </a:rPr>
                        <m:t>+</m:t>
                      </m:r>
                      <m:sSub>
                        <m:sSubPr>
                          <m:ctrlPr>
                            <a:rPr lang="tr-TR" i="1">
                              <a:solidFill>
                                <a:srgbClr val="836967"/>
                              </a:solidFill>
                              <a:latin typeface="Cambria Math" panose="02040503050406030204" pitchFamily="18" charset="0"/>
                            </a:rPr>
                          </m:ctrlPr>
                        </m:sSubPr>
                        <m:e>
                          <m:r>
                            <a:rPr lang="tr-TR" i="1">
                              <a:latin typeface="Cambria Math" panose="02040503050406030204" pitchFamily="18" charset="0"/>
                            </a:rPr>
                            <m:t>𝐷</m:t>
                          </m:r>
                        </m:e>
                        <m:sub>
                          <m:r>
                            <a:rPr lang="tr-TR" i="1">
                              <a:latin typeface="Cambria Math" panose="02040503050406030204" pitchFamily="18" charset="0"/>
                            </a:rPr>
                            <m:t>𝐾𝑎𝑟</m:t>
                          </m:r>
                        </m:sub>
                      </m:sSub>
                      <m:r>
                        <a:rPr lang="tr-TR" i="0">
                          <a:latin typeface="Cambria Math" panose="02040503050406030204" pitchFamily="18" charset="0"/>
                        </a:rPr>
                        <m:t>+</m:t>
                      </m:r>
                      <m:sSub>
                        <m:sSubPr>
                          <m:ctrlPr>
                            <a:rPr lang="tr-TR" i="1">
                              <a:solidFill>
                                <a:srgbClr val="836967"/>
                              </a:solidFill>
                              <a:latin typeface="Cambria Math" panose="02040503050406030204" pitchFamily="18" charset="0"/>
                            </a:rPr>
                          </m:ctrlPr>
                        </m:sSubPr>
                        <m:e>
                          <m:r>
                            <a:rPr lang="tr-TR" i="1">
                              <a:latin typeface="Cambria Math" panose="02040503050406030204" pitchFamily="18" charset="0"/>
                            </a:rPr>
                            <m:t>𝐸</m:t>
                          </m:r>
                        </m:e>
                        <m:sub>
                          <m:r>
                            <a:rPr lang="tr-TR" i="1">
                              <a:latin typeface="Cambria Math" panose="02040503050406030204" pitchFamily="18" charset="0"/>
                            </a:rPr>
                            <m:t>𝐾𝑎𝑟</m:t>
                          </m:r>
                        </m:sub>
                      </m:sSub>
                    </m:oMath>
                  </m:oMathPara>
                </a14:m>
                <a:endParaRPr lang="tr-TR"/>
              </a:p>
            </p:txBody>
          </p:sp>
        </mc:Choice>
        <mc:Fallback xmlns="">
          <p:sp>
            <p:nvSpPr>
              <p:cNvPr id="7" name="TextBox 6">
                <a:extLst>
                  <a:ext uri="{FF2B5EF4-FFF2-40B4-BE49-F238E27FC236}">
                    <a16:creationId xmlns:a16="http://schemas.microsoft.com/office/drawing/2014/main" id="{71014B1C-85DE-AC52-C543-D74CE54EC7FA}"/>
                  </a:ext>
                </a:extLst>
              </p:cNvPr>
              <p:cNvSpPr txBox="1">
                <a:spLocks noRot="1" noChangeAspect="1" noMove="1" noResize="1" noEditPoints="1" noAdjustHandles="1" noChangeArrowheads="1" noChangeShapeType="1" noTextEdit="1"/>
              </p:cNvSpPr>
              <p:nvPr/>
            </p:nvSpPr>
            <p:spPr>
              <a:xfrm>
                <a:off x="1979712" y="3789040"/>
                <a:ext cx="5184576" cy="369332"/>
              </a:xfrm>
              <a:prstGeom prst="rect">
                <a:avLst/>
              </a:prstGeom>
              <a:blipFill>
                <a:blip r:embed="rId3"/>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9CB71F5-463A-1273-71A0-5A53856954A0}"/>
                  </a:ext>
                </a:extLst>
              </p:cNvPr>
              <p:cNvSpPr txBox="1"/>
              <p:nvPr/>
            </p:nvSpPr>
            <p:spPr>
              <a:xfrm>
                <a:off x="-31329" y="4380378"/>
                <a:ext cx="3883249" cy="2087110"/>
              </a:xfrm>
              <a:prstGeom prst="rect">
                <a:avLst/>
              </a:prstGeom>
              <a:noFill/>
            </p:spPr>
            <p:txBody>
              <a:bodyPr wrap="square">
                <a:sp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𝐾𝑎𝑟</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:7</m:t>
                      </m:r>
                      <m:d>
                        <m:d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𝐵𝐴</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𝐶𝐴</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𝐷𝐴</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𝐸𝐴</m:t>
                              </m:r>
                            </m:sub>
                          </m:sSub>
                        </m:e>
                      </m:d>
                    </m:oMath>
                  </m:oMathPara>
                </a14:m>
                <a:endParaRPr lang="tr-TR" sz="16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𝐾𝑎𝑟</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:8</m:t>
                      </m:r>
                      <m:d>
                        <m:d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𝐴𝐵</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𝐶𝐵</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𝐷𝐵</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𝐸𝐵</m:t>
                              </m:r>
                            </m:sub>
                          </m:sSub>
                        </m:e>
                      </m:d>
                    </m:oMath>
                  </m:oMathPara>
                </a14:m>
                <a:endParaRPr lang="tr-TR" sz="16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𝐶</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𝐾𝑎𝑟</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m:t>
                      </m:r>
                      <m:d>
                        <m:d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𝐴𝐶</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𝐵𝐶</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𝐷𝐶</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𝐸𝐶</m:t>
                              </m:r>
                            </m:sub>
                          </m:sSub>
                        </m:e>
                      </m:d>
                    </m:oMath>
                  </m:oMathPara>
                </a14:m>
                <a:endParaRPr lang="tr-TR" sz="16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𝐷</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𝐾𝑎𝑟</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:4</m:t>
                      </m:r>
                      <m:d>
                        <m:d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𝐴𝐷</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𝐵𝐷</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𝐶𝐷</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𝐸𝐷</m:t>
                              </m:r>
                            </m:sub>
                          </m:sSub>
                        </m:e>
                      </m:d>
                    </m:oMath>
                  </m:oMathPara>
                </a14:m>
                <a:endParaRPr lang="tr-TR" sz="16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𝐸</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𝐾𝑎𝑟</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:9</m:t>
                      </m:r>
                      <m:d>
                        <m:d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𝐴𝐸</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𝐵𝐸</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𝐶𝐸</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𝐷𝐸</m:t>
                              </m:r>
                            </m:sub>
                          </m:sSub>
                        </m:e>
                      </m:d>
                    </m:oMath>
                  </m:oMathPara>
                </a14:m>
                <a:endParaRPr lang="tr-TR" sz="1600" kern="10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9" name="TextBox 8">
                <a:extLst>
                  <a:ext uri="{FF2B5EF4-FFF2-40B4-BE49-F238E27FC236}">
                    <a16:creationId xmlns:a16="http://schemas.microsoft.com/office/drawing/2014/main" id="{B9CB71F5-463A-1273-71A0-5A53856954A0}"/>
                  </a:ext>
                </a:extLst>
              </p:cNvPr>
              <p:cNvSpPr txBox="1">
                <a:spLocks noRot="1" noChangeAspect="1" noMove="1" noResize="1" noEditPoints="1" noAdjustHandles="1" noChangeArrowheads="1" noChangeShapeType="1" noTextEdit="1"/>
              </p:cNvSpPr>
              <p:nvPr/>
            </p:nvSpPr>
            <p:spPr>
              <a:xfrm>
                <a:off x="-31329" y="4380378"/>
                <a:ext cx="3883249" cy="2087110"/>
              </a:xfrm>
              <a:prstGeom prst="rect">
                <a:avLst/>
              </a:prstGeom>
              <a:blipFill>
                <a:blip r:embed="rId4"/>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75D85B6-4DDF-2E38-41D9-10A136E91BB9}"/>
                  </a:ext>
                </a:extLst>
              </p:cNvPr>
              <p:cNvSpPr txBox="1"/>
              <p:nvPr/>
            </p:nvSpPr>
            <p:spPr>
              <a:xfrm>
                <a:off x="3843659" y="4339854"/>
                <a:ext cx="4591250" cy="2087110"/>
              </a:xfrm>
              <a:prstGeom prst="rect">
                <a:avLst/>
              </a:prstGeom>
              <a:noFill/>
            </p:spPr>
            <p:txBody>
              <a:bodyPr wrap="square">
                <a:sp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800" i="1" kern="0" smtClean="0">
                          <a:effectLst/>
                          <a:latin typeface="Cambria Math" panose="02040503050406030204" pitchFamily="18" charset="0"/>
                          <a:ea typeface="Times New Roman" panose="02020603050405020304" pitchFamily="18" charset="0"/>
                          <a:cs typeface="Times New Roman" panose="02020603050405020304" pitchFamily="18" charset="0"/>
                        </a:rPr>
                        <m:t>2</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𝐴𝐵</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𝐴𝐶</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𝐴𝐷</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+4</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𝐴𝐸</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tr-TR" sz="16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4</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𝐵𝐴</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𝐵𝐶</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+4</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𝐵𝐷</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𝐵𝐸</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tr-TR" sz="16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𝐶𝐴</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𝐶𝐵</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+5</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𝐶𝐷</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𝐶𝐸</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tr-TR" sz="16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𝐷𝐴</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+5</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𝐷𝐵</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𝐷𝐶</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𝐷𝐸</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tr-TR" sz="16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5</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𝐸𝐴</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+6</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𝐸𝐵</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𝐸𝐶</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𝐸𝐷</m:t>
                          </m:r>
                        </m:sub>
                      </m:sSub>
                      <m:r>
                        <a:rPr lang="tr-TR" sz="1800"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b="0" i="1" kern="0" smtClean="0">
                          <a:effectLst/>
                          <a:latin typeface="Cambria Math" panose="02040503050406030204" pitchFamily="18" charset="0"/>
                          <a:ea typeface="Times New Roman" panose="02020603050405020304" pitchFamily="18" charset="0"/>
                          <a:cs typeface="Times New Roman" panose="02020603050405020304" pitchFamily="18" charset="0"/>
                        </a:rPr>
                        <m:t>7</m:t>
                      </m:r>
                    </m:oMath>
                  </m:oMathPara>
                </a14:m>
                <a:endParaRPr lang="tr-TR" sz="1600" kern="10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3" name="TextBox 12">
                <a:extLst>
                  <a:ext uri="{FF2B5EF4-FFF2-40B4-BE49-F238E27FC236}">
                    <a16:creationId xmlns:a16="http://schemas.microsoft.com/office/drawing/2014/main" id="{175D85B6-4DDF-2E38-41D9-10A136E91BB9}"/>
                  </a:ext>
                </a:extLst>
              </p:cNvPr>
              <p:cNvSpPr txBox="1">
                <a:spLocks noRot="1" noChangeAspect="1" noMove="1" noResize="1" noEditPoints="1" noAdjustHandles="1" noChangeArrowheads="1" noChangeShapeType="1" noTextEdit="1"/>
              </p:cNvSpPr>
              <p:nvPr/>
            </p:nvSpPr>
            <p:spPr>
              <a:xfrm>
                <a:off x="3843659" y="4339854"/>
                <a:ext cx="4591250" cy="2087110"/>
              </a:xfrm>
              <a:prstGeom prst="rect">
                <a:avLst/>
              </a:prstGeom>
              <a:blipFill>
                <a:blip r:embed="rId5"/>
                <a:stretch>
                  <a:fillRect/>
                </a:stretch>
              </a:blipFill>
            </p:spPr>
            <p:txBody>
              <a:bodyPr/>
              <a:lstStyle/>
              <a:p>
                <a:r>
                  <a:rPr lang="tr-TR">
                    <a:noFill/>
                  </a:rPr>
                  <a:t> </a:t>
                </a:r>
              </a:p>
            </p:txBody>
          </p:sp>
        </mc:Fallback>
      </mc:AlternateContent>
    </p:spTree>
    <p:extLst>
      <p:ext uri="{BB962C8B-B14F-4D97-AF65-F5344CB8AC3E}">
        <p14:creationId xmlns:p14="http://schemas.microsoft.com/office/powerpoint/2010/main" val="20679394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161D94-A2C9-1D9C-A5B0-8032F1A87718}"/>
              </a:ext>
            </a:extLst>
          </p:cNvPr>
          <p:cNvSpPr>
            <a:spLocks noGrp="1"/>
          </p:cNvSpPr>
          <p:nvPr>
            <p:ph type="title"/>
          </p:nvPr>
        </p:nvSpPr>
        <p:spPr/>
        <p:txBody>
          <a:bodyPr/>
          <a:lstStyle/>
          <a:p>
            <a:endParaRPr lang="tr-T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CC94AEF-CB92-E029-B8C7-18C73B5DC1D9}"/>
                  </a:ext>
                </a:extLst>
              </p:cNvPr>
              <p:cNvSpPr txBox="1"/>
              <p:nvPr/>
            </p:nvSpPr>
            <p:spPr>
              <a:xfrm>
                <a:off x="220203" y="2352744"/>
                <a:ext cx="4576812" cy="2152512"/>
              </a:xfrm>
              <a:prstGeom prst="rect">
                <a:avLst/>
              </a:prstGeom>
              <a:noFill/>
            </p:spPr>
            <p:txBody>
              <a:bodyPr wrap="square">
                <a:spAutoFit/>
              </a:bodyPr>
              <a:lstStyle/>
              <a:p>
                <a:pPr algn="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b="0" i="1" kern="0" smtClean="0">
                              <a:effectLst/>
                              <a:latin typeface="Cambria Math" panose="02040503050406030204" pitchFamily="18" charset="0"/>
                              <a:ea typeface="Times New Roman" panose="02020603050405020304" pitchFamily="18" charset="0"/>
                              <a:cs typeface="Times New Roman" panose="02020603050405020304" pitchFamily="18" charset="0"/>
                            </a:rPr>
                            <m:t>𝐶</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b="0" i="1" kern="0" smtClean="0">
                              <a:effectLst/>
                              <a:latin typeface="Cambria Math" panose="02040503050406030204" pitchFamily="18" charset="0"/>
                              <a:ea typeface="Times New Roman" panose="02020603050405020304" pitchFamily="18" charset="0"/>
                              <a:cs typeface="Times New Roman" panose="02020603050405020304" pitchFamily="18" charset="0"/>
                            </a:rPr>
                            <m:t>𝐷</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b="0" i="1" kern="0" smtClean="0">
                              <a:effectLst/>
                              <a:latin typeface="Cambria Math" panose="02040503050406030204" pitchFamily="18" charset="0"/>
                              <a:ea typeface="Times New Roman" panose="02020603050405020304" pitchFamily="18" charset="0"/>
                              <a:cs typeface="Times New Roman" panose="02020603050405020304" pitchFamily="18" charset="0"/>
                            </a:rPr>
                            <m:t>𝐸</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smtClean="0">
                              <a:effectLst/>
                              <a:latin typeface="Cambria Math" panose="02040503050406030204" pitchFamily="18" charset="0"/>
                              <a:cs typeface="Times New Roman" panose="02020603050405020304" pitchFamily="18" charset="0"/>
                            </a:rPr>
                          </m:ctrlPr>
                        </m:sSubPr>
                        <m:e>
                          <m:r>
                            <a:rPr lang="tr-TR" sz="1800" b="0" i="1" kern="0" smtClean="0">
                              <a:effectLst/>
                              <a:latin typeface="Cambria Math" panose="02040503050406030204" pitchFamily="18" charset="0"/>
                              <a:cs typeface="Times New Roman" panose="02020603050405020304" pitchFamily="18" charset="0"/>
                            </a:rPr>
                            <m:t>𝑦</m:t>
                          </m:r>
                        </m:e>
                        <m:sub>
                          <m:r>
                            <a:rPr lang="tr-TR" sz="1800" b="0" i="1" kern="0" smtClean="0">
                              <a:effectLst/>
                              <a:latin typeface="Cambria Math" panose="02040503050406030204" pitchFamily="18" charset="0"/>
                              <a:cs typeface="Times New Roman" panose="02020603050405020304" pitchFamily="18" charset="0"/>
                            </a:rPr>
                            <m:t>𝐴</m:t>
                          </m:r>
                        </m:sub>
                      </m:sSub>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gn="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b="0" i="1" kern="0" smtClean="0">
                              <a:effectLst/>
                              <a:latin typeface="Cambria Math" panose="02040503050406030204" pitchFamily="18" charset="0"/>
                              <a:ea typeface="Times New Roman" panose="02020603050405020304" pitchFamily="18" charset="0"/>
                              <a:cs typeface="Times New Roman" panose="02020603050405020304" pitchFamily="18" charset="0"/>
                            </a:rPr>
                            <m:t>𝐶</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b="0" i="1" kern="0" smtClean="0">
                              <a:effectLst/>
                              <a:latin typeface="Cambria Math" panose="02040503050406030204" pitchFamily="18" charset="0"/>
                              <a:ea typeface="Times New Roman" panose="02020603050405020304" pitchFamily="18" charset="0"/>
                              <a:cs typeface="Times New Roman" panose="02020603050405020304" pitchFamily="18" charset="0"/>
                            </a:rPr>
                            <m:t>𝐷</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b="0" i="1" kern="0" smtClean="0">
                              <a:effectLst/>
                              <a:latin typeface="Cambria Math" panose="02040503050406030204" pitchFamily="18" charset="0"/>
                              <a:ea typeface="Times New Roman" panose="02020603050405020304" pitchFamily="18" charset="0"/>
                              <a:cs typeface="Times New Roman" panose="02020603050405020304" pitchFamily="18" charset="0"/>
                            </a:rPr>
                            <m:t>𝐸</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i="1" kern="0">
                              <a:latin typeface="Cambria Math" panose="02040503050406030204" pitchFamily="18" charset="0"/>
                              <a:cs typeface="Times New Roman" panose="02020603050405020304" pitchFamily="18" charset="0"/>
                            </a:rPr>
                          </m:ctrlPr>
                        </m:sSubPr>
                        <m:e>
                          <m:r>
                            <a:rPr lang="tr-TR" kern="0">
                              <a:latin typeface="Cambria Math" panose="02040503050406030204" pitchFamily="18" charset="0"/>
                              <a:cs typeface="Times New Roman" panose="02020603050405020304" pitchFamily="18" charset="0"/>
                            </a:rPr>
                            <m:t>𝑦</m:t>
                          </m:r>
                        </m:e>
                        <m:sub>
                          <m:r>
                            <a:rPr lang="tr-TR" b="0" i="1" kern="0" smtClean="0">
                              <a:latin typeface="Cambria Math" panose="02040503050406030204" pitchFamily="18" charset="0"/>
                              <a:cs typeface="Times New Roman" panose="02020603050405020304" pitchFamily="18" charset="0"/>
                            </a:rPr>
                            <m:t>𝐵</m:t>
                          </m:r>
                        </m:sub>
                      </m:sSub>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gn="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b="0" i="1" kern="0" smtClean="0">
                              <a:effectLst/>
                              <a:latin typeface="Cambria Math" panose="02040503050406030204" pitchFamily="18" charset="0"/>
                              <a:ea typeface="Times New Roman" panose="02020603050405020304" pitchFamily="18" charset="0"/>
                              <a:cs typeface="Times New Roman" panose="02020603050405020304" pitchFamily="18" charset="0"/>
                            </a:rPr>
                            <m:t>𝐶</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b="0" i="1" kern="0" smtClean="0">
                              <a:effectLst/>
                              <a:latin typeface="Cambria Math" panose="02040503050406030204" pitchFamily="18" charset="0"/>
                              <a:ea typeface="Times New Roman" panose="02020603050405020304" pitchFamily="18" charset="0"/>
                              <a:cs typeface="Times New Roman" panose="02020603050405020304" pitchFamily="18" charset="0"/>
                            </a:rPr>
                            <m:t>𝐶</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b="0" i="1" kern="0" smtClean="0">
                              <a:effectLst/>
                              <a:latin typeface="Cambria Math" panose="02040503050406030204" pitchFamily="18" charset="0"/>
                              <a:ea typeface="Times New Roman" panose="02020603050405020304" pitchFamily="18" charset="0"/>
                              <a:cs typeface="Times New Roman" panose="02020603050405020304" pitchFamily="18" charset="0"/>
                            </a:rPr>
                            <m:t>𝐶</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b="0" i="1" kern="0" smtClean="0">
                              <a:effectLst/>
                              <a:latin typeface="Cambria Math" panose="02040503050406030204" pitchFamily="18" charset="0"/>
                              <a:ea typeface="Times New Roman" panose="02020603050405020304" pitchFamily="18" charset="0"/>
                              <a:cs typeface="Times New Roman" panose="02020603050405020304" pitchFamily="18" charset="0"/>
                            </a:rPr>
                            <m:t>𝐷</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b="0" i="1" kern="0" smtClean="0">
                              <a:effectLst/>
                              <a:latin typeface="Cambria Math" panose="02040503050406030204" pitchFamily="18" charset="0"/>
                              <a:ea typeface="Times New Roman" panose="02020603050405020304" pitchFamily="18" charset="0"/>
                              <a:cs typeface="Times New Roman" panose="02020603050405020304" pitchFamily="18" charset="0"/>
                            </a:rPr>
                            <m:t>𝐶</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b="0" i="1" kern="0" smtClean="0">
                              <a:effectLst/>
                              <a:latin typeface="Cambria Math" panose="02040503050406030204" pitchFamily="18" charset="0"/>
                              <a:ea typeface="Times New Roman" panose="02020603050405020304" pitchFamily="18" charset="0"/>
                              <a:cs typeface="Times New Roman" panose="02020603050405020304" pitchFamily="18" charset="0"/>
                            </a:rPr>
                            <m:t>𝐸</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i="1" kern="0">
                              <a:latin typeface="Cambria Math" panose="02040503050406030204" pitchFamily="18" charset="0"/>
                              <a:cs typeface="Times New Roman" panose="02020603050405020304" pitchFamily="18" charset="0"/>
                            </a:rPr>
                          </m:ctrlPr>
                        </m:sSubPr>
                        <m:e>
                          <m:r>
                            <a:rPr lang="tr-TR" kern="0">
                              <a:latin typeface="Cambria Math" panose="02040503050406030204" pitchFamily="18" charset="0"/>
                              <a:cs typeface="Times New Roman" panose="02020603050405020304" pitchFamily="18" charset="0"/>
                            </a:rPr>
                            <m:t>𝑦</m:t>
                          </m:r>
                        </m:e>
                        <m:sub>
                          <m:r>
                            <a:rPr lang="tr-TR" b="0" i="1" kern="0" smtClean="0">
                              <a:latin typeface="Cambria Math" panose="02040503050406030204" pitchFamily="18" charset="0"/>
                              <a:cs typeface="Times New Roman" panose="02020603050405020304" pitchFamily="18" charset="0"/>
                            </a:rPr>
                            <m:t>𝐶</m:t>
                          </m:r>
                        </m:sub>
                      </m:sSub>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gn="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b="0" i="1" kern="0" smtClean="0">
                              <a:effectLst/>
                              <a:latin typeface="Cambria Math" panose="02040503050406030204" pitchFamily="18" charset="0"/>
                              <a:ea typeface="Times New Roman" panose="02020603050405020304" pitchFamily="18" charset="0"/>
                              <a:cs typeface="Times New Roman" panose="02020603050405020304" pitchFamily="18" charset="0"/>
                            </a:rPr>
                            <m:t>𝐷</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b="0" i="1" kern="0" smtClean="0">
                              <a:effectLst/>
                              <a:latin typeface="Cambria Math" panose="02040503050406030204" pitchFamily="18" charset="0"/>
                              <a:ea typeface="Times New Roman" panose="02020603050405020304" pitchFamily="18" charset="0"/>
                              <a:cs typeface="Times New Roman" panose="02020603050405020304" pitchFamily="18" charset="0"/>
                            </a:rPr>
                            <m:t>𝐷</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b="0" i="1" kern="0" smtClean="0">
                              <a:effectLst/>
                              <a:latin typeface="Cambria Math" panose="02040503050406030204" pitchFamily="18" charset="0"/>
                              <a:ea typeface="Times New Roman" panose="02020603050405020304" pitchFamily="18" charset="0"/>
                              <a:cs typeface="Times New Roman" panose="02020603050405020304" pitchFamily="18" charset="0"/>
                            </a:rPr>
                            <m:t>𝐷</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b="0" i="1" kern="0" smtClean="0">
                              <a:effectLst/>
                              <a:latin typeface="Cambria Math" panose="02040503050406030204" pitchFamily="18" charset="0"/>
                              <a:ea typeface="Times New Roman" panose="02020603050405020304" pitchFamily="18" charset="0"/>
                              <a:cs typeface="Times New Roman" panose="02020603050405020304" pitchFamily="18" charset="0"/>
                            </a:rPr>
                            <m:t>𝐶</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b="0" i="1" kern="0" smtClean="0">
                              <a:effectLst/>
                              <a:latin typeface="Cambria Math" panose="02040503050406030204" pitchFamily="18" charset="0"/>
                              <a:ea typeface="Times New Roman" panose="02020603050405020304" pitchFamily="18" charset="0"/>
                              <a:cs typeface="Times New Roman" panose="02020603050405020304" pitchFamily="18" charset="0"/>
                            </a:rPr>
                            <m:t>𝐷</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b="0" i="1" kern="0" smtClean="0">
                              <a:effectLst/>
                              <a:latin typeface="Cambria Math" panose="02040503050406030204" pitchFamily="18" charset="0"/>
                              <a:ea typeface="Times New Roman" panose="02020603050405020304" pitchFamily="18" charset="0"/>
                              <a:cs typeface="Times New Roman" panose="02020603050405020304" pitchFamily="18" charset="0"/>
                            </a:rPr>
                            <m:t>𝐸</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i="1" kern="0">
                              <a:latin typeface="Cambria Math" panose="02040503050406030204" pitchFamily="18" charset="0"/>
                              <a:cs typeface="Times New Roman" panose="02020603050405020304" pitchFamily="18" charset="0"/>
                            </a:rPr>
                          </m:ctrlPr>
                        </m:sSubPr>
                        <m:e>
                          <m:r>
                            <a:rPr lang="tr-TR" kern="0">
                              <a:latin typeface="Cambria Math" panose="02040503050406030204" pitchFamily="18" charset="0"/>
                              <a:cs typeface="Times New Roman" panose="02020603050405020304" pitchFamily="18" charset="0"/>
                            </a:rPr>
                            <m:t>𝑦</m:t>
                          </m:r>
                        </m:e>
                        <m:sub>
                          <m:r>
                            <a:rPr lang="tr-TR" b="0" i="1" kern="0" smtClean="0">
                              <a:latin typeface="Cambria Math" panose="02040503050406030204" pitchFamily="18" charset="0"/>
                              <a:cs typeface="Times New Roman" panose="02020603050405020304" pitchFamily="18" charset="0"/>
                            </a:rPr>
                            <m:t>𝐷</m:t>
                          </m:r>
                        </m:sub>
                      </m:sSub>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gn="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b="0" i="1" kern="0" smtClean="0">
                              <a:effectLst/>
                              <a:latin typeface="Cambria Math" panose="02040503050406030204" pitchFamily="18" charset="0"/>
                              <a:ea typeface="Times New Roman" panose="02020603050405020304" pitchFamily="18" charset="0"/>
                              <a:cs typeface="Times New Roman" panose="02020603050405020304" pitchFamily="18" charset="0"/>
                            </a:rPr>
                            <m:t>𝐸</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b="0" i="1" kern="0" smtClean="0">
                              <a:effectLst/>
                              <a:latin typeface="Cambria Math" panose="02040503050406030204" pitchFamily="18" charset="0"/>
                              <a:ea typeface="Times New Roman" panose="02020603050405020304" pitchFamily="18" charset="0"/>
                              <a:cs typeface="Times New Roman" panose="02020603050405020304" pitchFamily="18" charset="0"/>
                            </a:rPr>
                            <m:t>𝐸</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b="0" i="1" kern="0" smtClean="0">
                              <a:effectLst/>
                              <a:latin typeface="Cambria Math" panose="02040503050406030204" pitchFamily="18" charset="0"/>
                              <a:ea typeface="Times New Roman" panose="02020603050405020304" pitchFamily="18" charset="0"/>
                              <a:cs typeface="Times New Roman" panose="02020603050405020304" pitchFamily="18" charset="0"/>
                            </a:rPr>
                            <m:t>𝐸</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b="0" i="1" kern="0" smtClean="0">
                              <a:effectLst/>
                              <a:latin typeface="Cambria Math" panose="02040503050406030204" pitchFamily="18" charset="0"/>
                              <a:ea typeface="Times New Roman" panose="02020603050405020304" pitchFamily="18" charset="0"/>
                              <a:cs typeface="Times New Roman" panose="02020603050405020304" pitchFamily="18" charset="0"/>
                            </a:rPr>
                            <m:t>𝐶</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b="0" i="1" kern="0" smtClean="0">
                              <a:effectLst/>
                              <a:latin typeface="Cambria Math" panose="02040503050406030204" pitchFamily="18" charset="0"/>
                              <a:ea typeface="Times New Roman" panose="02020603050405020304" pitchFamily="18" charset="0"/>
                              <a:cs typeface="Times New Roman" panose="02020603050405020304" pitchFamily="18" charset="0"/>
                            </a:rPr>
                            <m:t>𝐸</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b="0" i="1" kern="0" smtClean="0">
                              <a:effectLst/>
                              <a:latin typeface="Cambria Math" panose="02040503050406030204" pitchFamily="18" charset="0"/>
                              <a:ea typeface="Times New Roman" panose="02020603050405020304" pitchFamily="18" charset="0"/>
                              <a:cs typeface="Times New Roman" panose="02020603050405020304" pitchFamily="18" charset="0"/>
                            </a:rPr>
                            <m:t>𝐷</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i="1" kern="0">
                              <a:latin typeface="Cambria Math" panose="02040503050406030204" pitchFamily="18" charset="0"/>
                              <a:cs typeface="Times New Roman" panose="02020603050405020304" pitchFamily="18" charset="0"/>
                            </a:rPr>
                          </m:ctrlPr>
                        </m:sSubPr>
                        <m:e>
                          <m:r>
                            <a:rPr lang="tr-TR" kern="0">
                              <a:latin typeface="Cambria Math" panose="02040503050406030204" pitchFamily="18" charset="0"/>
                              <a:cs typeface="Times New Roman" panose="02020603050405020304" pitchFamily="18" charset="0"/>
                            </a:rPr>
                            <m:t>𝑦</m:t>
                          </m:r>
                        </m:e>
                        <m:sub>
                          <m:r>
                            <a:rPr lang="tr-TR" b="0" i="1" kern="0" smtClean="0">
                              <a:latin typeface="Cambria Math" panose="02040503050406030204" pitchFamily="18" charset="0"/>
                              <a:cs typeface="Times New Roman" panose="02020603050405020304" pitchFamily="18" charset="0"/>
                            </a:rPr>
                            <m:t>𝐸</m:t>
                          </m:r>
                        </m:sub>
                      </m:sSub>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4" name="TextBox 3">
                <a:extLst>
                  <a:ext uri="{FF2B5EF4-FFF2-40B4-BE49-F238E27FC236}">
                    <a16:creationId xmlns:a16="http://schemas.microsoft.com/office/drawing/2014/main" id="{9CC94AEF-CB92-E029-B8C7-18C73B5DC1D9}"/>
                  </a:ext>
                </a:extLst>
              </p:cNvPr>
              <p:cNvSpPr txBox="1">
                <a:spLocks noRot="1" noChangeAspect="1" noMove="1" noResize="1" noEditPoints="1" noAdjustHandles="1" noChangeArrowheads="1" noChangeShapeType="1" noTextEdit="1"/>
              </p:cNvSpPr>
              <p:nvPr/>
            </p:nvSpPr>
            <p:spPr>
              <a:xfrm>
                <a:off x="220203" y="2352744"/>
                <a:ext cx="4576812" cy="2152512"/>
              </a:xfrm>
              <a:prstGeom prst="rect">
                <a:avLst/>
              </a:prstGeom>
              <a:blipFill>
                <a:blip r:embed="rId2"/>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86D64C2-A1FC-C8C8-3AEB-8CAB70AA7982}"/>
                  </a:ext>
                </a:extLst>
              </p:cNvPr>
              <p:cNvSpPr txBox="1"/>
              <p:nvPr/>
            </p:nvSpPr>
            <p:spPr>
              <a:xfrm>
                <a:off x="4283968" y="2352744"/>
                <a:ext cx="4576812" cy="2152512"/>
              </a:xfrm>
              <a:prstGeom prst="rect">
                <a:avLst/>
              </a:prstGeom>
              <a:noFill/>
            </p:spPr>
            <p:txBody>
              <a:bodyPr wrap="square">
                <a:sp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b="0" i="1" kern="0" smtClean="0">
                              <a:effectLst/>
                              <a:latin typeface="Cambria Math" panose="02040503050406030204" pitchFamily="18" charset="0"/>
                              <a:ea typeface="Times New Roman" panose="02020603050405020304" pitchFamily="18" charset="0"/>
                              <a:cs typeface="Times New Roman" panose="02020603050405020304" pitchFamily="18" charset="0"/>
                            </a:rPr>
                            <m:t>𝐶</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b="0" i="1" kern="0" smtClean="0">
                              <a:effectLst/>
                              <a:latin typeface="Cambria Math" panose="02040503050406030204" pitchFamily="18" charset="0"/>
                              <a:ea typeface="Times New Roman" panose="02020603050405020304" pitchFamily="18" charset="0"/>
                              <a:cs typeface="Times New Roman" panose="02020603050405020304" pitchFamily="18" charset="0"/>
                            </a:rPr>
                            <m:t>𝐷</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b="0" i="1" kern="0" smtClean="0">
                              <a:effectLst/>
                              <a:latin typeface="Cambria Math" panose="02040503050406030204" pitchFamily="18" charset="0"/>
                              <a:ea typeface="Times New Roman" panose="02020603050405020304" pitchFamily="18" charset="0"/>
                              <a:cs typeface="Times New Roman" panose="02020603050405020304" pitchFamily="18" charset="0"/>
                            </a:rPr>
                            <m:t>𝐸</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i="1" kern="0">
                              <a:latin typeface="Cambria Math" panose="02040503050406030204" pitchFamily="18" charset="0"/>
                              <a:cs typeface="Times New Roman" panose="02020603050405020304" pitchFamily="18" charset="0"/>
                            </a:rPr>
                          </m:ctrlPr>
                        </m:sSubPr>
                        <m:e>
                          <m:r>
                            <a:rPr lang="tr-TR" kern="0">
                              <a:latin typeface="Cambria Math" panose="02040503050406030204" pitchFamily="18" charset="0"/>
                              <a:cs typeface="Times New Roman" panose="02020603050405020304" pitchFamily="18" charset="0"/>
                            </a:rPr>
                            <m:t>𝑦</m:t>
                          </m:r>
                        </m:e>
                        <m:sub>
                          <m:r>
                            <a:rPr lang="tr-TR" kern="0">
                              <a:latin typeface="Cambria Math" panose="02040503050406030204" pitchFamily="18" charset="0"/>
                              <a:cs typeface="Times New Roman" panose="02020603050405020304" pitchFamily="18" charset="0"/>
                            </a:rPr>
                            <m:t>𝐴</m:t>
                          </m:r>
                        </m:sub>
                      </m:sSub>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b="0" i="1" kern="0" smtClean="0">
                              <a:effectLst/>
                              <a:latin typeface="Cambria Math" panose="02040503050406030204" pitchFamily="18" charset="0"/>
                              <a:ea typeface="Times New Roman" panose="02020603050405020304" pitchFamily="18" charset="0"/>
                              <a:cs typeface="Times New Roman" panose="02020603050405020304" pitchFamily="18" charset="0"/>
                            </a:rPr>
                            <m:t>𝐶</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b="0" i="1" kern="0" smtClean="0">
                              <a:effectLst/>
                              <a:latin typeface="Cambria Math" panose="02040503050406030204" pitchFamily="18" charset="0"/>
                              <a:ea typeface="Times New Roman" panose="02020603050405020304" pitchFamily="18" charset="0"/>
                              <a:cs typeface="Times New Roman" panose="02020603050405020304" pitchFamily="18" charset="0"/>
                            </a:rPr>
                            <m:t>𝐷</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b="0" i="1" kern="0" smtClean="0">
                              <a:effectLst/>
                              <a:latin typeface="Cambria Math" panose="02040503050406030204" pitchFamily="18" charset="0"/>
                              <a:ea typeface="Times New Roman" panose="02020603050405020304" pitchFamily="18" charset="0"/>
                              <a:cs typeface="Times New Roman" panose="02020603050405020304" pitchFamily="18" charset="0"/>
                            </a:rPr>
                            <m:t>𝐸</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i="1" kern="0">
                              <a:latin typeface="Cambria Math" panose="02040503050406030204" pitchFamily="18" charset="0"/>
                              <a:cs typeface="Times New Roman" panose="02020603050405020304" pitchFamily="18" charset="0"/>
                            </a:rPr>
                          </m:ctrlPr>
                        </m:sSubPr>
                        <m:e>
                          <m:r>
                            <a:rPr lang="tr-TR" kern="0">
                              <a:latin typeface="Cambria Math" panose="02040503050406030204" pitchFamily="18" charset="0"/>
                              <a:cs typeface="Times New Roman" panose="02020603050405020304" pitchFamily="18" charset="0"/>
                            </a:rPr>
                            <m:t>𝑦</m:t>
                          </m:r>
                        </m:e>
                        <m:sub>
                          <m:r>
                            <a:rPr lang="tr-TR" b="0" i="1" kern="0" smtClean="0">
                              <a:latin typeface="Cambria Math" panose="02040503050406030204" pitchFamily="18" charset="0"/>
                              <a:cs typeface="Times New Roman" panose="02020603050405020304" pitchFamily="18" charset="0"/>
                            </a:rPr>
                            <m:t>𝐵</m:t>
                          </m:r>
                        </m:sub>
                      </m:sSub>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b="0" i="1" kern="0" smtClean="0">
                              <a:effectLst/>
                              <a:latin typeface="Cambria Math" panose="02040503050406030204" pitchFamily="18" charset="0"/>
                              <a:ea typeface="Times New Roman" panose="02020603050405020304" pitchFamily="18" charset="0"/>
                              <a:cs typeface="Times New Roman" panose="02020603050405020304" pitchFamily="18" charset="0"/>
                            </a:rPr>
                            <m:t>𝐴</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b="0" i="1" kern="0" smtClean="0">
                              <a:effectLst/>
                              <a:latin typeface="Cambria Math" panose="02040503050406030204" pitchFamily="18" charset="0"/>
                              <a:ea typeface="Times New Roman" panose="02020603050405020304" pitchFamily="18" charset="0"/>
                              <a:cs typeface="Times New Roman" panose="02020603050405020304" pitchFamily="18" charset="0"/>
                            </a:rPr>
                            <m:t>𝐶</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b="0" i="1" kern="0" smtClean="0">
                              <a:effectLst/>
                              <a:latin typeface="Cambria Math" panose="02040503050406030204" pitchFamily="18" charset="0"/>
                              <a:ea typeface="Times New Roman" panose="02020603050405020304" pitchFamily="18" charset="0"/>
                              <a:cs typeface="Times New Roman" panose="02020603050405020304" pitchFamily="18" charset="0"/>
                            </a:rPr>
                            <m:t>𝐶</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b="0" i="1" kern="0" smtClean="0">
                              <a:effectLst/>
                              <a:latin typeface="Cambria Math" panose="02040503050406030204" pitchFamily="18" charset="0"/>
                              <a:ea typeface="Times New Roman" panose="02020603050405020304" pitchFamily="18" charset="0"/>
                              <a:cs typeface="Times New Roman" panose="02020603050405020304" pitchFamily="18" charset="0"/>
                            </a:rPr>
                            <m:t>𝐷</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b="0" i="1" kern="0" smtClean="0">
                              <a:effectLst/>
                              <a:latin typeface="Cambria Math" panose="02040503050406030204" pitchFamily="18" charset="0"/>
                              <a:ea typeface="Times New Roman" panose="02020603050405020304" pitchFamily="18" charset="0"/>
                              <a:cs typeface="Times New Roman" panose="02020603050405020304" pitchFamily="18" charset="0"/>
                            </a:rPr>
                            <m:t>𝐶</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b="0" i="1" kern="0" smtClean="0">
                              <a:effectLst/>
                              <a:latin typeface="Cambria Math" panose="02040503050406030204" pitchFamily="18" charset="0"/>
                              <a:ea typeface="Times New Roman" panose="02020603050405020304" pitchFamily="18" charset="0"/>
                              <a:cs typeface="Times New Roman" panose="02020603050405020304" pitchFamily="18" charset="0"/>
                            </a:rPr>
                            <m:t>𝐸</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b="0" i="1" kern="0" smtClean="0">
                              <a:effectLst/>
                              <a:latin typeface="Cambria Math" panose="02040503050406030204" pitchFamily="18" charset="0"/>
                              <a:ea typeface="Times New Roman" panose="02020603050405020304" pitchFamily="18" charset="0"/>
                              <a:cs typeface="Times New Roman" panose="02020603050405020304" pitchFamily="18" charset="0"/>
                            </a:rPr>
                            <m:t>𝐶</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i="1" kern="0">
                              <a:latin typeface="Cambria Math" panose="02040503050406030204" pitchFamily="18" charset="0"/>
                              <a:cs typeface="Times New Roman" panose="02020603050405020304" pitchFamily="18" charset="0"/>
                            </a:rPr>
                          </m:ctrlPr>
                        </m:sSubPr>
                        <m:e>
                          <m:r>
                            <a:rPr lang="tr-TR" kern="0">
                              <a:latin typeface="Cambria Math" panose="02040503050406030204" pitchFamily="18" charset="0"/>
                              <a:cs typeface="Times New Roman" panose="02020603050405020304" pitchFamily="18" charset="0"/>
                            </a:rPr>
                            <m:t>𝑦</m:t>
                          </m:r>
                        </m:e>
                        <m:sub>
                          <m:r>
                            <a:rPr lang="tr-TR" b="0" i="1" kern="0" smtClean="0">
                              <a:latin typeface="Cambria Math" panose="02040503050406030204" pitchFamily="18" charset="0"/>
                              <a:cs typeface="Times New Roman" panose="02020603050405020304" pitchFamily="18" charset="0"/>
                            </a:rPr>
                            <m:t>𝐶</m:t>
                          </m:r>
                        </m:sub>
                      </m:sSub>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b="0" i="1" kern="0" smtClean="0">
                              <a:effectLst/>
                              <a:latin typeface="Cambria Math" panose="02040503050406030204" pitchFamily="18" charset="0"/>
                              <a:ea typeface="Times New Roman" panose="02020603050405020304" pitchFamily="18" charset="0"/>
                              <a:cs typeface="Times New Roman" panose="02020603050405020304" pitchFamily="18" charset="0"/>
                            </a:rPr>
                            <m:t>𝐷</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m:t>
                          </m:r>
                          <m:r>
                            <a:rPr lang="tr-TR" sz="1800" b="0" i="1" kern="0"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b="0" i="1" kern="0" smtClean="0">
                              <a:effectLst/>
                              <a:latin typeface="Cambria Math" panose="02040503050406030204" pitchFamily="18" charset="0"/>
                              <a:ea typeface="Times New Roman" panose="02020603050405020304" pitchFamily="18" charset="0"/>
                              <a:cs typeface="Times New Roman" panose="02020603050405020304" pitchFamily="18" charset="0"/>
                            </a:rPr>
                            <m:t>𝐷</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b="0" i="1" kern="0" smtClean="0">
                              <a:effectLst/>
                              <a:latin typeface="Cambria Math" panose="02040503050406030204" pitchFamily="18" charset="0"/>
                              <a:ea typeface="Times New Roman" panose="02020603050405020304" pitchFamily="18" charset="0"/>
                              <a:cs typeface="Times New Roman" panose="02020603050405020304" pitchFamily="18" charset="0"/>
                            </a:rPr>
                            <m:t>𝐶</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b="0" i="1" kern="0" smtClean="0">
                              <a:effectLst/>
                              <a:latin typeface="Cambria Math" panose="02040503050406030204" pitchFamily="18" charset="0"/>
                              <a:ea typeface="Times New Roman" panose="02020603050405020304" pitchFamily="18" charset="0"/>
                              <a:cs typeface="Times New Roman" panose="02020603050405020304" pitchFamily="18" charset="0"/>
                            </a:rPr>
                            <m:t>𝐷</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b="0" i="1" kern="0" smtClean="0">
                              <a:effectLst/>
                              <a:latin typeface="Cambria Math" panose="02040503050406030204" pitchFamily="18" charset="0"/>
                              <a:ea typeface="Times New Roman" panose="02020603050405020304" pitchFamily="18" charset="0"/>
                              <a:cs typeface="Times New Roman" panose="02020603050405020304" pitchFamily="18" charset="0"/>
                            </a:rPr>
                            <m:t>𝐸</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b="0" i="1" kern="0" smtClean="0">
                              <a:effectLst/>
                              <a:latin typeface="Cambria Math" panose="02040503050406030204" pitchFamily="18" charset="0"/>
                              <a:ea typeface="Times New Roman" panose="02020603050405020304" pitchFamily="18" charset="0"/>
                              <a:cs typeface="Times New Roman" panose="02020603050405020304" pitchFamily="18" charset="0"/>
                            </a:rPr>
                            <m:t>𝐷</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i="1" kern="0">
                              <a:latin typeface="Cambria Math" panose="02040503050406030204" pitchFamily="18" charset="0"/>
                              <a:cs typeface="Times New Roman" panose="02020603050405020304" pitchFamily="18" charset="0"/>
                            </a:rPr>
                          </m:ctrlPr>
                        </m:sSubPr>
                        <m:e>
                          <m:r>
                            <a:rPr lang="tr-TR" kern="0">
                              <a:latin typeface="Cambria Math" panose="02040503050406030204" pitchFamily="18" charset="0"/>
                              <a:cs typeface="Times New Roman" panose="02020603050405020304" pitchFamily="18" charset="0"/>
                            </a:rPr>
                            <m:t>𝑦</m:t>
                          </m:r>
                        </m:e>
                        <m:sub>
                          <m:r>
                            <a:rPr lang="tr-TR" b="0" i="1" kern="0" smtClean="0">
                              <a:latin typeface="Cambria Math" panose="02040503050406030204" pitchFamily="18" charset="0"/>
                              <a:cs typeface="Times New Roman" panose="02020603050405020304" pitchFamily="18" charset="0"/>
                            </a:rPr>
                            <m:t>𝐷</m:t>
                          </m:r>
                        </m:sub>
                      </m:sSub>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b="0" i="1" kern="0" smtClean="0">
                              <a:effectLst/>
                              <a:latin typeface="Cambria Math" panose="02040503050406030204" pitchFamily="18" charset="0"/>
                              <a:ea typeface="Times New Roman" panose="02020603050405020304" pitchFamily="18" charset="0"/>
                              <a:cs typeface="Times New Roman" panose="02020603050405020304" pitchFamily="18" charset="0"/>
                            </a:rPr>
                            <m:t>𝐸</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𝐵</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b="0" i="1" kern="0" smtClean="0">
                              <a:effectLst/>
                              <a:latin typeface="Cambria Math" panose="02040503050406030204" pitchFamily="18" charset="0"/>
                              <a:ea typeface="Times New Roman" panose="02020603050405020304" pitchFamily="18" charset="0"/>
                              <a:cs typeface="Times New Roman" panose="02020603050405020304" pitchFamily="18" charset="0"/>
                            </a:rPr>
                            <m:t>𝐸</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b="0" i="1" kern="0" smtClean="0">
                              <a:effectLst/>
                              <a:latin typeface="Cambria Math" panose="02040503050406030204" pitchFamily="18" charset="0"/>
                              <a:ea typeface="Times New Roman" panose="02020603050405020304" pitchFamily="18" charset="0"/>
                              <a:cs typeface="Times New Roman" panose="02020603050405020304" pitchFamily="18" charset="0"/>
                            </a:rPr>
                            <m:t>𝐶</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b="0" i="1" kern="0" smtClean="0">
                              <a:effectLst/>
                              <a:latin typeface="Cambria Math" panose="02040503050406030204" pitchFamily="18" charset="0"/>
                              <a:ea typeface="Times New Roman" panose="02020603050405020304" pitchFamily="18" charset="0"/>
                              <a:cs typeface="Times New Roman" panose="02020603050405020304" pitchFamily="18" charset="0"/>
                            </a:rPr>
                            <m:t>𝐸</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b="0" i="1" kern="0" smtClean="0">
                              <a:effectLst/>
                              <a:latin typeface="Cambria Math" panose="02040503050406030204" pitchFamily="18" charset="0"/>
                              <a:ea typeface="Times New Roman" panose="02020603050405020304" pitchFamily="18" charset="0"/>
                              <a:cs typeface="Times New Roman" panose="02020603050405020304" pitchFamily="18" charset="0"/>
                            </a:rPr>
                            <m:t>𝐷</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b="0" i="1" kern="0" smtClean="0">
                              <a:effectLst/>
                              <a:latin typeface="Cambria Math" panose="02040503050406030204" pitchFamily="18" charset="0"/>
                              <a:ea typeface="Times New Roman" panose="02020603050405020304" pitchFamily="18" charset="0"/>
                              <a:cs typeface="Times New Roman" panose="02020603050405020304" pitchFamily="18" charset="0"/>
                            </a:rPr>
                            <m:t>𝐸</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i="1" kern="0">
                              <a:latin typeface="Cambria Math" panose="02040503050406030204" pitchFamily="18" charset="0"/>
                              <a:cs typeface="Times New Roman" panose="02020603050405020304" pitchFamily="18" charset="0"/>
                            </a:rPr>
                          </m:ctrlPr>
                        </m:sSubPr>
                        <m:e>
                          <m:r>
                            <a:rPr lang="tr-TR" kern="0">
                              <a:latin typeface="Cambria Math" panose="02040503050406030204" pitchFamily="18" charset="0"/>
                              <a:cs typeface="Times New Roman" panose="02020603050405020304" pitchFamily="18" charset="0"/>
                            </a:rPr>
                            <m:t>𝑦</m:t>
                          </m:r>
                        </m:e>
                        <m:sub>
                          <m:r>
                            <a:rPr lang="tr-TR" b="0" i="1" kern="0" smtClean="0">
                              <a:latin typeface="Cambria Math" panose="02040503050406030204" pitchFamily="18" charset="0"/>
                              <a:cs typeface="Times New Roman" panose="02020603050405020304" pitchFamily="18" charset="0"/>
                            </a:rPr>
                            <m:t>𝐸</m:t>
                          </m:r>
                        </m:sub>
                      </m:sSub>
                    </m:oMath>
                  </m:oMathPara>
                </a14:m>
                <a:endParaRPr lang="tr-TR"/>
              </a:p>
            </p:txBody>
          </p:sp>
        </mc:Choice>
        <mc:Fallback xmlns="">
          <p:sp>
            <p:nvSpPr>
              <p:cNvPr id="5" name="TextBox 4">
                <a:extLst>
                  <a:ext uri="{FF2B5EF4-FFF2-40B4-BE49-F238E27FC236}">
                    <a16:creationId xmlns:a16="http://schemas.microsoft.com/office/drawing/2014/main" id="{586D64C2-A1FC-C8C8-3AEB-8CAB70AA7982}"/>
                  </a:ext>
                </a:extLst>
              </p:cNvPr>
              <p:cNvSpPr txBox="1">
                <a:spLocks noRot="1" noChangeAspect="1" noMove="1" noResize="1" noEditPoints="1" noAdjustHandles="1" noChangeArrowheads="1" noChangeShapeType="1" noTextEdit="1"/>
              </p:cNvSpPr>
              <p:nvPr/>
            </p:nvSpPr>
            <p:spPr>
              <a:xfrm>
                <a:off x="4283968" y="2352744"/>
                <a:ext cx="4576812" cy="2152512"/>
              </a:xfrm>
              <a:prstGeom prst="rect">
                <a:avLst/>
              </a:prstGeom>
              <a:blipFill>
                <a:blip r:embed="rId3"/>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41834F0-0B7B-3C05-BFA1-9F638ADC7546}"/>
                  </a:ext>
                </a:extLst>
              </p:cNvPr>
              <p:cNvSpPr txBox="1"/>
              <p:nvPr/>
            </p:nvSpPr>
            <p:spPr>
              <a:xfrm>
                <a:off x="2123728" y="4869160"/>
                <a:ext cx="457681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tr-TR" i="1" smtClean="0">
                              <a:solidFill>
                                <a:srgbClr val="836967"/>
                              </a:solidFill>
                              <a:latin typeface="Cambria Math" panose="02040503050406030204" pitchFamily="18" charset="0"/>
                            </a:rPr>
                          </m:ctrlPr>
                        </m:sSubPr>
                        <m:e>
                          <m:r>
                            <a:rPr lang="tr-TR" i="1">
                              <a:latin typeface="Cambria Math" panose="02040503050406030204" pitchFamily="18" charset="0"/>
                            </a:rPr>
                            <m:t>𝑦</m:t>
                          </m:r>
                        </m:e>
                        <m:sub>
                          <m:r>
                            <a:rPr lang="tr-TR" i="1">
                              <a:latin typeface="Cambria Math" panose="02040503050406030204" pitchFamily="18" charset="0"/>
                            </a:rPr>
                            <m:t>𝐴</m:t>
                          </m:r>
                        </m:sub>
                      </m:sSub>
                      <m:r>
                        <a:rPr lang="tr-TR" i="0">
                          <a:latin typeface="Cambria Math" panose="02040503050406030204" pitchFamily="18" charset="0"/>
                        </a:rPr>
                        <m:t>+</m:t>
                      </m:r>
                      <m:sSub>
                        <m:sSubPr>
                          <m:ctrlPr>
                            <a:rPr lang="tr-TR" i="1">
                              <a:solidFill>
                                <a:srgbClr val="836967"/>
                              </a:solidFill>
                              <a:latin typeface="Cambria Math" panose="02040503050406030204" pitchFamily="18" charset="0"/>
                            </a:rPr>
                          </m:ctrlPr>
                        </m:sSubPr>
                        <m:e>
                          <m:r>
                            <a:rPr lang="tr-TR" i="1">
                              <a:latin typeface="Cambria Math" panose="02040503050406030204" pitchFamily="18" charset="0"/>
                            </a:rPr>
                            <m:t>𝑦</m:t>
                          </m:r>
                        </m:e>
                        <m:sub>
                          <m:r>
                            <a:rPr lang="tr-TR" i="1">
                              <a:latin typeface="Cambria Math" panose="02040503050406030204" pitchFamily="18" charset="0"/>
                            </a:rPr>
                            <m:t>𝐵</m:t>
                          </m:r>
                        </m:sub>
                      </m:sSub>
                      <m:r>
                        <a:rPr lang="tr-TR" i="0">
                          <a:latin typeface="Cambria Math" panose="02040503050406030204" pitchFamily="18" charset="0"/>
                        </a:rPr>
                        <m:t>+</m:t>
                      </m:r>
                      <m:sSub>
                        <m:sSubPr>
                          <m:ctrlPr>
                            <a:rPr lang="tr-TR" i="1">
                              <a:solidFill>
                                <a:srgbClr val="836967"/>
                              </a:solidFill>
                              <a:latin typeface="Cambria Math" panose="02040503050406030204" pitchFamily="18" charset="0"/>
                            </a:rPr>
                          </m:ctrlPr>
                        </m:sSubPr>
                        <m:e>
                          <m:r>
                            <a:rPr lang="tr-TR" i="1">
                              <a:latin typeface="Cambria Math" panose="02040503050406030204" pitchFamily="18" charset="0"/>
                            </a:rPr>
                            <m:t>𝑦</m:t>
                          </m:r>
                        </m:e>
                        <m:sub>
                          <m:r>
                            <a:rPr lang="tr-TR" i="1">
                              <a:latin typeface="Cambria Math" panose="02040503050406030204" pitchFamily="18" charset="0"/>
                            </a:rPr>
                            <m:t>𝐶</m:t>
                          </m:r>
                        </m:sub>
                      </m:sSub>
                      <m:r>
                        <a:rPr lang="tr-TR" i="0">
                          <a:latin typeface="Cambria Math" panose="02040503050406030204" pitchFamily="18" charset="0"/>
                        </a:rPr>
                        <m:t>+</m:t>
                      </m:r>
                      <m:sSub>
                        <m:sSubPr>
                          <m:ctrlPr>
                            <a:rPr lang="tr-TR" i="1">
                              <a:solidFill>
                                <a:srgbClr val="836967"/>
                              </a:solidFill>
                              <a:latin typeface="Cambria Math" panose="02040503050406030204" pitchFamily="18" charset="0"/>
                            </a:rPr>
                          </m:ctrlPr>
                        </m:sSubPr>
                        <m:e>
                          <m:r>
                            <a:rPr lang="tr-TR" i="1">
                              <a:latin typeface="Cambria Math" panose="02040503050406030204" pitchFamily="18" charset="0"/>
                            </a:rPr>
                            <m:t>𝑦</m:t>
                          </m:r>
                        </m:e>
                        <m:sub>
                          <m:r>
                            <a:rPr lang="tr-TR" i="1">
                              <a:latin typeface="Cambria Math" panose="02040503050406030204" pitchFamily="18" charset="0"/>
                            </a:rPr>
                            <m:t>𝐷</m:t>
                          </m:r>
                        </m:sub>
                      </m:sSub>
                      <m:r>
                        <a:rPr lang="tr-TR" i="0">
                          <a:latin typeface="Cambria Math" panose="02040503050406030204" pitchFamily="18" charset="0"/>
                        </a:rPr>
                        <m:t>+</m:t>
                      </m:r>
                      <m:sSub>
                        <m:sSubPr>
                          <m:ctrlPr>
                            <a:rPr lang="tr-TR" i="1">
                              <a:solidFill>
                                <a:srgbClr val="836967"/>
                              </a:solidFill>
                              <a:latin typeface="Cambria Math" panose="02040503050406030204" pitchFamily="18" charset="0"/>
                            </a:rPr>
                          </m:ctrlPr>
                        </m:sSubPr>
                        <m:e>
                          <m:r>
                            <a:rPr lang="tr-TR" i="1">
                              <a:latin typeface="Cambria Math" panose="02040503050406030204" pitchFamily="18" charset="0"/>
                            </a:rPr>
                            <m:t>𝑦</m:t>
                          </m:r>
                        </m:e>
                        <m:sub>
                          <m:r>
                            <a:rPr lang="tr-TR" i="1">
                              <a:latin typeface="Cambria Math" panose="02040503050406030204" pitchFamily="18" charset="0"/>
                            </a:rPr>
                            <m:t>𝐸</m:t>
                          </m:r>
                        </m:sub>
                      </m:sSub>
                      <m:r>
                        <a:rPr lang="tr-TR" i="0">
                          <a:latin typeface="Cambria Math" panose="02040503050406030204" pitchFamily="18" charset="0"/>
                        </a:rPr>
                        <m:t>≤5</m:t>
                      </m:r>
                    </m:oMath>
                  </m:oMathPara>
                </a14:m>
                <a:endParaRPr lang="tr-TR"/>
              </a:p>
            </p:txBody>
          </p:sp>
        </mc:Choice>
        <mc:Fallback xmlns="">
          <p:sp>
            <p:nvSpPr>
              <p:cNvPr id="9" name="TextBox 8">
                <a:extLst>
                  <a:ext uri="{FF2B5EF4-FFF2-40B4-BE49-F238E27FC236}">
                    <a16:creationId xmlns:a16="http://schemas.microsoft.com/office/drawing/2014/main" id="{A41834F0-0B7B-3C05-BFA1-9F638ADC7546}"/>
                  </a:ext>
                </a:extLst>
              </p:cNvPr>
              <p:cNvSpPr txBox="1">
                <a:spLocks noRot="1" noChangeAspect="1" noMove="1" noResize="1" noEditPoints="1" noAdjustHandles="1" noChangeArrowheads="1" noChangeShapeType="1" noTextEdit="1"/>
              </p:cNvSpPr>
              <p:nvPr/>
            </p:nvSpPr>
            <p:spPr>
              <a:xfrm>
                <a:off x="2123728" y="4869160"/>
                <a:ext cx="4576812" cy="369332"/>
              </a:xfrm>
              <a:prstGeom prst="rect">
                <a:avLst/>
              </a:prstGeom>
              <a:blipFill>
                <a:blip r:embed="rId4"/>
                <a:stretch>
                  <a:fillRect b="-6667"/>
                </a:stretch>
              </a:blipFill>
            </p:spPr>
            <p:txBody>
              <a:bodyPr/>
              <a:lstStyle/>
              <a:p>
                <a:r>
                  <a:rPr lang="tr-TR">
                    <a:noFill/>
                  </a:rPr>
                  <a:t> </a:t>
                </a:r>
              </a:p>
            </p:txBody>
          </p:sp>
        </mc:Fallback>
      </mc:AlternateContent>
    </p:spTree>
    <p:extLst>
      <p:ext uri="{BB962C8B-B14F-4D97-AF65-F5344CB8AC3E}">
        <p14:creationId xmlns:p14="http://schemas.microsoft.com/office/powerpoint/2010/main" val="37092696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2EA6D51B-F09D-3376-F391-F39307D785DB}"/>
                  </a:ext>
                </a:extLst>
              </p:cNvPr>
              <p:cNvSpPr>
                <a:spLocks noGrp="1"/>
              </p:cNvSpPr>
              <p:nvPr>
                <p:ph idx="1"/>
              </p:nvPr>
            </p:nvSpPr>
            <p:spPr>
              <a:xfrm>
                <a:off x="395536" y="1484784"/>
                <a:ext cx="8402525" cy="2016224"/>
              </a:xfrm>
            </p:spPr>
            <p:txBody>
              <a:bodyPr/>
              <a:lstStyle/>
              <a:p>
                <a:r>
                  <a:rPr lang="tr-TR"/>
                  <a:t>Çözümden A-B-C-E şehirlerini ziyaret edebileceği sonucu elde edilir. Bunu </a:t>
                </a:r>
              </a:p>
              <a:p>
                <a14:m>
                  <m:oMath xmlns:m="http://schemas.openxmlformats.org/officeDocument/2006/math">
                    <m:sSub>
                      <m:sSubPr>
                        <m:ctrlPr>
                          <a:rPr lang="tr-TR" i="1">
                            <a:latin typeface="Cambria Math" panose="02040503050406030204" pitchFamily="18" charset="0"/>
                          </a:rPr>
                        </m:ctrlPr>
                      </m:sSubPr>
                      <m:e>
                        <m:sSub>
                          <m:sSubPr>
                            <m:ctrlPr>
                              <a:rPr lang="tr-TR" i="1" smtClean="0">
                                <a:latin typeface="Cambria Math" panose="02040503050406030204" pitchFamily="18" charset="0"/>
                              </a:rPr>
                            </m:ctrlPr>
                          </m:sSubPr>
                          <m:e>
                            <m:r>
                              <a:rPr lang="tr-TR" b="0" i="1" smtClean="0">
                                <a:latin typeface="Cambria Math" panose="02040503050406030204" pitchFamily="18" charset="0"/>
                              </a:rPr>
                              <m:t>𝑦</m:t>
                            </m:r>
                          </m:e>
                          <m:sub>
                            <m:r>
                              <a:rPr lang="tr-TR" b="0" i="1" smtClean="0">
                                <a:latin typeface="Cambria Math" panose="02040503050406030204" pitchFamily="18" charset="0"/>
                              </a:rPr>
                              <m:t>𝐴</m:t>
                            </m:r>
                          </m:sub>
                        </m:sSub>
                        <m:r>
                          <a:rPr lang="tr-TR" b="0" i="1" smtClean="0">
                            <a:latin typeface="Cambria Math" panose="02040503050406030204" pitchFamily="18" charset="0"/>
                          </a:rPr>
                          <m:t>=</m:t>
                        </m:r>
                        <m:r>
                          <a:rPr lang="tr-TR">
                            <a:latin typeface="Cambria Math" panose="02040503050406030204" pitchFamily="18" charset="0"/>
                          </a:rPr>
                          <m:t>𝑦</m:t>
                        </m:r>
                      </m:e>
                      <m:sub>
                        <m:r>
                          <a:rPr lang="tr-TR" b="0" i="1" smtClean="0">
                            <a:latin typeface="Cambria Math" panose="02040503050406030204" pitchFamily="18" charset="0"/>
                          </a:rPr>
                          <m:t>𝐵</m:t>
                        </m:r>
                      </m:sub>
                    </m:sSub>
                    <m:r>
                      <a:rPr lang="tr-TR" b="0" i="1" smtClean="0">
                        <a:latin typeface="Cambria Math" panose="02040503050406030204" pitchFamily="18" charset="0"/>
                      </a:rPr>
                      <m:t>=</m:t>
                    </m:r>
                    <m:sSub>
                      <m:sSubPr>
                        <m:ctrlPr>
                          <a:rPr lang="tr-TR" i="1">
                            <a:latin typeface="Cambria Math" panose="02040503050406030204" pitchFamily="18" charset="0"/>
                          </a:rPr>
                        </m:ctrlPr>
                      </m:sSubPr>
                      <m:e>
                        <m:r>
                          <a:rPr lang="tr-TR">
                            <a:latin typeface="Cambria Math" panose="02040503050406030204" pitchFamily="18" charset="0"/>
                          </a:rPr>
                          <m:t>𝑦</m:t>
                        </m:r>
                      </m:e>
                      <m:sub>
                        <m:r>
                          <a:rPr lang="tr-TR" b="0" i="1" smtClean="0">
                            <a:latin typeface="Cambria Math" panose="02040503050406030204" pitchFamily="18" charset="0"/>
                          </a:rPr>
                          <m:t>𝐶</m:t>
                        </m:r>
                      </m:sub>
                    </m:sSub>
                    <m:r>
                      <a:rPr lang="tr-TR" b="0" i="1" smtClean="0">
                        <a:latin typeface="Cambria Math" panose="02040503050406030204" pitchFamily="18" charset="0"/>
                      </a:rPr>
                      <m:t>=</m:t>
                    </m:r>
                    <m:sSub>
                      <m:sSubPr>
                        <m:ctrlPr>
                          <a:rPr lang="tr-TR" i="1">
                            <a:latin typeface="Cambria Math" panose="02040503050406030204" pitchFamily="18" charset="0"/>
                          </a:rPr>
                        </m:ctrlPr>
                      </m:sSubPr>
                      <m:e>
                        <m:r>
                          <a:rPr lang="tr-TR">
                            <a:latin typeface="Cambria Math" panose="02040503050406030204" pitchFamily="18" charset="0"/>
                          </a:rPr>
                          <m:t>𝑦</m:t>
                        </m:r>
                      </m:e>
                      <m:sub>
                        <m:r>
                          <a:rPr lang="tr-TR" b="0" i="1" smtClean="0">
                            <a:latin typeface="Cambria Math" panose="02040503050406030204" pitchFamily="18" charset="0"/>
                          </a:rPr>
                          <m:t>𝐸</m:t>
                        </m:r>
                      </m:sub>
                    </m:sSub>
                    <m:r>
                      <a:rPr lang="tr-TR" b="0" i="1" smtClean="0">
                        <a:latin typeface="Cambria Math" panose="02040503050406030204" pitchFamily="18" charset="0"/>
                      </a:rPr>
                      <m:t>=1 </m:t>
                    </m:r>
                  </m:oMath>
                </a14:m>
                <a:r>
                  <a:rPr lang="tr-TR"/>
                  <a:t>sonucundan anlarız. Kar 27 ₺’dır. </a:t>
                </a:r>
              </a:p>
              <a:p>
                <a:endParaRPr lang="tr-TR"/>
              </a:p>
              <a:p>
                <a:r>
                  <a:rPr lang="tr-TR"/>
                  <a:t>Peki, eğer satıcımız D şehrince bulunuyor olsaydı modelimiz nasıl olmalıdır?</a:t>
                </a:r>
              </a:p>
              <a:p>
                <a:endParaRPr lang="tr-TR"/>
              </a:p>
              <a:p>
                <a:endParaRPr lang="tr-TR"/>
              </a:p>
              <a:p>
                <a:endParaRPr lang="tr-TR"/>
              </a:p>
            </p:txBody>
          </p:sp>
        </mc:Choice>
        <mc:Fallback xmlns="">
          <p:sp>
            <p:nvSpPr>
              <p:cNvPr id="2" name="Content Placeholder 1">
                <a:extLst>
                  <a:ext uri="{FF2B5EF4-FFF2-40B4-BE49-F238E27FC236}">
                    <a16:creationId xmlns:a16="http://schemas.microsoft.com/office/drawing/2014/main" id="{2EA6D51B-F09D-3376-F391-F39307D785DB}"/>
                  </a:ext>
                </a:extLst>
              </p:cNvPr>
              <p:cNvSpPr>
                <a:spLocks noGrp="1" noRot="1" noChangeAspect="1" noMove="1" noResize="1" noEditPoints="1" noAdjustHandles="1" noChangeArrowheads="1" noChangeShapeType="1" noTextEdit="1"/>
              </p:cNvSpPr>
              <p:nvPr>
                <p:ph idx="1"/>
              </p:nvPr>
            </p:nvSpPr>
            <p:spPr>
              <a:xfrm>
                <a:off x="395536" y="1484784"/>
                <a:ext cx="8402525" cy="2016224"/>
              </a:xfrm>
              <a:blipFill>
                <a:blip r:embed="rId2"/>
                <a:stretch>
                  <a:fillRect l="-435" t="-909"/>
                </a:stretch>
              </a:blipFill>
            </p:spPr>
            <p:txBody>
              <a:bodyPr/>
              <a:lstStyle/>
              <a:p>
                <a:r>
                  <a:rPr lang="tr-TR">
                    <a:noFill/>
                  </a:rPr>
                  <a:t> </a:t>
                </a:r>
              </a:p>
            </p:txBody>
          </p:sp>
        </mc:Fallback>
      </mc:AlternateContent>
      <p:sp>
        <p:nvSpPr>
          <p:cNvPr id="3" name="Title 2">
            <a:extLst>
              <a:ext uri="{FF2B5EF4-FFF2-40B4-BE49-F238E27FC236}">
                <a16:creationId xmlns:a16="http://schemas.microsoft.com/office/drawing/2014/main" id="{846B8E0E-B5AA-C38D-63E8-33C2F2C3762A}"/>
              </a:ext>
            </a:extLst>
          </p:cNvPr>
          <p:cNvSpPr>
            <a:spLocks noGrp="1"/>
          </p:cNvSpPr>
          <p:nvPr>
            <p:ph type="title"/>
          </p:nvPr>
        </p:nvSpPr>
        <p:spPr/>
        <p:txBody>
          <a:bodyPr/>
          <a:lstStyle/>
          <a:p>
            <a:endParaRPr lang="tr-T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94C75D7-0026-5B6A-E717-BC8A01027686}"/>
                  </a:ext>
                </a:extLst>
              </p:cNvPr>
              <p:cNvSpPr txBox="1"/>
              <p:nvPr/>
            </p:nvSpPr>
            <p:spPr>
              <a:xfrm>
                <a:off x="827584" y="3522712"/>
                <a:ext cx="6768263" cy="1477328"/>
              </a:xfrm>
              <a:prstGeom prst="rect">
                <a:avLst/>
              </a:prstGeom>
              <a:noFill/>
            </p:spPr>
            <p:txBody>
              <a:bodyPr wrap="none" rtlCol="0">
                <a:spAutoFit/>
              </a:bodyPr>
              <a:lstStyle/>
              <a:p>
                <a:r>
                  <a:rPr lang="tr-TR" b="1"/>
                  <a:t>CEVAP:</a:t>
                </a:r>
              </a:p>
              <a:p>
                <a:endParaRPr lang="tr-TR"/>
              </a:p>
              <a:p>
                <a:r>
                  <a:rPr lang="tr-TR"/>
                  <a:t>Mademki satıcı zaten D şehrindedir. O halde yD=1 kısıtı modele eklenir. </a:t>
                </a:r>
              </a:p>
              <a:p>
                <a:endParaRPr lang="tr-TR"/>
              </a:p>
              <a:p>
                <a:r>
                  <a:rPr lang="tr-TR"/>
                  <a:t>Sonuç </a:t>
                </a:r>
                <a14:m>
                  <m:oMath xmlns:m="http://schemas.openxmlformats.org/officeDocument/2006/math">
                    <m:sSub>
                      <m:sSubPr>
                        <m:ctrlPr>
                          <a:rPr lang="tr-TR" i="1" smtClean="0">
                            <a:latin typeface="Cambria Math" panose="02040503050406030204" pitchFamily="18" charset="0"/>
                          </a:rPr>
                        </m:ctrlPr>
                      </m:sSubPr>
                      <m:e>
                        <m:sSub>
                          <m:sSubPr>
                            <m:ctrlPr>
                              <a:rPr lang="tr-TR" i="1" smtClean="0">
                                <a:latin typeface="Cambria Math" panose="02040503050406030204" pitchFamily="18" charset="0"/>
                              </a:rPr>
                            </m:ctrlPr>
                          </m:sSubPr>
                          <m:e>
                            <m:r>
                              <a:rPr lang="tr-TR" b="0" i="1" smtClean="0">
                                <a:latin typeface="Cambria Math" panose="02040503050406030204" pitchFamily="18" charset="0"/>
                              </a:rPr>
                              <m:t>𝑦</m:t>
                            </m:r>
                          </m:e>
                          <m:sub>
                            <m:r>
                              <a:rPr lang="tr-TR" b="0" i="1" smtClean="0">
                                <a:latin typeface="Cambria Math" panose="02040503050406030204" pitchFamily="18" charset="0"/>
                              </a:rPr>
                              <m:t>𝐴</m:t>
                            </m:r>
                          </m:sub>
                        </m:sSub>
                        <m:r>
                          <a:rPr lang="tr-TR" b="0" i="1" smtClean="0">
                            <a:latin typeface="Cambria Math" panose="02040503050406030204" pitchFamily="18" charset="0"/>
                          </a:rPr>
                          <m:t>=</m:t>
                        </m:r>
                        <m:r>
                          <a:rPr lang="tr-TR">
                            <a:latin typeface="Cambria Math" panose="02040503050406030204" pitchFamily="18" charset="0"/>
                          </a:rPr>
                          <m:t>𝑦</m:t>
                        </m:r>
                      </m:e>
                      <m:sub>
                        <m:r>
                          <a:rPr lang="tr-TR" b="0" i="1" smtClean="0">
                            <a:latin typeface="Cambria Math" panose="02040503050406030204" pitchFamily="18" charset="0"/>
                          </a:rPr>
                          <m:t>𝐶</m:t>
                        </m:r>
                      </m:sub>
                    </m:sSub>
                    <m:r>
                      <a:rPr lang="tr-TR" b="0" i="1" smtClean="0">
                        <a:latin typeface="Cambria Math" panose="02040503050406030204" pitchFamily="18" charset="0"/>
                      </a:rPr>
                      <m:t>=</m:t>
                    </m:r>
                    <m:sSub>
                      <m:sSubPr>
                        <m:ctrlPr>
                          <a:rPr lang="tr-TR" i="1">
                            <a:latin typeface="Cambria Math" panose="02040503050406030204" pitchFamily="18" charset="0"/>
                          </a:rPr>
                        </m:ctrlPr>
                      </m:sSubPr>
                      <m:e>
                        <m:r>
                          <a:rPr lang="tr-TR">
                            <a:latin typeface="Cambria Math" panose="02040503050406030204" pitchFamily="18" charset="0"/>
                          </a:rPr>
                          <m:t>𝑦</m:t>
                        </m:r>
                      </m:e>
                      <m:sub>
                        <m:r>
                          <a:rPr lang="tr-TR" b="0" i="1" smtClean="0">
                            <a:latin typeface="Cambria Math" panose="02040503050406030204" pitchFamily="18" charset="0"/>
                          </a:rPr>
                          <m:t>𝐷</m:t>
                        </m:r>
                      </m:sub>
                    </m:sSub>
                    <m:r>
                      <a:rPr lang="tr-TR" b="0" i="1" smtClean="0">
                        <a:latin typeface="Cambria Math" panose="02040503050406030204" pitchFamily="18" charset="0"/>
                      </a:rPr>
                      <m:t>=</m:t>
                    </m:r>
                    <m:sSub>
                      <m:sSubPr>
                        <m:ctrlPr>
                          <a:rPr lang="tr-TR" i="1">
                            <a:latin typeface="Cambria Math" panose="02040503050406030204" pitchFamily="18" charset="0"/>
                          </a:rPr>
                        </m:ctrlPr>
                      </m:sSubPr>
                      <m:e>
                        <m:r>
                          <a:rPr lang="tr-TR">
                            <a:latin typeface="Cambria Math" panose="02040503050406030204" pitchFamily="18" charset="0"/>
                          </a:rPr>
                          <m:t>𝑦</m:t>
                        </m:r>
                      </m:e>
                      <m:sub>
                        <m:r>
                          <a:rPr lang="tr-TR" b="0" i="1" smtClean="0">
                            <a:latin typeface="Cambria Math" panose="02040503050406030204" pitchFamily="18" charset="0"/>
                          </a:rPr>
                          <m:t>𝐸</m:t>
                        </m:r>
                      </m:sub>
                    </m:sSub>
                    <m:r>
                      <a:rPr lang="tr-TR" b="0" i="1" smtClean="0">
                        <a:latin typeface="Cambria Math" panose="02040503050406030204" pitchFamily="18" charset="0"/>
                      </a:rPr>
                      <m:t>=1</m:t>
                    </m:r>
                  </m:oMath>
                </a14:m>
                <a:r>
                  <a:rPr lang="tr-TR"/>
                  <a:t> olarak bulunur ve kar 23 ₺’dır. </a:t>
                </a:r>
              </a:p>
            </p:txBody>
          </p:sp>
        </mc:Choice>
        <mc:Fallback xmlns="">
          <p:sp>
            <p:nvSpPr>
              <p:cNvPr id="4" name="TextBox 3">
                <a:extLst>
                  <a:ext uri="{FF2B5EF4-FFF2-40B4-BE49-F238E27FC236}">
                    <a16:creationId xmlns:a16="http://schemas.microsoft.com/office/drawing/2014/main" id="{294C75D7-0026-5B6A-E717-BC8A01027686}"/>
                  </a:ext>
                </a:extLst>
              </p:cNvPr>
              <p:cNvSpPr txBox="1">
                <a:spLocks noRot="1" noChangeAspect="1" noMove="1" noResize="1" noEditPoints="1" noAdjustHandles="1" noChangeArrowheads="1" noChangeShapeType="1" noTextEdit="1"/>
              </p:cNvSpPr>
              <p:nvPr/>
            </p:nvSpPr>
            <p:spPr>
              <a:xfrm>
                <a:off x="827584" y="3522712"/>
                <a:ext cx="6768263" cy="1477328"/>
              </a:xfrm>
              <a:prstGeom prst="rect">
                <a:avLst/>
              </a:prstGeom>
              <a:blipFill>
                <a:blip r:embed="rId3"/>
                <a:stretch>
                  <a:fillRect l="-811" t="-2479" b="-5785"/>
                </a:stretch>
              </a:blipFill>
            </p:spPr>
            <p:txBody>
              <a:bodyPr/>
              <a:lstStyle/>
              <a:p>
                <a:r>
                  <a:rPr lang="tr-TR">
                    <a:noFill/>
                  </a:rPr>
                  <a:t> </a:t>
                </a:r>
              </a:p>
            </p:txBody>
          </p:sp>
        </mc:Fallback>
      </mc:AlternateContent>
    </p:spTree>
    <p:extLst>
      <p:ext uri="{BB962C8B-B14F-4D97-AF65-F5344CB8AC3E}">
        <p14:creationId xmlns:p14="http://schemas.microsoft.com/office/powerpoint/2010/main" val="3218263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415E855-D885-9C17-F899-848623F47122}"/>
              </a:ext>
            </a:extLst>
          </p:cNvPr>
          <p:cNvSpPr>
            <a:spLocks noGrp="1"/>
          </p:cNvSpPr>
          <p:nvPr>
            <p:ph idx="1"/>
          </p:nvPr>
        </p:nvSpPr>
        <p:spPr/>
        <p:txBody>
          <a:bodyPr/>
          <a:lstStyle/>
          <a:p>
            <a:r>
              <a:rPr lang="tr-TR">
                <a:effectLst/>
              </a:rPr>
              <a:t>Şimdi problemi zaman sınırı ve her bir şehirde harcanacak sürelerin de tanımlı olduğu bir problem    olarak ele alalım. Satıcımız her bir şehirde belirli bir süre kalacak, şehirler arasında belirli bir       sürede seyahat edecek ve toplam süresi sınırlı olacaktır. Problemi farklı seviyelerde ele alalım. İlk olarak bir satıcının seyahat süresini ve maliyetini en azlayan problemi inceleyelim.</a:t>
            </a:r>
          </a:p>
          <a:p>
            <a:br>
              <a:rPr lang="tr-TR">
                <a:effectLst/>
              </a:rPr>
            </a:br>
            <a:r>
              <a:rPr lang="pt-BR">
                <a:effectLst/>
              </a:rPr>
              <a:t>A=2, B=3, C=5, D=3, E=4</a:t>
            </a:r>
            <a:endParaRPr lang="tr-TR">
              <a:effectLst/>
            </a:endParaRPr>
          </a:p>
          <a:p>
            <a:endParaRPr lang="tr-TR"/>
          </a:p>
          <a:p>
            <a:endParaRPr lang="tr-TR"/>
          </a:p>
        </p:txBody>
      </p:sp>
      <p:sp>
        <p:nvSpPr>
          <p:cNvPr id="3" name="Title 2">
            <a:extLst>
              <a:ext uri="{FF2B5EF4-FFF2-40B4-BE49-F238E27FC236}">
                <a16:creationId xmlns:a16="http://schemas.microsoft.com/office/drawing/2014/main" id="{D28A45C6-3DB0-9CC0-B856-47B7043DB9B5}"/>
              </a:ext>
            </a:extLst>
          </p:cNvPr>
          <p:cNvSpPr>
            <a:spLocks noGrp="1"/>
          </p:cNvSpPr>
          <p:nvPr>
            <p:ph type="title"/>
          </p:nvPr>
        </p:nvSpPr>
        <p:spPr/>
        <p:txBody>
          <a:bodyPr/>
          <a:lstStyle/>
          <a:p>
            <a:endParaRPr lang="tr-TR"/>
          </a:p>
        </p:txBody>
      </p:sp>
      <p:pic>
        <p:nvPicPr>
          <p:cNvPr id="5" name="Picture 4">
            <a:extLst>
              <a:ext uri="{FF2B5EF4-FFF2-40B4-BE49-F238E27FC236}">
                <a16:creationId xmlns:a16="http://schemas.microsoft.com/office/drawing/2014/main" id="{297C7C83-8C0C-DFEE-802C-B3351D6D2109}"/>
              </a:ext>
            </a:extLst>
          </p:cNvPr>
          <p:cNvPicPr>
            <a:picLocks noChangeAspect="1"/>
          </p:cNvPicPr>
          <p:nvPr/>
        </p:nvPicPr>
        <p:blipFill>
          <a:blip r:embed="rId2"/>
          <a:stretch>
            <a:fillRect/>
          </a:stretch>
        </p:blipFill>
        <p:spPr>
          <a:xfrm>
            <a:off x="1979712" y="3573016"/>
            <a:ext cx="5400600" cy="217854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5215459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8961AA2-F6AF-93D4-1D28-4C96F8454B68}"/>
              </a:ext>
            </a:extLst>
          </p:cNvPr>
          <p:cNvSpPr>
            <a:spLocks noGrp="1"/>
          </p:cNvSpPr>
          <p:nvPr>
            <p:ph type="title"/>
          </p:nvPr>
        </p:nvSpPr>
        <p:spPr/>
        <p:txBody>
          <a:bodyPr/>
          <a:lstStyle/>
          <a:p>
            <a:endParaRPr lang="tr-TR"/>
          </a:p>
        </p:txBody>
      </p:sp>
      <p:pic>
        <p:nvPicPr>
          <p:cNvPr id="9" name="Content Placeholder 8">
            <a:extLst>
              <a:ext uri="{FF2B5EF4-FFF2-40B4-BE49-F238E27FC236}">
                <a16:creationId xmlns:a16="http://schemas.microsoft.com/office/drawing/2014/main" id="{ACA94003-A74D-A3A8-8A2D-D44060E6FC5B}"/>
              </a:ext>
            </a:extLst>
          </p:cNvPr>
          <p:cNvPicPr>
            <a:picLocks noGrp="1" noChangeAspect="1"/>
          </p:cNvPicPr>
          <p:nvPr>
            <p:ph idx="1"/>
          </p:nvPr>
        </p:nvPicPr>
        <p:blipFill>
          <a:blip r:embed="rId2"/>
          <a:stretch>
            <a:fillRect/>
          </a:stretch>
        </p:blipFill>
        <p:spPr>
          <a:xfrm>
            <a:off x="4040967" y="1104525"/>
            <a:ext cx="3858163" cy="371527"/>
          </a:xfrm>
          <a:prstGeom prst="rect">
            <a:avLst/>
          </a:prstGeom>
        </p:spPr>
      </p:pic>
      <p:pic>
        <p:nvPicPr>
          <p:cNvPr id="7" name="Picture 6">
            <a:extLst>
              <a:ext uri="{FF2B5EF4-FFF2-40B4-BE49-F238E27FC236}">
                <a16:creationId xmlns:a16="http://schemas.microsoft.com/office/drawing/2014/main" id="{EAF1A4E9-E81C-1171-AADC-3B1BC206CF6E}"/>
              </a:ext>
            </a:extLst>
          </p:cNvPr>
          <p:cNvPicPr>
            <a:picLocks noChangeAspect="1"/>
          </p:cNvPicPr>
          <p:nvPr/>
        </p:nvPicPr>
        <p:blipFill>
          <a:blip r:embed="rId3"/>
          <a:stretch>
            <a:fillRect/>
          </a:stretch>
        </p:blipFill>
        <p:spPr>
          <a:xfrm>
            <a:off x="1403648" y="1628801"/>
            <a:ext cx="6437060" cy="2009884"/>
          </a:xfrm>
          <a:prstGeom prst="rect">
            <a:avLst/>
          </a:prstGeom>
        </p:spPr>
      </p:pic>
      <p:pic>
        <p:nvPicPr>
          <p:cNvPr id="11" name="Picture 10">
            <a:extLst>
              <a:ext uri="{FF2B5EF4-FFF2-40B4-BE49-F238E27FC236}">
                <a16:creationId xmlns:a16="http://schemas.microsoft.com/office/drawing/2014/main" id="{0F7A7DB5-7D43-0A2A-BACC-3BCF67B269D0}"/>
              </a:ext>
            </a:extLst>
          </p:cNvPr>
          <p:cNvPicPr>
            <a:picLocks noChangeAspect="1"/>
          </p:cNvPicPr>
          <p:nvPr/>
        </p:nvPicPr>
        <p:blipFill>
          <a:blip r:embed="rId4"/>
          <a:stretch>
            <a:fillRect/>
          </a:stretch>
        </p:blipFill>
        <p:spPr>
          <a:xfrm>
            <a:off x="683569" y="3794832"/>
            <a:ext cx="3600400" cy="1590675"/>
          </a:xfrm>
          <a:prstGeom prst="rect">
            <a:avLst/>
          </a:prstGeom>
        </p:spPr>
      </p:pic>
      <p:pic>
        <p:nvPicPr>
          <p:cNvPr id="13" name="Picture 12">
            <a:extLst>
              <a:ext uri="{FF2B5EF4-FFF2-40B4-BE49-F238E27FC236}">
                <a16:creationId xmlns:a16="http://schemas.microsoft.com/office/drawing/2014/main" id="{ED3CDEC2-B52F-589F-F4EA-32B516C4E40D}"/>
              </a:ext>
            </a:extLst>
          </p:cNvPr>
          <p:cNvPicPr>
            <a:picLocks noChangeAspect="1"/>
          </p:cNvPicPr>
          <p:nvPr/>
        </p:nvPicPr>
        <p:blipFill>
          <a:blip r:embed="rId5"/>
          <a:stretch>
            <a:fillRect/>
          </a:stretch>
        </p:blipFill>
        <p:spPr>
          <a:xfrm>
            <a:off x="683569" y="5824697"/>
            <a:ext cx="7344816" cy="308236"/>
          </a:xfrm>
          <a:prstGeom prst="rect">
            <a:avLst/>
          </a:prstGeom>
        </p:spPr>
      </p:pic>
    </p:spTree>
    <p:extLst>
      <p:ext uri="{BB962C8B-B14F-4D97-AF65-F5344CB8AC3E}">
        <p14:creationId xmlns:p14="http://schemas.microsoft.com/office/powerpoint/2010/main" val="11192221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247AD07-BF39-D85E-9E35-E248A3B5BCA4}"/>
              </a:ext>
            </a:extLst>
          </p:cNvPr>
          <p:cNvSpPr>
            <a:spLocks noGrp="1"/>
          </p:cNvSpPr>
          <p:nvPr>
            <p:ph idx="1"/>
          </p:nvPr>
        </p:nvSpPr>
        <p:spPr/>
        <p:txBody>
          <a:bodyPr/>
          <a:lstStyle/>
          <a:p>
            <a:endParaRPr lang="tr-TR"/>
          </a:p>
        </p:txBody>
      </p:sp>
      <p:sp>
        <p:nvSpPr>
          <p:cNvPr id="3" name="Title 2">
            <a:extLst>
              <a:ext uri="{FF2B5EF4-FFF2-40B4-BE49-F238E27FC236}">
                <a16:creationId xmlns:a16="http://schemas.microsoft.com/office/drawing/2014/main" id="{7A1B4FBE-F275-9E7B-6F37-74C7E7035942}"/>
              </a:ext>
            </a:extLst>
          </p:cNvPr>
          <p:cNvSpPr>
            <a:spLocks noGrp="1"/>
          </p:cNvSpPr>
          <p:nvPr>
            <p:ph type="title"/>
          </p:nvPr>
        </p:nvSpPr>
        <p:spPr/>
        <p:txBody>
          <a:bodyPr/>
          <a:lstStyle/>
          <a:p>
            <a:endParaRPr lang="tr-TR"/>
          </a:p>
        </p:txBody>
      </p:sp>
      <p:pic>
        <p:nvPicPr>
          <p:cNvPr id="5" name="Picture 4">
            <a:extLst>
              <a:ext uri="{FF2B5EF4-FFF2-40B4-BE49-F238E27FC236}">
                <a16:creationId xmlns:a16="http://schemas.microsoft.com/office/drawing/2014/main" id="{6854C27A-DE2F-AFF8-C7C3-13F43490E46C}"/>
              </a:ext>
            </a:extLst>
          </p:cNvPr>
          <p:cNvPicPr>
            <a:picLocks noChangeAspect="1"/>
          </p:cNvPicPr>
          <p:nvPr/>
        </p:nvPicPr>
        <p:blipFill>
          <a:blip r:embed="rId2"/>
          <a:stretch>
            <a:fillRect/>
          </a:stretch>
        </p:blipFill>
        <p:spPr>
          <a:xfrm>
            <a:off x="395536" y="1484784"/>
            <a:ext cx="3608891" cy="3600400"/>
          </a:xfrm>
          <a:prstGeom prst="rect">
            <a:avLst/>
          </a:prstGeom>
        </p:spPr>
      </p:pic>
      <p:pic>
        <p:nvPicPr>
          <p:cNvPr id="7" name="Picture 6">
            <a:extLst>
              <a:ext uri="{FF2B5EF4-FFF2-40B4-BE49-F238E27FC236}">
                <a16:creationId xmlns:a16="http://schemas.microsoft.com/office/drawing/2014/main" id="{179DA62D-7595-4DEC-B1F3-31FAA5004323}"/>
              </a:ext>
            </a:extLst>
          </p:cNvPr>
          <p:cNvPicPr>
            <a:picLocks noChangeAspect="1"/>
          </p:cNvPicPr>
          <p:nvPr/>
        </p:nvPicPr>
        <p:blipFill>
          <a:blip r:embed="rId3"/>
          <a:stretch>
            <a:fillRect/>
          </a:stretch>
        </p:blipFill>
        <p:spPr>
          <a:xfrm>
            <a:off x="4871652" y="1484784"/>
            <a:ext cx="3632290" cy="2376264"/>
          </a:xfrm>
          <a:prstGeom prst="rect">
            <a:avLst/>
          </a:prstGeom>
        </p:spPr>
      </p:pic>
    </p:spTree>
    <p:extLst>
      <p:ext uri="{BB962C8B-B14F-4D97-AF65-F5344CB8AC3E}">
        <p14:creationId xmlns:p14="http://schemas.microsoft.com/office/powerpoint/2010/main" val="23450305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271D50C-83D0-8D4C-8753-3277B0672777}"/>
              </a:ext>
            </a:extLst>
          </p:cNvPr>
          <p:cNvSpPr>
            <a:spLocks noGrp="1"/>
          </p:cNvSpPr>
          <p:nvPr>
            <p:ph idx="1"/>
          </p:nvPr>
        </p:nvSpPr>
        <p:spPr/>
        <p:txBody>
          <a:bodyPr/>
          <a:lstStyle/>
          <a:p>
            <a:r>
              <a:rPr lang="tr-TR"/>
              <a:t>Sonuçlar xoa=xae=xeb=xbo=1 olarak bulunur. Ziyaretler şu şekildedir; O-A-E-B-O. Görüldüğü gibi C   ve D şehirleri ziyaret edilememiştir (Yc=Yd=0). </a:t>
            </a:r>
          </a:p>
          <a:p>
            <a:br>
              <a:rPr lang="tr-TR"/>
            </a:br>
            <a:endParaRPr lang="tr-TR"/>
          </a:p>
          <a:p>
            <a:r>
              <a:rPr lang="tr-TR"/>
              <a:t>Şimdi soruyu şu şekilde soralım; tüm şehirleri ziyaret etmesi için gerekli minimum süre nedir? Bu      durumda 20 olan süre sınırını w değişkeni ile değiştirilir. Çözümden w için bulunan değer tüm     şehirlerin ziyaret edilmesi için gerekli süreyi verir. Çözümden tüm şehirler O-D-C-A-B-E-O              sırasıyla ziyaret edilir w=35 olarak bulunur. </a:t>
            </a:r>
          </a:p>
        </p:txBody>
      </p:sp>
      <p:sp>
        <p:nvSpPr>
          <p:cNvPr id="3" name="Title 2">
            <a:extLst>
              <a:ext uri="{FF2B5EF4-FFF2-40B4-BE49-F238E27FC236}">
                <a16:creationId xmlns:a16="http://schemas.microsoft.com/office/drawing/2014/main" id="{31B4E76C-5420-678F-32AA-91646AC36DC1}"/>
              </a:ext>
            </a:extLst>
          </p:cNvPr>
          <p:cNvSpPr>
            <a:spLocks noGrp="1"/>
          </p:cNvSpPr>
          <p:nvPr>
            <p:ph type="title"/>
          </p:nvPr>
        </p:nvSpPr>
        <p:spPr/>
        <p:txBody>
          <a:bodyPr/>
          <a:lstStyle/>
          <a:p>
            <a:endParaRPr lang="tr-TR"/>
          </a:p>
        </p:txBody>
      </p:sp>
    </p:spTree>
    <p:extLst>
      <p:ext uri="{BB962C8B-B14F-4D97-AF65-F5344CB8AC3E}">
        <p14:creationId xmlns:p14="http://schemas.microsoft.com/office/powerpoint/2010/main" val="31016584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223DED7-15D6-CFC2-C090-AEF68508FA7D}"/>
              </a:ext>
            </a:extLst>
          </p:cNvPr>
          <p:cNvSpPr>
            <a:spLocks noGrp="1"/>
          </p:cNvSpPr>
          <p:nvPr>
            <p:ph idx="1"/>
          </p:nvPr>
        </p:nvSpPr>
        <p:spPr/>
        <p:txBody>
          <a:bodyPr/>
          <a:lstStyle/>
          <a:p>
            <a:endParaRPr lang="tr-TR"/>
          </a:p>
        </p:txBody>
      </p:sp>
      <p:sp>
        <p:nvSpPr>
          <p:cNvPr id="3" name="Title 2">
            <a:extLst>
              <a:ext uri="{FF2B5EF4-FFF2-40B4-BE49-F238E27FC236}">
                <a16:creationId xmlns:a16="http://schemas.microsoft.com/office/drawing/2014/main" id="{DC5E2871-31F7-FBD4-C2BA-8EA15B2B4721}"/>
              </a:ext>
            </a:extLst>
          </p:cNvPr>
          <p:cNvSpPr>
            <a:spLocks noGrp="1"/>
          </p:cNvSpPr>
          <p:nvPr>
            <p:ph type="title"/>
          </p:nvPr>
        </p:nvSpPr>
        <p:spPr/>
        <p:txBody>
          <a:bodyPr/>
          <a:lstStyle/>
          <a:p>
            <a:r>
              <a:rPr lang="tr-TR"/>
              <a:t>İki Satıcı</a:t>
            </a:r>
          </a:p>
        </p:txBody>
      </p:sp>
      <p:pic>
        <p:nvPicPr>
          <p:cNvPr id="5" name="Picture 4">
            <a:extLst>
              <a:ext uri="{FF2B5EF4-FFF2-40B4-BE49-F238E27FC236}">
                <a16:creationId xmlns:a16="http://schemas.microsoft.com/office/drawing/2014/main" id="{CB1EAB6C-623C-46CC-AFE6-11790CD8C05A}"/>
              </a:ext>
            </a:extLst>
          </p:cNvPr>
          <p:cNvPicPr>
            <a:picLocks noChangeAspect="1"/>
          </p:cNvPicPr>
          <p:nvPr/>
        </p:nvPicPr>
        <p:blipFill>
          <a:blip r:embed="rId2"/>
          <a:stretch>
            <a:fillRect/>
          </a:stretch>
        </p:blipFill>
        <p:spPr>
          <a:xfrm>
            <a:off x="1998147" y="1543687"/>
            <a:ext cx="6801799" cy="1733792"/>
          </a:xfrm>
          <a:prstGeom prst="rect">
            <a:avLst/>
          </a:prstGeom>
        </p:spPr>
      </p:pic>
      <p:pic>
        <p:nvPicPr>
          <p:cNvPr id="7" name="Picture 6">
            <a:extLst>
              <a:ext uri="{FF2B5EF4-FFF2-40B4-BE49-F238E27FC236}">
                <a16:creationId xmlns:a16="http://schemas.microsoft.com/office/drawing/2014/main" id="{238F6E25-1E80-1E79-055E-D7CC7D4AFCF1}"/>
              </a:ext>
            </a:extLst>
          </p:cNvPr>
          <p:cNvPicPr>
            <a:picLocks noChangeAspect="1"/>
          </p:cNvPicPr>
          <p:nvPr/>
        </p:nvPicPr>
        <p:blipFill>
          <a:blip r:embed="rId3"/>
          <a:stretch>
            <a:fillRect/>
          </a:stretch>
        </p:blipFill>
        <p:spPr>
          <a:xfrm>
            <a:off x="2195736" y="3432279"/>
            <a:ext cx="6677957" cy="790685"/>
          </a:xfrm>
          <a:prstGeom prst="rect">
            <a:avLst/>
          </a:prstGeom>
        </p:spPr>
      </p:pic>
    </p:spTree>
    <p:extLst>
      <p:ext uri="{BB962C8B-B14F-4D97-AF65-F5344CB8AC3E}">
        <p14:creationId xmlns:p14="http://schemas.microsoft.com/office/powerpoint/2010/main" val="6050440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FE4E1B5-845D-A0FB-DD51-75C77AB29EC1}"/>
              </a:ext>
            </a:extLst>
          </p:cNvPr>
          <p:cNvSpPr>
            <a:spLocks noGrp="1"/>
          </p:cNvSpPr>
          <p:nvPr>
            <p:ph idx="1"/>
          </p:nvPr>
        </p:nvSpPr>
        <p:spPr/>
        <p:txBody>
          <a:bodyPr/>
          <a:lstStyle/>
          <a:p>
            <a:r>
              <a:rPr lang="tr-TR"/>
              <a:t>Problem tanımı:</a:t>
            </a:r>
          </a:p>
          <a:p>
            <a:r>
              <a:rPr lang="tr-TR"/>
              <a:t>Problemimizde birden fazla satıcı vardır ve satıcılar bir şehirden turlarına başlamaktadırlar. </a:t>
            </a:r>
          </a:p>
          <a:p>
            <a:r>
              <a:rPr lang="tr-TR"/>
              <a:t>Her satıcının bir şehirde harcayacağı süre bellidir ve satıcıya göre değişmektedir. Bir şehir satıcıların her ikisi aynı anda bulunamazlar. Amacımız en erken sürede turu tamamlamaktır. </a:t>
            </a:r>
          </a:p>
          <a:p>
            <a:endParaRPr lang="tr-TR"/>
          </a:p>
          <a:p>
            <a:r>
              <a:rPr lang="tr-TR"/>
              <a:t>Problem bu bakışla, artık bir çizelgeleme problemidir. </a:t>
            </a:r>
          </a:p>
          <a:p>
            <a:endParaRPr lang="tr-TR"/>
          </a:p>
          <a:p>
            <a:r>
              <a:rPr lang="tr-TR"/>
              <a:t>Problemde verilenler; </a:t>
            </a:r>
          </a:p>
          <a:p>
            <a:r>
              <a:rPr lang="tr-TR"/>
              <a:t>	şehirler arası seyahat süresi ve </a:t>
            </a:r>
          </a:p>
          <a:p>
            <a:r>
              <a:rPr lang="tr-TR"/>
              <a:t>	bir şehirde bir satıcının kaldığı süre</a:t>
            </a:r>
          </a:p>
          <a:p>
            <a:endParaRPr lang="tr-TR"/>
          </a:p>
          <a:p>
            <a:endParaRPr lang="tr-TR"/>
          </a:p>
        </p:txBody>
      </p:sp>
      <p:sp>
        <p:nvSpPr>
          <p:cNvPr id="3" name="Title 2">
            <a:extLst>
              <a:ext uri="{FF2B5EF4-FFF2-40B4-BE49-F238E27FC236}">
                <a16:creationId xmlns:a16="http://schemas.microsoft.com/office/drawing/2014/main" id="{D2076CF5-B35B-B3A5-FA34-6B7191719B2E}"/>
              </a:ext>
            </a:extLst>
          </p:cNvPr>
          <p:cNvSpPr>
            <a:spLocks noGrp="1"/>
          </p:cNvSpPr>
          <p:nvPr>
            <p:ph type="title"/>
          </p:nvPr>
        </p:nvSpPr>
        <p:spPr/>
        <p:txBody>
          <a:bodyPr>
            <a:normAutofit fontScale="90000"/>
          </a:bodyPr>
          <a:lstStyle/>
          <a:p>
            <a:r>
              <a:rPr lang="tr-TR">
                <a:effectLst/>
              </a:rPr>
              <a:t>İki Gezgin Satıcı: Zamanlı ve Hizmet Süreli, Çakışma Yasağı ile Karma Tamsayılı Doğrusal Modeli</a:t>
            </a:r>
            <a:endParaRPr lang="tr-TR"/>
          </a:p>
        </p:txBody>
      </p:sp>
    </p:spTree>
    <p:extLst>
      <p:ext uri="{BB962C8B-B14F-4D97-AF65-F5344CB8AC3E}">
        <p14:creationId xmlns:p14="http://schemas.microsoft.com/office/powerpoint/2010/main" val="34217151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09E2871-0B75-6B54-9089-5874DA052B62}"/>
              </a:ext>
            </a:extLst>
          </p:cNvPr>
          <p:cNvSpPr>
            <a:spLocks noGrp="1"/>
          </p:cNvSpPr>
          <p:nvPr>
            <p:ph type="title"/>
          </p:nvPr>
        </p:nvSpPr>
        <p:spPr/>
        <p:txBody>
          <a:bodyPr>
            <a:normAutofit fontScale="90000"/>
          </a:bodyPr>
          <a:lstStyle/>
          <a:p>
            <a:r>
              <a:rPr lang="tr-TR">
                <a:effectLst/>
              </a:rPr>
              <a:t>İki Gezgin Satıcı: Zamanlı ve Hizmet Süreli, Çakışma Yasağı ile Karma Tamsayılı Doğrusal Modeli</a:t>
            </a:r>
            <a:endParaRPr lang="tr-TR"/>
          </a:p>
        </p:txBody>
      </p:sp>
      <p:sp>
        <p:nvSpPr>
          <p:cNvPr id="8" name="Content Placeholder 7">
            <a:extLst>
              <a:ext uri="{FF2B5EF4-FFF2-40B4-BE49-F238E27FC236}">
                <a16:creationId xmlns:a16="http://schemas.microsoft.com/office/drawing/2014/main" id="{3BD763CB-902A-4E94-54F0-EB2B2B7846F1}"/>
              </a:ext>
            </a:extLst>
          </p:cNvPr>
          <p:cNvSpPr>
            <a:spLocks noGrp="1"/>
          </p:cNvSpPr>
          <p:nvPr>
            <p:ph idx="1"/>
          </p:nvPr>
        </p:nvSpPr>
        <p:spPr/>
        <p:txBody>
          <a:bodyPr/>
          <a:lstStyle/>
          <a:p>
            <a:endParaRPr lang="tr-TR"/>
          </a:p>
        </p:txBody>
      </p:sp>
      <p:pic>
        <p:nvPicPr>
          <p:cNvPr id="10" name="Picture 9">
            <a:extLst>
              <a:ext uri="{FF2B5EF4-FFF2-40B4-BE49-F238E27FC236}">
                <a16:creationId xmlns:a16="http://schemas.microsoft.com/office/drawing/2014/main" id="{45C35CE1-1379-CEA4-9B70-3295C0AA5830}"/>
              </a:ext>
            </a:extLst>
          </p:cNvPr>
          <p:cNvPicPr>
            <a:picLocks noChangeAspect="1"/>
          </p:cNvPicPr>
          <p:nvPr/>
        </p:nvPicPr>
        <p:blipFill>
          <a:blip r:embed="rId2"/>
          <a:stretch>
            <a:fillRect/>
          </a:stretch>
        </p:blipFill>
        <p:spPr>
          <a:xfrm>
            <a:off x="404689" y="1484784"/>
            <a:ext cx="7468642" cy="1876687"/>
          </a:xfrm>
          <a:prstGeom prst="rect">
            <a:avLst/>
          </a:prstGeom>
        </p:spPr>
      </p:pic>
      <p:pic>
        <p:nvPicPr>
          <p:cNvPr id="12" name="Picture 11">
            <a:extLst>
              <a:ext uri="{FF2B5EF4-FFF2-40B4-BE49-F238E27FC236}">
                <a16:creationId xmlns:a16="http://schemas.microsoft.com/office/drawing/2014/main" id="{DB2506DD-0539-F327-28C9-1E7FC7897646}"/>
              </a:ext>
            </a:extLst>
          </p:cNvPr>
          <p:cNvPicPr>
            <a:picLocks noChangeAspect="1"/>
          </p:cNvPicPr>
          <p:nvPr/>
        </p:nvPicPr>
        <p:blipFill>
          <a:blip r:embed="rId3"/>
          <a:stretch>
            <a:fillRect/>
          </a:stretch>
        </p:blipFill>
        <p:spPr>
          <a:xfrm>
            <a:off x="404689" y="3435021"/>
            <a:ext cx="4944165" cy="1428949"/>
          </a:xfrm>
          <a:prstGeom prst="rect">
            <a:avLst/>
          </a:prstGeom>
        </p:spPr>
      </p:pic>
      <p:pic>
        <p:nvPicPr>
          <p:cNvPr id="14" name="Picture 13">
            <a:extLst>
              <a:ext uri="{FF2B5EF4-FFF2-40B4-BE49-F238E27FC236}">
                <a16:creationId xmlns:a16="http://schemas.microsoft.com/office/drawing/2014/main" id="{E8BB1255-468C-4D98-6A2D-98F355D0B8C9}"/>
              </a:ext>
            </a:extLst>
          </p:cNvPr>
          <p:cNvPicPr>
            <a:picLocks noChangeAspect="1"/>
          </p:cNvPicPr>
          <p:nvPr/>
        </p:nvPicPr>
        <p:blipFill>
          <a:blip r:embed="rId4"/>
          <a:stretch>
            <a:fillRect/>
          </a:stretch>
        </p:blipFill>
        <p:spPr>
          <a:xfrm>
            <a:off x="3635896" y="4831401"/>
            <a:ext cx="5039428" cy="1524213"/>
          </a:xfrm>
          <a:prstGeom prst="rect">
            <a:avLst/>
          </a:prstGeom>
        </p:spPr>
      </p:pic>
    </p:spTree>
    <p:extLst>
      <p:ext uri="{BB962C8B-B14F-4D97-AF65-F5344CB8AC3E}">
        <p14:creationId xmlns:p14="http://schemas.microsoft.com/office/powerpoint/2010/main" val="9770392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86DAE3B-96B5-E7AF-09DD-9C74C9B1FAB3}"/>
              </a:ext>
            </a:extLst>
          </p:cNvPr>
          <p:cNvSpPr>
            <a:spLocks noGrp="1"/>
          </p:cNvSpPr>
          <p:nvPr>
            <p:ph idx="1"/>
          </p:nvPr>
        </p:nvSpPr>
        <p:spPr/>
        <p:txBody>
          <a:bodyPr/>
          <a:lstStyle/>
          <a:p>
            <a:endParaRPr lang="tr-TR"/>
          </a:p>
        </p:txBody>
      </p:sp>
      <p:sp>
        <p:nvSpPr>
          <p:cNvPr id="3" name="Title 2">
            <a:extLst>
              <a:ext uri="{FF2B5EF4-FFF2-40B4-BE49-F238E27FC236}">
                <a16:creationId xmlns:a16="http://schemas.microsoft.com/office/drawing/2014/main" id="{B77AF417-BA58-CA57-A85D-2662AEA0D8B0}"/>
              </a:ext>
            </a:extLst>
          </p:cNvPr>
          <p:cNvSpPr>
            <a:spLocks noGrp="1"/>
          </p:cNvSpPr>
          <p:nvPr>
            <p:ph type="title"/>
          </p:nvPr>
        </p:nvSpPr>
        <p:spPr/>
        <p:txBody>
          <a:bodyPr>
            <a:normAutofit fontScale="90000"/>
          </a:bodyPr>
          <a:lstStyle/>
          <a:p>
            <a:r>
              <a:rPr lang="tr-TR">
                <a:effectLst/>
              </a:rPr>
              <a:t>İki Gezgin Satıcı: Zamanlı ve Hizmet Süreli, Çakışma Yasağı ile Karma Tamsayılı Doğrusal Modeli</a:t>
            </a:r>
            <a:endParaRPr lang="tr-TR"/>
          </a:p>
        </p:txBody>
      </p:sp>
      <p:pic>
        <p:nvPicPr>
          <p:cNvPr id="5" name="Picture 4">
            <a:extLst>
              <a:ext uri="{FF2B5EF4-FFF2-40B4-BE49-F238E27FC236}">
                <a16:creationId xmlns:a16="http://schemas.microsoft.com/office/drawing/2014/main" id="{B10CFF69-3917-2D56-0275-4E87DC81C576}"/>
              </a:ext>
            </a:extLst>
          </p:cNvPr>
          <p:cNvPicPr>
            <a:picLocks noChangeAspect="1"/>
          </p:cNvPicPr>
          <p:nvPr/>
        </p:nvPicPr>
        <p:blipFill>
          <a:blip r:embed="rId2"/>
          <a:stretch>
            <a:fillRect/>
          </a:stretch>
        </p:blipFill>
        <p:spPr>
          <a:xfrm>
            <a:off x="1907704" y="1484784"/>
            <a:ext cx="5649113" cy="962159"/>
          </a:xfrm>
          <a:prstGeom prst="rect">
            <a:avLst/>
          </a:prstGeom>
        </p:spPr>
      </p:pic>
      <p:pic>
        <p:nvPicPr>
          <p:cNvPr id="7" name="Picture 6">
            <a:extLst>
              <a:ext uri="{FF2B5EF4-FFF2-40B4-BE49-F238E27FC236}">
                <a16:creationId xmlns:a16="http://schemas.microsoft.com/office/drawing/2014/main" id="{D6840EA5-7B79-9696-0B11-A389E941EEDF}"/>
              </a:ext>
            </a:extLst>
          </p:cNvPr>
          <p:cNvPicPr>
            <a:picLocks noChangeAspect="1"/>
          </p:cNvPicPr>
          <p:nvPr/>
        </p:nvPicPr>
        <p:blipFill>
          <a:blip r:embed="rId3"/>
          <a:stretch>
            <a:fillRect/>
          </a:stretch>
        </p:blipFill>
        <p:spPr>
          <a:xfrm>
            <a:off x="539552" y="2780928"/>
            <a:ext cx="6773220" cy="1409897"/>
          </a:xfrm>
          <a:prstGeom prst="rect">
            <a:avLst/>
          </a:prstGeom>
        </p:spPr>
      </p:pic>
      <p:pic>
        <p:nvPicPr>
          <p:cNvPr id="9" name="Picture 8">
            <a:extLst>
              <a:ext uri="{FF2B5EF4-FFF2-40B4-BE49-F238E27FC236}">
                <a16:creationId xmlns:a16="http://schemas.microsoft.com/office/drawing/2014/main" id="{5CABC5C2-06E7-0F0D-9944-9ACEA7CEC83E}"/>
              </a:ext>
            </a:extLst>
          </p:cNvPr>
          <p:cNvPicPr>
            <a:picLocks noChangeAspect="1"/>
          </p:cNvPicPr>
          <p:nvPr/>
        </p:nvPicPr>
        <p:blipFill>
          <a:blip r:embed="rId4"/>
          <a:stretch>
            <a:fillRect/>
          </a:stretch>
        </p:blipFill>
        <p:spPr>
          <a:xfrm>
            <a:off x="539552" y="4658741"/>
            <a:ext cx="4867954" cy="1428949"/>
          </a:xfrm>
          <a:prstGeom prst="rect">
            <a:avLst/>
          </a:prstGeom>
        </p:spPr>
      </p:pic>
    </p:spTree>
    <p:extLst>
      <p:ext uri="{BB962C8B-B14F-4D97-AF65-F5344CB8AC3E}">
        <p14:creationId xmlns:p14="http://schemas.microsoft.com/office/powerpoint/2010/main" val="28542264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8E889A6-C4F9-5C33-0D76-15F8E876AAAB}"/>
              </a:ext>
            </a:extLst>
          </p:cNvPr>
          <p:cNvSpPr>
            <a:spLocks noGrp="1"/>
          </p:cNvSpPr>
          <p:nvPr>
            <p:ph idx="1"/>
          </p:nvPr>
        </p:nvSpPr>
        <p:spPr/>
        <p:txBody>
          <a:bodyPr/>
          <a:lstStyle/>
          <a:p>
            <a:endParaRPr lang="tr-TR"/>
          </a:p>
        </p:txBody>
      </p:sp>
      <p:sp>
        <p:nvSpPr>
          <p:cNvPr id="3" name="Title 2">
            <a:extLst>
              <a:ext uri="{FF2B5EF4-FFF2-40B4-BE49-F238E27FC236}">
                <a16:creationId xmlns:a16="http://schemas.microsoft.com/office/drawing/2014/main" id="{2479EFC5-98EA-6618-9A70-F8A873BAD9F8}"/>
              </a:ext>
            </a:extLst>
          </p:cNvPr>
          <p:cNvSpPr>
            <a:spLocks noGrp="1"/>
          </p:cNvSpPr>
          <p:nvPr>
            <p:ph type="title"/>
          </p:nvPr>
        </p:nvSpPr>
        <p:spPr/>
        <p:txBody>
          <a:bodyPr/>
          <a:lstStyle/>
          <a:p>
            <a:endParaRPr lang="tr-TR"/>
          </a:p>
        </p:txBody>
      </p:sp>
      <p:pic>
        <p:nvPicPr>
          <p:cNvPr id="5" name="Picture 4">
            <a:extLst>
              <a:ext uri="{FF2B5EF4-FFF2-40B4-BE49-F238E27FC236}">
                <a16:creationId xmlns:a16="http://schemas.microsoft.com/office/drawing/2014/main" id="{231AA2BE-6DC6-5FA6-331A-677E90CE1018}"/>
              </a:ext>
            </a:extLst>
          </p:cNvPr>
          <p:cNvPicPr>
            <a:picLocks noChangeAspect="1"/>
          </p:cNvPicPr>
          <p:nvPr/>
        </p:nvPicPr>
        <p:blipFill>
          <a:blip r:embed="rId2"/>
          <a:stretch>
            <a:fillRect/>
          </a:stretch>
        </p:blipFill>
        <p:spPr>
          <a:xfrm>
            <a:off x="3661391" y="1541933"/>
            <a:ext cx="1571844" cy="447737"/>
          </a:xfrm>
          <a:prstGeom prst="rect">
            <a:avLst/>
          </a:prstGeom>
        </p:spPr>
      </p:pic>
      <p:pic>
        <p:nvPicPr>
          <p:cNvPr id="9" name="Picture 8">
            <a:extLst>
              <a:ext uri="{FF2B5EF4-FFF2-40B4-BE49-F238E27FC236}">
                <a16:creationId xmlns:a16="http://schemas.microsoft.com/office/drawing/2014/main" id="{4E4B5B79-F466-5A19-D03B-8CC9AA3AE891}"/>
              </a:ext>
            </a:extLst>
          </p:cNvPr>
          <p:cNvPicPr>
            <a:picLocks noChangeAspect="1"/>
          </p:cNvPicPr>
          <p:nvPr/>
        </p:nvPicPr>
        <p:blipFill>
          <a:blip r:embed="rId3"/>
          <a:stretch>
            <a:fillRect/>
          </a:stretch>
        </p:blipFill>
        <p:spPr>
          <a:xfrm>
            <a:off x="2481953" y="2046819"/>
            <a:ext cx="4229690" cy="743054"/>
          </a:xfrm>
          <a:prstGeom prst="rect">
            <a:avLst/>
          </a:prstGeom>
        </p:spPr>
      </p:pic>
    </p:spTree>
    <p:extLst>
      <p:ext uri="{BB962C8B-B14F-4D97-AF65-F5344CB8AC3E}">
        <p14:creationId xmlns:p14="http://schemas.microsoft.com/office/powerpoint/2010/main" val="17040462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D828173-C147-1A04-664D-07C9FC68AB71}"/>
              </a:ext>
            </a:extLst>
          </p:cNvPr>
          <p:cNvSpPr>
            <a:spLocks noGrp="1"/>
          </p:cNvSpPr>
          <p:nvPr>
            <p:ph idx="1"/>
          </p:nvPr>
        </p:nvSpPr>
        <p:spPr/>
        <p:txBody>
          <a:bodyPr/>
          <a:lstStyle/>
          <a:p>
            <a:r>
              <a:rPr lang="tr-TR"/>
              <a:t>İki satıcı Ankara, Bursa, Eskişehir, Trabzon ve Konya'yı ziyaret edecektir. Tabloda ulaşım süreleri verilmiştir. Satıcıların aynı anda aynı şehirde bulunmaları istenmemektedir. Her bir satıcının bir şehirde harcayacağı süre farklıdır ve şu şekildedir;</a:t>
            </a:r>
          </a:p>
          <a:p>
            <a:endParaRPr lang="tr-TR"/>
          </a:p>
          <a:p>
            <a:endParaRPr lang="tr-TR"/>
          </a:p>
          <a:p>
            <a:endParaRPr lang="tr-TR"/>
          </a:p>
          <a:p>
            <a:endParaRPr lang="tr-TR"/>
          </a:p>
          <a:p>
            <a:r>
              <a:rPr lang="tr-TR"/>
              <a:t>Satıcılar Ankara'dan başlamaktadırlar. Bu satıcıların başlangıçta Ankara'da bulunmalarında bir sakınca olmadığını göstermektedir. Fakat diğer şehirlerde aynı anda bulunamazlar. </a:t>
            </a:r>
          </a:p>
          <a:p>
            <a:r>
              <a:rPr lang="tr-TR"/>
              <a:t>Problemi satıcıların kısıtlarını dikkate alarak modelleyelim. </a:t>
            </a:r>
          </a:p>
        </p:txBody>
      </p:sp>
      <p:sp>
        <p:nvSpPr>
          <p:cNvPr id="3" name="Title 2">
            <a:extLst>
              <a:ext uri="{FF2B5EF4-FFF2-40B4-BE49-F238E27FC236}">
                <a16:creationId xmlns:a16="http://schemas.microsoft.com/office/drawing/2014/main" id="{9DEC8E04-E3D8-662F-CA4F-E063CB466CA2}"/>
              </a:ext>
            </a:extLst>
          </p:cNvPr>
          <p:cNvSpPr>
            <a:spLocks noGrp="1"/>
          </p:cNvSpPr>
          <p:nvPr>
            <p:ph type="title"/>
          </p:nvPr>
        </p:nvSpPr>
        <p:spPr/>
        <p:txBody>
          <a:bodyPr/>
          <a:lstStyle/>
          <a:p>
            <a:endParaRPr lang="tr-TR"/>
          </a:p>
        </p:txBody>
      </p:sp>
      <p:pic>
        <p:nvPicPr>
          <p:cNvPr id="5" name="Picture 4">
            <a:extLst>
              <a:ext uri="{FF2B5EF4-FFF2-40B4-BE49-F238E27FC236}">
                <a16:creationId xmlns:a16="http://schemas.microsoft.com/office/drawing/2014/main" id="{EC8243B1-143A-8670-A876-1083BE184E51}"/>
              </a:ext>
            </a:extLst>
          </p:cNvPr>
          <p:cNvPicPr>
            <a:picLocks noChangeAspect="1"/>
          </p:cNvPicPr>
          <p:nvPr/>
        </p:nvPicPr>
        <p:blipFill>
          <a:blip r:embed="rId2"/>
          <a:stretch>
            <a:fillRect/>
          </a:stretch>
        </p:blipFill>
        <p:spPr>
          <a:xfrm>
            <a:off x="1619672" y="4544425"/>
            <a:ext cx="5715798" cy="1657581"/>
          </a:xfrm>
          <a:prstGeom prst="rect">
            <a:avLst/>
          </a:prstGeom>
        </p:spPr>
      </p:pic>
      <p:pic>
        <p:nvPicPr>
          <p:cNvPr id="7" name="Picture 6">
            <a:extLst>
              <a:ext uri="{FF2B5EF4-FFF2-40B4-BE49-F238E27FC236}">
                <a16:creationId xmlns:a16="http://schemas.microsoft.com/office/drawing/2014/main" id="{0FDCAF62-D25B-3292-9BFA-9D4DB3EB4051}"/>
              </a:ext>
            </a:extLst>
          </p:cNvPr>
          <p:cNvPicPr>
            <a:picLocks noChangeAspect="1"/>
          </p:cNvPicPr>
          <p:nvPr/>
        </p:nvPicPr>
        <p:blipFill>
          <a:blip r:embed="rId3"/>
          <a:stretch>
            <a:fillRect/>
          </a:stretch>
        </p:blipFill>
        <p:spPr>
          <a:xfrm>
            <a:off x="967266" y="2420888"/>
            <a:ext cx="7259063" cy="800212"/>
          </a:xfrm>
          <a:prstGeom prst="rect">
            <a:avLst/>
          </a:prstGeom>
        </p:spPr>
      </p:pic>
    </p:spTree>
    <p:extLst>
      <p:ext uri="{BB962C8B-B14F-4D97-AF65-F5344CB8AC3E}">
        <p14:creationId xmlns:p14="http://schemas.microsoft.com/office/powerpoint/2010/main" val="7044499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a:extLst>
              <a:ext uri="{FF2B5EF4-FFF2-40B4-BE49-F238E27FC236}">
                <a16:creationId xmlns:a16="http://schemas.microsoft.com/office/drawing/2014/main" id="{9056C358-C623-D367-EFB5-B7AD7C9E5A7A}"/>
              </a:ext>
            </a:extLst>
          </p:cNvPr>
          <p:cNvPicPr>
            <a:picLocks noGrp="1" noChangeAspect="1"/>
          </p:cNvPicPr>
          <p:nvPr>
            <p:ph idx="1"/>
          </p:nvPr>
        </p:nvPicPr>
        <p:blipFill>
          <a:blip r:embed="rId2"/>
          <a:stretch>
            <a:fillRect/>
          </a:stretch>
        </p:blipFill>
        <p:spPr>
          <a:xfrm>
            <a:off x="6012160" y="1500783"/>
            <a:ext cx="2152950" cy="371527"/>
          </a:xfrm>
          <a:prstGeom prst="rect">
            <a:avLst/>
          </a:prstGeom>
        </p:spPr>
      </p:pic>
      <p:sp>
        <p:nvSpPr>
          <p:cNvPr id="3" name="Title 2">
            <a:extLst>
              <a:ext uri="{FF2B5EF4-FFF2-40B4-BE49-F238E27FC236}">
                <a16:creationId xmlns:a16="http://schemas.microsoft.com/office/drawing/2014/main" id="{AD3B5F43-3289-F06D-E7B7-3D48E6827A88}"/>
              </a:ext>
            </a:extLst>
          </p:cNvPr>
          <p:cNvSpPr>
            <a:spLocks noGrp="1"/>
          </p:cNvSpPr>
          <p:nvPr>
            <p:ph type="title"/>
          </p:nvPr>
        </p:nvSpPr>
        <p:spPr/>
        <p:txBody>
          <a:bodyPr/>
          <a:lstStyle/>
          <a:p>
            <a:endParaRPr lang="tr-TR"/>
          </a:p>
        </p:txBody>
      </p:sp>
      <p:pic>
        <p:nvPicPr>
          <p:cNvPr id="5" name="Picture 4">
            <a:extLst>
              <a:ext uri="{FF2B5EF4-FFF2-40B4-BE49-F238E27FC236}">
                <a16:creationId xmlns:a16="http://schemas.microsoft.com/office/drawing/2014/main" id="{EA308C5B-934C-B3A8-802F-A31DC34E722F}"/>
              </a:ext>
            </a:extLst>
          </p:cNvPr>
          <p:cNvPicPr>
            <a:picLocks noChangeAspect="1"/>
          </p:cNvPicPr>
          <p:nvPr/>
        </p:nvPicPr>
        <p:blipFill>
          <a:blip r:embed="rId3"/>
          <a:stretch>
            <a:fillRect/>
          </a:stretch>
        </p:blipFill>
        <p:spPr>
          <a:xfrm>
            <a:off x="409650" y="1500783"/>
            <a:ext cx="4477375" cy="790685"/>
          </a:xfrm>
          <a:prstGeom prst="rect">
            <a:avLst/>
          </a:prstGeom>
        </p:spPr>
      </p:pic>
      <p:pic>
        <p:nvPicPr>
          <p:cNvPr id="7" name="Picture 6">
            <a:extLst>
              <a:ext uri="{FF2B5EF4-FFF2-40B4-BE49-F238E27FC236}">
                <a16:creationId xmlns:a16="http://schemas.microsoft.com/office/drawing/2014/main" id="{C0A19441-5494-0F46-8570-FADAEF720061}"/>
              </a:ext>
            </a:extLst>
          </p:cNvPr>
          <p:cNvPicPr>
            <a:picLocks noChangeAspect="1"/>
          </p:cNvPicPr>
          <p:nvPr/>
        </p:nvPicPr>
        <p:blipFill>
          <a:blip r:embed="rId4"/>
          <a:stretch>
            <a:fillRect/>
          </a:stretch>
        </p:blipFill>
        <p:spPr>
          <a:xfrm>
            <a:off x="509021" y="3066999"/>
            <a:ext cx="7519364" cy="669955"/>
          </a:xfrm>
          <a:prstGeom prst="rect">
            <a:avLst/>
          </a:prstGeom>
        </p:spPr>
      </p:pic>
      <p:pic>
        <p:nvPicPr>
          <p:cNvPr id="9" name="Picture 8">
            <a:extLst>
              <a:ext uri="{FF2B5EF4-FFF2-40B4-BE49-F238E27FC236}">
                <a16:creationId xmlns:a16="http://schemas.microsoft.com/office/drawing/2014/main" id="{0E79A538-9907-00A7-899B-DDA72475107C}"/>
              </a:ext>
            </a:extLst>
          </p:cNvPr>
          <p:cNvPicPr>
            <a:picLocks noChangeAspect="1"/>
          </p:cNvPicPr>
          <p:nvPr/>
        </p:nvPicPr>
        <p:blipFill>
          <a:blip r:embed="rId5"/>
          <a:stretch>
            <a:fillRect/>
          </a:stretch>
        </p:blipFill>
        <p:spPr>
          <a:xfrm>
            <a:off x="3203848" y="2564904"/>
            <a:ext cx="1524213" cy="371527"/>
          </a:xfrm>
          <a:prstGeom prst="rect">
            <a:avLst/>
          </a:prstGeom>
        </p:spPr>
      </p:pic>
    </p:spTree>
    <p:extLst>
      <p:ext uri="{BB962C8B-B14F-4D97-AF65-F5344CB8AC3E}">
        <p14:creationId xmlns:p14="http://schemas.microsoft.com/office/powerpoint/2010/main" val="2457404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C742990-6D3E-335A-0986-7ABE4A567842}"/>
              </a:ext>
            </a:extLst>
          </p:cNvPr>
          <p:cNvSpPr>
            <a:spLocks noGrp="1"/>
          </p:cNvSpPr>
          <p:nvPr>
            <p:ph idx="1"/>
          </p:nvPr>
        </p:nvSpPr>
        <p:spPr/>
        <p:txBody>
          <a:bodyPr/>
          <a:lstStyle/>
          <a:p>
            <a:endParaRPr lang="tr-TR"/>
          </a:p>
        </p:txBody>
      </p:sp>
      <p:sp>
        <p:nvSpPr>
          <p:cNvPr id="3" name="Title 2">
            <a:extLst>
              <a:ext uri="{FF2B5EF4-FFF2-40B4-BE49-F238E27FC236}">
                <a16:creationId xmlns:a16="http://schemas.microsoft.com/office/drawing/2014/main" id="{9DBCBBDB-34D7-66CF-B51C-11341E1069A8}"/>
              </a:ext>
            </a:extLst>
          </p:cNvPr>
          <p:cNvSpPr>
            <a:spLocks noGrp="1"/>
          </p:cNvSpPr>
          <p:nvPr>
            <p:ph type="title"/>
          </p:nvPr>
        </p:nvSpPr>
        <p:spPr/>
        <p:txBody>
          <a:bodyPr/>
          <a:lstStyle/>
          <a:p>
            <a:endParaRPr lang="tr-TR"/>
          </a:p>
        </p:txBody>
      </p:sp>
      <p:pic>
        <p:nvPicPr>
          <p:cNvPr id="5" name="Picture 4">
            <a:extLst>
              <a:ext uri="{FF2B5EF4-FFF2-40B4-BE49-F238E27FC236}">
                <a16:creationId xmlns:a16="http://schemas.microsoft.com/office/drawing/2014/main" id="{84419A99-A429-CABB-FAED-703798D6457D}"/>
              </a:ext>
            </a:extLst>
          </p:cNvPr>
          <p:cNvPicPr>
            <a:picLocks noChangeAspect="1"/>
          </p:cNvPicPr>
          <p:nvPr/>
        </p:nvPicPr>
        <p:blipFill>
          <a:blip r:embed="rId2"/>
          <a:stretch>
            <a:fillRect/>
          </a:stretch>
        </p:blipFill>
        <p:spPr>
          <a:xfrm>
            <a:off x="349362" y="1473374"/>
            <a:ext cx="6887536" cy="2133898"/>
          </a:xfrm>
          <a:prstGeom prst="rect">
            <a:avLst/>
          </a:prstGeom>
        </p:spPr>
      </p:pic>
      <p:sp>
        <p:nvSpPr>
          <p:cNvPr id="6" name="Callout: Line with Border and Accent Bar 5">
            <a:extLst>
              <a:ext uri="{FF2B5EF4-FFF2-40B4-BE49-F238E27FC236}">
                <a16:creationId xmlns:a16="http://schemas.microsoft.com/office/drawing/2014/main" id="{5C292C87-1D47-1DA8-E58E-1CA6D98646FE}"/>
              </a:ext>
            </a:extLst>
          </p:cNvPr>
          <p:cNvSpPr/>
          <p:nvPr/>
        </p:nvSpPr>
        <p:spPr>
          <a:xfrm>
            <a:off x="6804248" y="1484784"/>
            <a:ext cx="1944216" cy="612648"/>
          </a:xfrm>
          <a:prstGeom prst="accentBorderCallout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a:t>Ankara için neden yazılmadı?</a:t>
            </a:r>
          </a:p>
        </p:txBody>
      </p:sp>
    </p:spTree>
    <p:extLst>
      <p:ext uri="{BB962C8B-B14F-4D97-AF65-F5344CB8AC3E}">
        <p14:creationId xmlns:p14="http://schemas.microsoft.com/office/powerpoint/2010/main" val="10101158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E245864-455B-CD1D-5372-08410FE2EBB7}"/>
              </a:ext>
            </a:extLst>
          </p:cNvPr>
          <p:cNvSpPr>
            <a:spLocks noGrp="1"/>
          </p:cNvSpPr>
          <p:nvPr>
            <p:ph idx="1"/>
          </p:nvPr>
        </p:nvSpPr>
        <p:spPr/>
        <p:txBody>
          <a:bodyPr/>
          <a:lstStyle/>
          <a:p>
            <a:r>
              <a:rPr lang="tr-TR"/>
              <a:t>Zamanlama Kısıtları: Satıcı 1</a:t>
            </a:r>
          </a:p>
          <a:p>
            <a:endParaRPr lang="tr-TR"/>
          </a:p>
          <a:p>
            <a:endParaRPr lang="tr-TR"/>
          </a:p>
        </p:txBody>
      </p:sp>
      <p:sp>
        <p:nvSpPr>
          <p:cNvPr id="3" name="Title 2">
            <a:extLst>
              <a:ext uri="{FF2B5EF4-FFF2-40B4-BE49-F238E27FC236}">
                <a16:creationId xmlns:a16="http://schemas.microsoft.com/office/drawing/2014/main" id="{BBB2EEEA-1F0D-016E-2035-2A99F091F5B4}"/>
              </a:ext>
            </a:extLst>
          </p:cNvPr>
          <p:cNvSpPr>
            <a:spLocks noGrp="1"/>
          </p:cNvSpPr>
          <p:nvPr>
            <p:ph type="title"/>
          </p:nvPr>
        </p:nvSpPr>
        <p:spPr/>
        <p:txBody>
          <a:bodyPr/>
          <a:lstStyle/>
          <a:p>
            <a:endParaRPr lang="tr-TR"/>
          </a:p>
        </p:txBody>
      </p:sp>
      <p:pic>
        <p:nvPicPr>
          <p:cNvPr id="5" name="Picture 4">
            <a:extLst>
              <a:ext uri="{FF2B5EF4-FFF2-40B4-BE49-F238E27FC236}">
                <a16:creationId xmlns:a16="http://schemas.microsoft.com/office/drawing/2014/main" id="{69D75AA9-781B-2DD5-5153-CD2F8F47EA4A}"/>
              </a:ext>
            </a:extLst>
          </p:cNvPr>
          <p:cNvPicPr>
            <a:picLocks noChangeAspect="1"/>
          </p:cNvPicPr>
          <p:nvPr/>
        </p:nvPicPr>
        <p:blipFill>
          <a:blip r:embed="rId2"/>
          <a:stretch>
            <a:fillRect/>
          </a:stretch>
        </p:blipFill>
        <p:spPr>
          <a:xfrm>
            <a:off x="3347864" y="980728"/>
            <a:ext cx="4324954" cy="5534797"/>
          </a:xfrm>
          <a:prstGeom prst="rect">
            <a:avLst/>
          </a:prstGeom>
        </p:spPr>
      </p:pic>
    </p:spTree>
    <p:extLst>
      <p:ext uri="{BB962C8B-B14F-4D97-AF65-F5344CB8AC3E}">
        <p14:creationId xmlns:p14="http://schemas.microsoft.com/office/powerpoint/2010/main" val="40622739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FAEFB3-1F8C-5695-6D49-AB300B94636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FF6678F-18F8-142B-FB05-CE6DDE2D5462}"/>
              </a:ext>
            </a:extLst>
          </p:cNvPr>
          <p:cNvSpPr>
            <a:spLocks noGrp="1"/>
          </p:cNvSpPr>
          <p:nvPr>
            <p:ph idx="1"/>
          </p:nvPr>
        </p:nvSpPr>
        <p:spPr/>
        <p:txBody>
          <a:bodyPr/>
          <a:lstStyle/>
          <a:p>
            <a:r>
              <a:rPr lang="tr-TR"/>
              <a:t>Zamanlama Kısıtları: Satıcı 2</a:t>
            </a:r>
          </a:p>
          <a:p>
            <a:endParaRPr lang="tr-TR"/>
          </a:p>
          <a:p>
            <a:endParaRPr lang="tr-TR"/>
          </a:p>
        </p:txBody>
      </p:sp>
      <p:sp>
        <p:nvSpPr>
          <p:cNvPr id="3" name="Title 2">
            <a:extLst>
              <a:ext uri="{FF2B5EF4-FFF2-40B4-BE49-F238E27FC236}">
                <a16:creationId xmlns:a16="http://schemas.microsoft.com/office/drawing/2014/main" id="{2128BEAD-29D8-D71B-3267-4D966D55D815}"/>
              </a:ext>
            </a:extLst>
          </p:cNvPr>
          <p:cNvSpPr>
            <a:spLocks noGrp="1"/>
          </p:cNvSpPr>
          <p:nvPr>
            <p:ph type="title"/>
          </p:nvPr>
        </p:nvSpPr>
        <p:spPr/>
        <p:txBody>
          <a:bodyPr/>
          <a:lstStyle/>
          <a:p>
            <a:endParaRPr lang="tr-TR"/>
          </a:p>
        </p:txBody>
      </p:sp>
      <p:pic>
        <p:nvPicPr>
          <p:cNvPr id="6" name="Picture 5">
            <a:extLst>
              <a:ext uri="{FF2B5EF4-FFF2-40B4-BE49-F238E27FC236}">
                <a16:creationId xmlns:a16="http://schemas.microsoft.com/office/drawing/2014/main" id="{8AFF2718-C483-B757-EA9D-C5A21482C9DD}"/>
              </a:ext>
            </a:extLst>
          </p:cNvPr>
          <p:cNvPicPr>
            <a:picLocks noChangeAspect="1"/>
          </p:cNvPicPr>
          <p:nvPr/>
        </p:nvPicPr>
        <p:blipFill>
          <a:blip r:embed="rId2"/>
          <a:stretch>
            <a:fillRect/>
          </a:stretch>
        </p:blipFill>
        <p:spPr>
          <a:xfrm>
            <a:off x="3203848" y="1052736"/>
            <a:ext cx="4334480" cy="5525271"/>
          </a:xfrm>
          <a:prstGeom prst="rect">
            <a:avLst/>
          </a:prstGeom>
        </p:spPr>
      </p:pic>
    </p:spTree>
    <p:extLst>
      <p:ext uri="{BB962C8B-B14F-4D97-AF65-F5344CB8AC3E}">
        <p14:creationId xmlns:p14="http://schemas.microsoft.com/office/powerpoint/2010/main" val="13944942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EC0A29B-F457-940A-75F9-249A08DCDB53}"/>
              </a:ext>
            </a:extLst>
          </p:cNvPr>
          <p:cNvSpPr>
            <a:spLocks noGrp="1"/>
          </p:cNvSpPr>
          <p:nvPr>
            <p:ph idx="1"/>
          </p:nvPr>
        </p:nvSpPr>
        <p:spPr/>
        <p:txBody>
          <a:bodyPr/>
          <a:lstStyle/>
          <a:p>
            <a:r>
              <a:rPr lang="tr-TR"/>
              <a:t>Tüm Şehirler Ziyaret Edilecek</a:t>
            </a:r>
          </a:p>
          <a:p>
            <a:r>
              <a:rPr lang="tr-TR"/>
              <a:t>Satıcı 1</a:t>
            </a:r>
          </a:p>
          <a:p>
            <a:endParaRPr lang="tr-TR"/>
          </a:p>
          <a:p>
            <a:endParaRPr lang="tr-TR"/>
          </a:p>
          <a:p>
            <a:endParaRPr lang="tr-TR"/>
          </a:p>
          <a:p>
            <a:endParaRPr lang="tr-TR"/>
          </a:p>
          <a:p>
            <a:endParaRPr lang="tr-TR"/>
          </a:p>
          <a:p>
            <a:endParaRPr lang="tr-TR"/>
          </a:p>
          <a:p>
            <a:r>
              <a:rPr lang="tr-TR"/>
              <a:t>Satıcı 2</a:t>
            </a:r>
          </a:p>
        </p:txBody>
      </p:sp>
      <p:sp>
        <p:nvSpPr>
          <p:cNvPr id="3" name="Title 2">
            <a:extLst>
              <a:ext uri="{FF2B5EF4-FFF2-40B4-BE49-F238E27FC236}">
                <a16:creationId xmlns:a16="http://schemas.microsoft.com/office/drawing/2014/main" id="{C7244193-7DCE-DF0C-4AF9-3A034FD1A5F5}"/>
              </a:ext>
            </a:extLst>
          </p:cNvPr>
          <p:cNvSpPr>
            <a:spLocks noGrp="1"/>
          </p:cNvSpPr>
          <p:nvPr>
            <p:ph type="title"/>
          </p:nvPr>
        </p:nvSpPr>
        <p:spPr/>
        <p:txBody>
          <a:bodyPr/>
          <a:lstStyle/>
          <a:p>
            <a:endParaRPr lang="tr-TR"/>
          </a:p>
        </p:txBody>
      </p:sp>
      <p:pic>
        <p:nvPicPr>
          <p:cNvPr id="5" name="Picture 4">
            <a:extLst>
              <a:ext uri="{FF2B5EF4-FFF2-40B4-BE49-F238E27FC236}">
                <a16:creationId xmlns:a16="http://schemas.microsoft.com/office/drawing/2014/main" id="{20A9B645-567F-67B4-BEF4-A6D6575C5FEF}"/>
              </a:ext>
            </a:extLst>
          </p:cNvPr>
          <p:cNvPicPr>
            <a:picLocks noChangeAspect="1"/>
          </p:cNvPicPr>
          <p:nvPr/>
        </p:nvPicPr>
        <p:blipFill>
          <a:blip r:embed="rId2"/>
          <a:stretch>
            <a:fillRect/>
          </a:stretch>
        </p:blipFill>
        <p:spPr>
          <a:xfrm>
            <a:off x="1547664" y="2067967"/>
            <a:ext cx="6906589" cy="1714739"/>
          </a:xfrm>
          <a:prstGeom prst="rect">
            <a:avLst/>
          </a:prstGeom>
        </p:spPr>
      </p:pic>
      <p:pic>
        <p:nvPicPr>
          <p:cNvPr id="7" name="Picture 6">
            <a:extLst>
              <a:ext uri="{FF2B5EF4-FFF2-40B4-BE49-F238E27FC236}">
                <a16:creationId xmlns:a16="http://schemas.microsoft.com/office/drawing/2014/main" id="{7EE92C1F-9283-7EE5-A959-BFB508C628A5}"/>
              </a:ext>
            </a:extLst>
          </p:cNvPr>
          <p:cNvPicPr>
            <a:picLocks noChangeAspect="1"/>
          </p:cNvPicPr>
          <p:nvPr/>
        </p:nvPicPr>
        <p:blipFill>
          <a:blip r:embed="rId3"/>
          <a:stretch>
            <a:fillRect/>
          </a:stretch>
        </p:blipFill>
        <p:spPr>
          <a:xfrm>
            <a:off x="1585769" y="4222897"/>
            <a:ext cx="6868484" cy="1733792"/>
          </a:xfrm>
          <a:prstGeom prst="rect">
            <a:avLst/>
          </a:prstGeom>
        </p:spPr>
      </p:pic>
    </p:spTree>
    <p:extLst>
      <p:ext uri="{BB962C8B-B14F-4D97-AF65-F5344CB8AC3E}">
        <p14:creationId xmlns:p14="http://schemas.microsoft.com/office/powerpoint/2010/main" val="33469025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F965183-F77A-F801-F2D5-54B49BEBC40E}"/>
              </a:ext>
            </a:extLst>
          </p:cNvPr>
          <p:cNvSpPr>
            <a:spLocks noGrp="1"/>
          </p:cNvSpPr>
          <p:nvPr>
            <p:ph idx="1"/>
          </p:nvPr>
        </p:nvSpPr>
        <p:spPr/>
        <p:txBody>
          <a:bodyPr/>
          <a:lstStyle/>
          <a:p>
            <a:endParaRPr lang="tr-TR"/>
          </a:p>
        </p:txBody>
      </p:sp>
      <p:sp>
        <p:nvSpPr>
          <p:cNvPr id="3" name="Title 2">
            <a:extLst>
              <a:ext uri="{FF2B5EF4-FFF2-40B4-BE49-F238E27FC236}">
                <a16:creationId xmlns:a16="http://schemas.microsoft.com/office/drawing/2014/main" id="{C9547848-85CB-191E-827E-9F90D3200ACC}"/>
              </a:ext>
            </a:extLst>
          </p:cNvPr>
          <p:cNvSpPr>
            <a:spLocks noGrp="1"/>
          </p:cNvSpPr>
          <p:nvPr>
            <p:ph type="title"/>
          </p:nvPr>
        </p:nvSpPr>
        <p:spPr/>
        <p:txBody>
          <a:bodyPr/>
          <a:lstStyle/>
          <a:p>
            <a:endParaRPr lang="tr-TR"/>
          </a:p>
        </p:txBody>
      </p:sp>
      <p:pic>
        <p:nvPicPr>
          <p:cNvPr id="5" name="Picture 4">
            <a:extLst>
              <a:ext uri="{FF2B5EF4-FFF2-40B4-BE49-F238E27FC236}">
                <a16:creationId xmlns:a16="http://schemas.microsoft.com/office/drawing/2014/main" id="{7D6FCDC7-AD32-79A8-6386-9558A11E55E8}"/>
              </a:ext>
            </a:extLst>
          </p:cNvPr>
          <p:cNvPicPr>
            <a:picLocks noChangeAspect="1"/>
          </p:cNvPicPr>
          <p:nvPr/>
        </p:nvPicPr>
        <p:blipFill>
          <a:blip r:embed="rId2"/>
          <a:stretch>
            <a:fillRect/>
          </a:stretch>
        </p:blipFill>
        <p:spPr>
          <a:xfrm>
            <a:off x="400894" y="1484784"/>
            <a:ext cx="6296904" cy="3877216"/>
          </a:xfrm>
          <a:prstGeom prst="rect">
            <a:avLst/>
          </a:prstGeom>
        </p:spPr>
      </p:pic>
    </p:spTree>
    <p:extLst>
      <p:ext uri="{BB962C8B-B14F-4D97-AF65-F5344CB8AC3E}">
        <p14:creationId xmlns:p14="http://schemas.microsoft.com/office/powerpoint/2010/main" val="34325627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145A9D0-0B62-BE20-A821-4717FD3DE622}"/>
              </a:ext>
            </a:extLst>
          </p:cNvPr>
          <p:cNvSpPr>
            <a:spLocks noGrp="1"/>
          </p:cNvSpPr>
          <p:nvPr>
            <p:ph idx="1"/>
          </p:nvPr>
        </p:nvSpPr>
        <p:spPr/>
        <p:txBody>
          <a:bodyPr/>
          <a:lstStyle/>
          <a:p>
            <a:endParaRPr lang="tr-TR"/>
          </a:p>
        </p:txBody>
      </p:sp>
      <p:sp>
        <p:nvSpPr>
          <p:cNvPr id="3" name="Title 2">
            <a:extLst>
              <a:ext uri="{FF2B5EF4-FFF2-40B4-BE49-F238E27FC236}">
                <a16:creationId xmlns:a16="http://schemas.microsoft.com/office/drawing/2014/main" id="{3B68F1F3-342F-4856-707C-BE215CE5FD46}"/>
              </a:ext>
            </a:extLst>
          </p:cNvPr>
          <p:cNvSpPr>
            <a:spLocks noGrp="1"/>
          </p:cNvSpPr>
          <p:nvPr>
            <p:ph type="title"/>
          </p:nvPr>
        </p:nvSpPr>
        <p:spPr/>
        <p:txBody>
          <a:bodyPr/>
          <a:lstStyle/>
          <a:p>
            <a:endParaRPr lang="tr-TR"/>
          </a:p>
        </p:txBody>
      </p:sp>
      <p:pic>
        <p:nvPicPr>
          <p:cNvPr id="5" name="Picture 4">
            <a:extLst>
              <a:ext uri="{FF2B5EF4-FFF2-40B4-BE49-F238E27FC236}">
                <a16:creationId xmlns:a16="http://schemas.microsoft.com/office/drawing/2014/main" id="{D0044501-3F77-FE26-595A-717047A64997}"/>
              </a:ext>
            </a:extLst>
          </p:cNvPr>
          <p:cNvPicPr>
            <a:picLocks noChangeAspect="1"/>
          </p:cNvPicPr>
          <p:nvPr/>
        </p:nvPicPr>
        <p:blipFill>
          <a:blip r:embed="rId2"/>
          <a:stretch>
            <a:fillRect/>
          </a:stretch>
        </p:blipFill>
        <p:spPr>
          <a:xfrm>
            <a:off x="1247311" y="1476102"/>
            <a:ext cx="6649378" cy="3905795"/>
          </a:xfrm>
          <a:prstGeom prst="rect">
            <a:avLst/>
          </a:prstGeom>
        </p:spPr>
      </p:pic>
    </p:spTree>
    <p:extLst>
      <p:ext uri="{BB962C8B-B14F-4D97-AF65-F5344CB8AC3E}">
        <p14:creationId xmlns:p14="http://schemas.microsoft.com/office/powerpoint/2010/main" val="31122725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989A995-7FE3-16AD-1EE4-2A4438503DC4}"/>
              </a:ext>
            </a:extLst>
          </p:cNvPr>
          <p:cNvSpPr>
            <a:spLocks noGrp="1"/>
          </p:cNvSpPr>
          <p:nvPr>
            <p:ph idx="1"/>
          </p:nvPr>
        </p:nvSpPr>
        <p:spPr/>
        <p:txBody>
          <a:bodyPr/>
          <a:lstStyle/>
          <a:p>
            <a:endParaRPr lang="tr-TR"/>
          </a:p>
        </p:txBody>
      </p:sp>
      <p:sp>
        <p:nvSpPr>
          <p:cNvPr id="3" name="Title 2">
            <a:extLst>
              <a:ext uri="{FF2B5EF4-FFF2-40B4-BE49-F238E27FC236}">
                <a16:creationId xmlns:a16="http://schemas.microsoft.com/office/drawing/2014/main" id="{67BBBDE4-41C8-835A-399C-8D1512ED1F11}"/>
              </a:ext>
            </a:extLst>
          </p:cNvPr>
          <p:cNvSpPr>
            <a:spLocks noGrp="1"/>
          </p:cNvSpPr>
          <p:nvPr>
            <p:ph type="title"/>
          </p:nvPr>
        </p:nvSpPr>
        <p:spPr/>
        <p:txBody>
          <a:bodyPr/>
          <a:lstStyle/>
          <a:p>
            <a:endParaRPr lang="tr-TR"/>
          </a:p>
        </p:txBody>
      </p:sp>
      <p:pic>
        <p:nvPicPr>
          <p:cNvPr id="6" name="Picture 5">
            <a:extLst>
              <a:ext uri="{FF2B5EF4-FFF2-40B4-BE49-F238E27FC236}">
                <a16:creationId xmlns:a16="http://schemas.microsoft.com/office/drawing/2014/main" id="{5C589E3C-0D10-F3E9-19FC-B4FE92DEA105}"/>
              </a:ext>
            </a:extLst>
          </p:cNvPr>
          <p:cNvPicPr>
            <a:picLocks noChangeAspect="1"/>
          </p:cNvPicPr>
          <p:nvPr/>
        </p:nvPicPr>
        <p:blipFill>
          <a:blip r:embed="rId2"/>
          <a:stretch>
            <a:fillRect/>
          </a:stretch>
        </p:blipFill>
        <p:spPr>
          <a:xfrm>
            <a:off x="389806" y="1484784"/>
            <a:ext cx="6505575" cy="2066925"/>
          </a:xfrm>
          <a:prstGeom prst="rect">
            <a:avLst/>
          </a:prstGeom>
        </p:spPr>
      </p:pic>
    </p:spTree>
    <p:extLst>
      <p:ext uri="{BB962C8B-B14F-4D97-AF65-F5344CB8AC3E}">
        <p14:creationId xmlns:p14="http://schemas.microsoft.com/office/powerpoint/2010/main" val="5928379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E383C33-14F4-5258-0F4B-4EDE54DF97DB}"/>
              </a:ext>
            </a:extLst>
          </p:cNvPr>
          <p:cNvSpPr>
            <a:spLocks noGrp="1"/>
          </p:cNvSpPr>
          <p:nvPr>
            <p:ph idx="1"/>
          </p:nvPr>
        </p:nvSpPr>
        <p:spPr>
          <a:xfrm>
            <a:off x="395536" y="1484784"/>
            <a:ext cx="8280919" cy="4881686"/>
          </a:xfrm>
        </p:spPr>
        <p:txBody>
          <a:bodyPr/>
          <a:lstStyle/>
          <a:p>
            <a:r>
              <a:rPr lang="tr-TR"/>
              <a:t>Oyunun kuralları, şekilde görüldüğü gibi bir iki boyutlu hücresel  yapımız var. Amacımız, birden (1) başlayıp en büyük rakama ulaşaşmaktır. Bunu yaparken tüm hücrelerden geçilecek ve çapraz  hareket edilmeyecektir. Her adımda bir kare ilerlenecek ve bir hücreden yalnızca bir kez             geçilecektir. </a:t>
            </a:r>
          </a:p>
          <a:p>
            <a:endParaRPr lang="tr-TR"/>
          </a:p>
          <a:p>
            <a:endParaRPr lang="tr-TR"/>
          </a:p>
          <a:p>
            <a:endParaRPr lang="tr-TR"/>
          </a:p>
          <a:p>
            <a:endParaRPr lang="tr-TR"/>
          </a:p>
          <a:p>
            <a:endParaRPr lang="tr-TR"/>
          </a:p>
          <a:p>
            <a:endParaRPr lang="tr-TR"/>
          </a:p>
          <a:p>
            <a:endParaRPr lang="tr-TR"/>
          </a:p>
          <a:p>
            <a:endParaRPr lang="tr-TR"/>
          </a:p>
          <a:p>
            <a:endParaRPr lang="tr-TR"/>
          </a:p>
          <a:p>
            <a:endParaRPr lang="tr-TR"/>
          </a:p>
          <a:p>
            <a:r>
              <a:rPr lang="tr-TR"/>
              <a:t>Aralarında kalın çubuk ile gösterilen duvarlar geçişin mümkün olmadığını göstermektedir. </a:t>
            </a:r>
          </a:p>
          <a:p>
            <a:r>
              <a:rPr lang="tr-TR"/>
              <a:t>Tüm bu şartları sağlayan rota nedir?</a:t>
            </a:r>
          </a:p>
        </p:txBody>
      </p:sp>
      <p:sp>
        <p:nvSpPr>
          <p:cNvPr id="3" name="Title 2">
            <a:extLst>
              <a:ext uri="{FF2B5EF4-FFF2-40B4-BE49-F238E27FC236}">
                <a16:creationId xmlns:a16="http://schemas.microsoft.com/office/drawing/2014/main" id="{0A7DCE89-37D0-D769-884F-A60D6A07BC38}"/>
              </a:ext>
            </a:extLst>
          </p:cNvPr>
          <p:cNvSpPr>
            <a:spLocks noGrp="1"/>
          </p:cNvSpPr>
          <p:nvPr>
            <p:ph type="title"/>
          </p:nvPr>
        </p:nvSpPr>
        <p:spPr/>
        <p:txBody>
          <a:bodyPr/>
          <a:lstStyle/>
          <a:p>
            <a:r>
              <a:rPr lang="tr-TR"/>
              <a:t>Zip Oyunu</a:t>
            </a:r>
          </a:p>
        </p:txBody>
      </p:sp>
      <p:pic>
        <p:nvPicPr>
          <p:cNvPr id="6" name="Content Placeholder 4">
            <a:extLst>
              <a:ext uri="{FF2B5EF4-FFF2-40B4-BE49-F238E27FC236}">
                <a16:creationId xmlns:a16="http://schemas.microsoft.com/office/drawing/2014/main" id="{23205E62-7754-C2E3-1848-57A24371330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70075" y="2492896"/>
            <a:ext cx="3131840" cy="2699178"/>
          </a:xfrm>
          <a:prstGeom prst="rect">
            <a:avLst/>
          </a:prstGeom>
        </p:spPr>
      </p:pic>
    </p:spTree>
    <p:extLst>
      <p:ext uri="{BB962C8B-B14F-4D97-AF65-F5344CB8AC3E}">
        <p14:creationId xmlns:p14="http://schemas.microsoft.com/office/powerpoint/2010/main" val="39805413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340ED4FA-8957-A614-7BAF-84E072BF43FE}"/>
                  </a:ext>
                </a:extLst>
              </p:cNvPr>
              <p:cNvSpPr>
                <a:spLocks noGrp="1"/>
              </p:cNvSpPr>
              <p:nvPr>
                <p:ph idx="1"/>
              </p:nvPr>
            </p:nvSpPr>
            <p:spPr/>
            <p:txBody>
              <a:bodyPr/>
              <a:lstStyle/>
              <a:p>
                <a:r>
                  <a:rPr lang="tr-TR"/>
                  <a:t>Problem bir gezgin satıcı problemi olarak çözülebilir. Hücreleri koordinatlarına göre isimlendirerek    başlayabilir.  </a:t>
                </a:r>
              </a:p>
              <a:p>
                <a:r>
                  <a:rPr lang="tr-TR"/>
                  <a:t>Karar Değişkeni</a:t>
                </a:r>
              </a:p>
              <a:p>
                <a14:m>
                  <m:oMath xmlns:m="http://schemas.openxmlformats.org/officeDocument/2006/math">
                    <m:sSub>
                      <m:sSubPr>
                        <m:ctrlPr>
                          <a:rPr lang="tr-TR" i="1">
                            <a:latin typeface="Cambria Math" panose="02040503050406030204" pitchFamily="18" charset="0"/>
                          </a:rPr>
                        </m:ctrlPr>
                      </m:sSubPr>
                      <m:e>
                        <m:r>
                          <a:rPr lang="tr-TR">
                            <a:latin typeface="Cambria Math" panose="02040503050406030204" pitchFamily="18" charset="0"/>
                          </a:rPr>
                          <m:t>𝑥</m:t>
                        </m:r>
                      </m:e>
                      <m:sub>
                        <m:r>
                          <a:rPr lang="tr-TR">
                            <a:latin typeface="Cambria Math" panose="02040503050406030204" pitchFamily="18" charset="0"/>
                          </a:rPr>
                          <m:t>𝑖𝑗</m:t>
                        </m:r>
                        <m:r>
                          <a:rPr lang="tr-TR" b="0" i="1" smtClean="0">
                            <a:latin typeface="Cambria Math" panose="02040503050406030204" pitchFamily="18" charset="0"/>
                          </a:rPr>
                          <m:t>,</m:t>
                        </m:r>
                        <m:r>
                          <a:rPr lang="tr-TR" b="0" i="1" smtClean="0">
                            <a:latin typeface="Cambria Math" panose="02040503050406030204" pitchFamily="18" charset="0"/>
                          </a:rPr>
                          <m:t>𝑘𝑙</m:t>
                        </m:r>
                      </m:sub>
                    </m:sSub>
                    <m:r>
                      <a:rPr lang="tr-TR" b="0" i="1" smtClean="0">
                        <a:latin typeface="Cambria Math" panose="02040503050406030204" pitchFamily="18" charset="0"/>
                      </a:rPr>
                      <m:t>:</m:t>
                    </m:r>
                  </m:oMath>
                </a14:m>
                <a:r>
                  <a:rPr lang="tr-TR"/>
                  <a:t> Eğer i,j hücresinden k,l hücresine hareket edilmişse bir (1) edilmemişse sıfır (0) (i ve k  sütun j  ve l satır numaralarını göstermektedir)</a:t>
                </a:r>
              </a:p>
              <a:p>
                <a:endParaRPr lang="tr-TR"/>
              </a:p>
              <a:p>
                <a:r>
                  <a:rPr lang="tr-TR"/>
                  <a:t>Örnek olarak 1,1 hücresinden 1,2 hücresine geçiş değişkeni </a:t>
                </a:r>
                <a14:m>
                  <m:oMath xmlns:m="http://schemas.openxmlformats.org/officeDocument/2006/math">
                    <m:sSub>
                      <m:sSubPr>
                        <m:ctrlPr>
                          <a:rPr lang="tr-TR"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11,12</m:t>
                        </m:r>
                      </m:sub>
                    </m:sSub>
                  </m:oMath>
                </a14:m>
                <a:r>
                  <a:rPr lang="tr-TR"/>
                  <a:t> olarak tanımlanır.</a:t>
                </a:r>
              </a:p>
            </p:txBody>
          </p:sp>
        </mc:Choice>
        <mc:Fallback xmlns="">
          <p:sp>
            <p:nvSpPr>
              <p:cNvPr id="2" name="Content Placeholder 1">
                <a:extLst>
                  <a:ext uri="{FF2B5EF4-FFF2-40B4-BE49-F238E27FC236}">
                    <a16:creationId xmlns:a16="http://schemas.microsoft.com/office/drawing/2014/main" id="{340ED4FA-8957-A614-7BAF-84E072BF43FE}"/>
                  </a:ext>
                </a:extLst>
              </p:cNvPr>
              <p:cNvSpPr>
                <a:spLocks noGrp="1" noRot="1" noChangeAspect="1" noMove="1" noResize="1" noEditPoints="1" noAdjustHandles="1" noChangeArrowheads="1" noChangeShapeType="1" noTextEdit="1"/>
              </p:cNvSpPr>
              <p:nvPr>
                <p:ph idx="1"/>
              </p:nvPr>
            </p:nvSpPr>
            <p:spPr>
              <a:blipFill>
                <a:blip r:embed="rId2"/>
                <a:stretch>
                  <a:fillRect l="-435" t="-375"/>
                </a:stretch>
              </a:blipFill>
            </p:spPr>
            <p:txBody>
              <a:bodyPr/>
              <a:lstStyle/>
              <a:p>
                <a:r>
                  <a:rPr lang="tr-TR">
                    <a:noFill/>
                  </a:rPr>
                  <a:t> </a:t>
                </a:r>
              </a:p>
            </p:txBody>
          </p:sp>
        </mc:Fallback>
      </mc:AlternateContent>
      <p:sp>
        <p:nvSpPr>
          <p:cNvPr id="3" name="Title 2">
            <a:extLst>
              <a:ext uri="{FF2B5EF4-FFF2-40B4-BE49-F238E27FC236}">
                <a16:creationId xmlns:a16="http://schemas.microsoft.com/office/drawing/2014/main" id="{A2D98212-C462-443D-8972-FD461501809C}"/>
              </a:ext>
            </a:extLst>
          </p:cNvPr>
          <p:cNvSpPr>
            <a:spLocks noGrp="1"/>
          </p:cNvSpPr>
          <p:nvPr>
            <p:ph type="title"/>
          </p:nvPr>
        </p:nvSpPr>
        <p:spPr/>
        <p:txBody>
          <a:bodyPr/>
          <a:lstStyle/>
          <a:p>
            <a:r>
              <a:rPr lang="tr-TR"/>
              <a:t>Zip Oyunu</a:t>
            </a:r>
          </a:p>
        </p:txBody>
      </p:sp>
      <p:pic>
        <p:nvPicPr>
          <p:cNvPr id="4" name="Content Placeholder 4">
            <a:extLst>
              <a:ext uri="{FF2B5EF4-FFF2-40B4-BE49-F238E27FC236}">
                <a16:creationId xmlns:a16="http://schemas.microsoft.com/office/drawing/2014/main" id="{E0ECCAEB-67DC-1AE2-07F9-59E678EBF96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32240" y="4725144"/>
            <a:ext cx="2394013" cy="2063281"/>
          </a:xfrm>
          <a:prstGeom prst="rect">
            <a:avLst/>
          </a:prstGeom>
        </p:spPr>
      </p:pic>
    </p:spTree>
    <p:extLst>
      <p:ext uri="{BB962C8B-B14F-4D97-AF65-F5344CB8AC3E}">
        <p14:creationId xmlns:p14="http://schemas.microsoft.com/office/powerpoint/2010/main" val="927547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B12C6954-49C3-7C7E-B3FC-2F22343D8D01}"/>
                  </a:ext>
                </a:extLst>
              </p:cNvPr>
              <p:cNvSpPr>
                <a:spLocks noGrp="1"/>
              </p:cNvSpPr>
              <p:nvPr>
                <p:ph idx="1"/>
              </p:nvPr>
            </p:nvSpPr>
            <p:spPr/>
            <p:txBody>
              <a:bodyPr>
                <a:normAutofit fontScale="92500" lnSpcReduction="10000"/>
              </a:bodyPr>
              <a:lstStyle/>
              <a:p>
                <a:r>
                  <a:rPr lang="tr-TR"/>
                  <a:t>Kısıtlar:</a:t>
                </a:r>
              </a:p>
              <a:p>
                <a:r>
                  <a:rPr lang="tr-TR" b="1"/>
                  <a:t>Grup 1:</a:t>
                </a:r>
                <a:r>
                  <a:rPr lang="tr-TR"/>
                  <a:t> Her bir hücre için hareket kısıtları yazılır. Hatılayalım, gezgin satıcı problemlerinde bir satıcı bir       şehirden hareketle şehirlerden birine gidiyordu. Burada, bir hücreden </a:t>
                </a:r>
                <a:r>
                  <a:rPr lang="tr-TR" b="1"/>
                  <a:t>mümkün </a:t>
                </a:r>
                <a:r>
                  <a:rPr lang="tr-TR"/>
                  <a:t>diğer hücrelere             hareketimiz kısıt olarak yazılmalıdır. </a:t>
                </a:r>
              </a:p>
              <a:p>
                <a:r>
                  <a:rPr lang="tr-TR"/>
                  <a:t>Örnek olarak, 1,1 hücresinden yalnızca 1,2’ye </a:t>
                </a:r>
                <a:r>
                  <a:rPr lang="tr-TR" b="1"/>
                  <a:t>yada</a:t>
                </a:r>
                <a:r>
                  <a:rPr lang="tr-TR"/>
                  <a:t> 2,1’e gidebiliriz. O halde bu hücre için kısıtımız.</a:t>
                </a:r>
              </a:p>
              <a:p>
                <a:pPr algn="ctr"/>
                <a14:m>
                  <m:oMath xmlns:m="http://schemas.openxmlformats.org/officeDocument/2006/math">
                    <m:sSub>
                      <m:sSubPr>
                        <m:ctrlPr>
                          <a:rPr lang="tr-TR"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11,12</m:t>
                        </m:r>
                      </m:sub>
                    </m:sSub>
                    <m:r>
                      <a:rPr lang="tr-TR" b="0" i="1" smtClean="0">
                        <a:latin typeface="Cambria Math" panose="02040503050406030204" pitchFamily="18" charset="0"/>
                      </a:rPr>
                      <m:t>+</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11,21</m:t>
                        </m:r>
                      </m:sub>
                    </m:sSub>
                    <m:r>
                      <a:rPr lang="tr-TR" b="0" i="1" smtClean="0">
                        <a:latin typeface="Cambria Math" panose="02040503050406030204" pitchFamily="18" charset="0"/>
                      </a:rPr>
                      <m:t>=1</m:t>
                    </m:r>
                  </m:oMath>
                </a14:m>
                <a:r>
                  <a:rPr lang="tr-TR"/>
                  <a:t> </a:t>
                </a:r>
              </a:p>
              <a:p>
                <a:r>
                  <a:rPr lang="tr-TR"/>
                  <a:t>Olarak belirlenir. </a:t>
                </a:r>
              </a:p>
              <a:p>
                <a:r>
                  <a:rPr lang="tr-TR"/>
                  <a:t>Bir hücrenin duvar içeren komşusu varsa geçiş olamayacaktır. Bu durumda, örnek olarak 4,3 hücresi için    kısıt,</a:t>
                </a:r>
              </a:p>
              <a:p>
                <a:pPr algn="ctr"/>
                <a14:m>
                  <m:oMath xmlns:m="http://schemas.openxmlformats.org/officeDocument/2006/math">
                    <m:sSub>
                      <m:sSubPr>
                        <m:ctrlPr>
                          <a:rPr lang="tr-TR"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43,44</m:t>
                        </m:r>
                      </m:sub>
                    </m:sSub>
                    <m:r>
                      <a:rPr lang="tr-TR" b="0" i="1" smtClean="0">
                        <a:latin typeface="Cambria Math" panose="02040503050406030204" pitchFamily="18" charset="0"/>
                      </a:rPr>
                      <m:t>+</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43,33</m:t>
                        </m:r>
                      </m:sub>
                    </m:sSub>
                    <m:r>
                      <a:rPr lang="tr-TR" b="0" i="1" smtClean="0">
                        <a:latin typeface="Cambria Math" panose="02040503050406030204" pitchFamily="18" charset="0"/>
                      </a:rPr>
                      <m:t>=1</m:t>
                    </m:r>
                  </m:oMath>
                </a14:m>
                <a:r>
                  <a:rPr lang="tr-TR"/>
                  <a:t> </a:t>
                </a:r>
              </a:p>
              <a:p>
                <a:r>
                  <a:rPr lang="tr-TR"/>
                  <a:t>Olacaktır.  4,3 hücresinden 5,3 hücresine ve 4,2 hücresine geçiş mümkün değildir. </a:t>
                </a:r>
              </a:p>
              <a:p>
                <a:r>
                  <a:rPr lang="tr-TR"/>
                  <a:t>Bir hücreden (şehirden) gidebileceği diğer hücrelerden (şehirlerden) birine mutlaka gideceği kısıtı tüm        hücreler için yazılır.</a:t>
                </a:r>
              </a:p>
              <a:p>
                <a:r>
                  <a:rPr lang="tr-TR" b="1"/>
                  <a:t>Grup 2:</a:t>
                </a:r>
                <a:r>
                  <a:rPr lang="tr-TR"/>
                  <a:t> Eğer bir hücrede (şehirde) bulunuyorsak, o hücreye (şehre) diğer hücrelerden birinden gelinmiştir. Örnek olarak, 1,1 hücresine ya 1,2’den ya da 2,1 hücresinden gelinmiştir.  O halde,</a:t>
                </a:r>
              </a:p>
              <a:p>
                <a:pPr algn="ctr"/>
                <a14:m>
                  <m:oMath xmlns:m="http://schemas.openxmlformats.org/officeDocument/2006/math">
                    <m:sSub>
                      <m:sSubPr>
                        <m:ctrlPr>
                          <a:rPr lang="tr-TR"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12,11</m:t>
                        </m:r>
                      </m:sub>
                    </m:sSub>
                    <m:r>
                      <a:rPr lang="tr-TR" b="0" i="1" smtClean="0">
                        <a:latin typeface="Cambria Math" panose="02040503050406030204" pitchFamily="18" charset="0"/>
                      </a:rPr>
                      <m:t>+</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21,11</m:t>
                        </m:r>
                      </m:sub>
                    </m:sSub>
                    <m:r>
                      <a:rPr lang="tr-TR" b="0" i="1" smtClean="0">
                        <a:latin typeface="Cambria Math" panose="02040503050406030204" pitchFamily="18" charset="0"/>
                      </a:rPr>
                      <m:t>=1</m:t>
                    </m:r>
                  </m:oMath>
                </a14:m>
                <a:r>
                  <a:rPr lang="tr-TR"/>
                  <a:t> </a:t>
                </a:r>
              </a:p>
              <a:p>
                <a:r>
                  <a:rPr lang="tr-TR"/>
                  <a:t>Yine aynı matıkla, 5,2 hücresine komşu hücrelerden gelinmiştir. </a:t>
                </a:r>
              </a:p>
              <a:p>
                <a:pPr/>
                <a14:m>
                  <m:oMathPara xmlns:m="http://schemas.openxmlformats.org/officeDocument/2006/math">
                    <m:oMathParaPr>
                      <m:jc m:val="centerGroup"/>
                    </m:oMathParaPr>
                    <m:oMath xmlns:m="http://schemas.openxmlformats.org/officeDocument/2006/math">
                      <m:sSub>
                        <m:sSubPr>
                          <m:ctrlPr>
                            <a:rPr lang="tr-TR"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51,52</m:t>
                          </m:r>
                        </m:sub>
                      </m:sSub>
                      <m:r>
                        <a:rPr lang="tr-TR" b="0" i="1" smtClean="0">
                          <a:latin typeface="Cambria Math" panose="02040503050406030204" pitchFamily="18" charset="0"/>
                        </a:rPr>
                        <m:t>+</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42,52</m:t>
                          </m:r>
                        </m:sub>
                      </m:sSub>
                      <m:r>
                        <a:rPr lang="tr-TR" b="0" i="1" smtClean="0">
                          <a:latin typeface="Cambria Math" panose="02040503050406030204" pitchFamily="18" charset="0"/>
                        </a:rPr>
                        <m:t>+</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53,52</m:t>
                          </m:r>
                        </m:sub>
                      </m:sSub>
                      <m:r>
                        <a:rPr lang="tr-TR" b="0" i="1" smtClean="0">
                          <a:latin typeface="Cambria Math" panose="02040503050406030204" pitchFamily="18" charset="0"/>
                        </a:rPr>
                        <m:t>+</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62,52</m:t>
                          </m:r>
                        </m:sub>
                      </m:sSub>
                      <m:r>
                        <a:rPr lang="tr-TR" b="0" i="1" smtClean="0">
                          <a:latin typeface="Cambria Math" panose="02040503050406030204" pitchFamily="18" charset="0"/>
                        </a:rPr>
                        <m:t>=1</m:t>
                      </m:r>
                    </m:oMath>
                  </m:oMathPara>
                </a14:m>
                <a:endParaRPr lang="tr-TR"/>
              </a:p>
              <a:p>
                <a:r>
                  <a:rPr lang="tr-TR"/>
                  <a:t>Tüm hücreler için  ilgili kısıt yazılır ve aradaki duvarlar dikkate alınır. </a:t>
                </a:r>
              </a:p>
            </p:txBody>
          </p:sp>
        </mc:Choice>
        <mc:Fallback xmlns="">
          <p:sp>
            <p:nvSpPr>
              <p:cNvPr id="2" name="Content Placeholder 1">
                <a:extLst>
                  <a:ext uri="{FF2B5EF4-FFF2-40B4-BE49-F238E27FC236}">
                    <a16:creationId xmlns:a16="http://schemas.microsoft.com/office/drawing/2014/main" id="{B12C6954-49C3-7C7E-B3FC-2F22343D8D01}"/>
                  </a:ext>
                </a:extLst>
              </p:cNvPr>
              <p:cNvSpPr>
                <a:spLocks noGrp="1" noRot="1" noChangeAspect="1" noMove="1" noResize="1" noEditPoints="1" noAdjustHandles="1" noChangeArrowheads="1" noChangeShapeType="1" noTextEdit="1"/>
              </p:cNvSpPr>
              <p:nvPr>
                <p:ph idx="1"/>
              </p:nvPr>
            </p:nvSpPr>
            <p:spPr>
              <a:blipFill>
                <a:blip r:embed="rId2"/>
                <a:stretch>
                  <a:fillRect l="-290" t="-750"/>
                </a:stretch>
              </a:blipFill>
            </p:spPr>
            <p:txBody>
              <a:bodyPr/>
              <a:lstStyle/>
              <a:p>
                <a:r>
                  <a:rPr lang="tr-TR">
                    <a:noFill/>
                  </a:rPr>
                  <a:t> </a:t>
                </a:r>
              </a:p>
            </p:txBody>
          </p:sp>
        </mc:Fallback>
      </mc:AlternateContent>
      <p:sp>
        <p:nvSpPr>
          <p:cNvPr id="3" name="Title 2">
            <a:extLst>
              <a:ext uri="{FF2B5EF4-FFF2-40B4-BE49-F238E27FC236}">
                <a16:creationId xmlns:a16="http://schemas.microsoft.com/office/drawing/2014/main" id="{5FA31BE8-D16D-FD5E-608A-6D3F868FAC33}"/>
              </a:ext>
            </a:extLst>
          </p:cNvPr>
          <p:cNvSpPr>
            <a:spLocks noGrp="1"/>
          </p:cNvSpPr>
          <p:nvPr>
            <p:ph type="title"/>
          </p:nvPr>
        </p:nvSpPr>
        <p:spPr/>
        <p:txBody>
          <a:bodyPr/>
          <a:lstStyle/>
          <a:p>
            <a:r>
              <a:rPr lang="tr-TR"/>
              <a:t>Zip Oyunu</a:t>
            </a:r>
          </a:p>
        </p:txBody>
      </p:sp>
      <p:pic>
        <p:nvPicPr>
          <p:cNvPr id="4" name="Content Placeholder 4">
            <a:extLst>
              <a:ext uri="{FF2B5EF4-FFF2-40B4-BE49-F238E27FC236}">
                <a16:creationId xmlns:a16="http://schemas.microsoft.com/office/drawing/2014/main" id="{804C9A41-E6BC-C4E3-D2F8-9B08B21C5E2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92280" y="-2947"/>
            <a:ext cx="2016224" cy="1737685"/>
          </a:xfrm>
          <a:prstGeom prst="rect">
            <a:avLst/>
          </a:prstGeom>
        </p:spPr>
      </p:pic>
    </p:spTree>
    <p:extLst>
      <p:ext uri="{BB962C8B-B14F-4D97-AF65-F5344CB8AC3E}">
        <p14:creationId xmlns:p14="http://schemas.microsoft.com/office/powerpoint/2010/main" val="40057296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5798B-A2EC-EEB7-D1E2-132538ED8CD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99EE293B-CD12-E323-5AA4-9334A1627288}"/>
                  </a:ext>
                </a:extLst>
              </p:cNvPr>
              <p:cNvSpPr>
                <a:spLocks noGrp="1"/>
              </p:cNvSpPr>
              <p:nvPr>
                <p:ph idx="1"/>
              </p:nvPr>
            </p:nvSpPr>
            <p:spPr/>
            <p:txBody>
              <a:bodyPr>
                <a:normAutofit/>
              </a:bodyPr>
              <a:lstStyle/>
              <a:p>
                <a:r>
                  <a:rPr lang="tr-TR"/>
                  <a:t>Bir nolu hücreden (bir rakamını içeren hücre yani 6,4 hücresi) başlamak demek bu hücreye başka bir hücreden gelinmemiş olmasıdır. O halde 6,4 hücresi için Grup 2 kısıtı şu şekildedir.</a:t>
                </a:r>
              </a:p>
              <a:p>
                <a:pPr/>
                <a14:m>
                  <m:oMathPara xmlns:m="http://schemas.openxmlformats.org/officeDocument/2006/math">
                    <m:oMathParaPr>
                      <m:jc m:val="centerGroup"/>
                    </m:oMathParaPr>
                    <m:oMath xmlns:m="http://schemas.openxmlformats.org/officeDocument/2006/math">
                      <m:sSub>
                        <m:sSubPr>
                          <m:ctrlPr>
                            <a:rPr lang="tr-TR"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65,64</m:t>
                          </m:r>
                        </m:sub>
                      </m:sSub>
                      <m:r>
                        <a:rPr lang="tr-TR" b="0" i="1" smtClean="0">
                          <a:latin typeface="Cambria Math" panose="02040503050406030204" pitchFamily="18" charset="0"/>
                        </a:rPr>
                        <m:t>=0</m:t>
                      </m:r>
                    </m:oMath>
                  </m:oMathPara>
                </a14:m>
                <a:endParaRPr lang="tr-TR"/>
              </a:p>
              <a:p>
                <a:r>
                  <a:rPr lang="tr-TR"/>
                  <a:t>Olacaktır. Diğer komşu hücreler duvar ile kapatıldığı için zaten kısıtta yer alamaz. </a:t>
                </a:r>
              </a:p>
              <a:p>
                <a:r>
                  <a:rPr lang="tr-TR"/>
                  <a:t>Benzer mantıkla son rakamımız olan altıya en son gitmek ve oyunu bitirmek demek, bu hücreden     başka hücreye geçiş olmayacağı anlamına gelir. O halde, hücreye ait Grup 1 kısıtı, hücreden       başka bir hücreye gidilemeyeceğini ifade etmelidir. </a:t>
                </a:r>
              </a:p>
              <a:p>
                <a:pPr/>
                <a14:m>
                  <m:oMathPara xmlns:m="http://schemas.openxmlformats.org/officeDocument/2006/math">
                    <m:oMathParaPr>
                      <m:jc m:val="centerGroup"/>
                    </m:oMathParaPr>
                    <m:oMath xmlns:m="http://schemas.openxmlformats.org/officeDocument/2006/math">
                      <m:sSub>
                        <m:sSubPr>
                          <m:ctrlPr>
                            <a:rPr lang="tr-TR"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26,16</m:t>
                          </m:r>
                        </m:sub>
                      </m:sSub>
                      <m:r>
                        <a:rPr lang="tr-TR" b="0" i="1" smtClean="0">
                          <a:latin typeface="Cambria Math" panose="02040503050406030204" pitchFamily="18" charset="0"/>
                        </a:rPr>
                        <m:t>+</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26,36</m:t>
                          </m:r>
                        </m:sub>
                      </m:sSub>
                      <m:r>
                        <a:rPr lang="tr-TR" b="0" i="1" smtClean="0">
                          <a:latin typeface="Cambria Math" panose="02040503050406030204" pitchFamily="18" charset="0"/>
                        </a:rPr>
                        <m:t>+</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26,27</m:t>
                          </m:r>
                        </m:sub>
                      </m:sSub>
                      <m:r>
                        <a:rPr lang="tr-TR" b="0" i="1" smtClean="0">
                          <a:latin typeface="Cambria Math" panose="02040503050406030204" pitchFamily="18" charset="0"/>
                        </a:rPr>
                        <m:t>=0</m:t>
                      </m:r>
                    </m:oMath>
                  </m:oMathPara>
                </a14:m>
                <a:endParaRPr lang="tr-TR"/>
              </a:p>
              <a:p>
                <a:endParaRPr lang="tr-TR"/>
              </a:p>
              <a:p>
                <a:r>
                  <a:rPr lang="tr-TR" b="1"/>
                  <a:t>Grup 3: </a:t>
                </a:r>
                <a:r>
                  <a:rPr lang="tr-TR"/>
                  <a:t>Sıralama kısıtları</a:t>
                </a:r>
              </a:p>
              <a:p>
                <a:r>
                  <a:rPr lang="tr-TR"/>
                  <a:t>Alt çevrimler oluşturmama ve sıralı bir şekilde hücrelerden geçiş için sıralama kısıtları yazılır. </a:t>
                </a:r>
              </a:p>
              <a:p>
                <a14:m>
                  <m:oMath xmlns:m="http://schemas.openxmlformats.org/officeDocument/2006/math">
                    <m:sSub>
                      <m:sSubPr>
                        <m:ctrlPr>
                          <a:rPr lang="tr-TR" i="1" smtClean="0">
                            <a:latin typeface="Cambria Math" panose="02040503050406030204" pitchFamily="18" charset="0"/>
                          </a:rPr>
                        </m:ctrlPr>
                      </m:sSubPr>
                      <m:e>
                        <m:r>
                          <a:rPr lang="tr-TR" b="0" i="1" smtClean="0">
                            <a:latin typeface="Cambria Math" panose="02040503050406030204" pitchFamily="18" charset="0"/>
                          </a:rPr>
                          <m:t>𝑈</m:t>
                        </m:r>
                      </m:e>
                      <m:sub>
                        <m:r>
                          <a:rPr lang="tr-TR" b="0" i="1" smtClean="0">
                            <a:latin typeface="Cambria Math" panose="02040503050406030204" pitchFamily="18" charset="0"/>
                          </a:rPr>
                          <m:t>𝑖𝑗</m:t>
                        </m:r>
                      </m:sub>
                    </m:sSub>
                  </m:oMath>
                </a14:m>
                <a:r>
                  <a:rPr lang="tr-TR"/>
                  <a:t> i,j hücresinin geçiş sırasını göstermek üzere, her bir hücre ile komşuları arasında sıralam kısıtları aşağıdaki şekilde yazılır.  Örnek olarak, 1,1 hücresi sırası U11 için</a:t>
                </a:r>
              </a:p>
              <a:p>
                <a:pPr/>
                <a14:m>
                  <m:oMathPara xmlns:m="http://schemas.openxmlformats.org/officeDocument/2006/math">
                    <m:oMathParaPr>
                      <m:jc m:val="centerGroup"/>
                    </m:oMathParaPr>
                    <m:oMath xmlns:m="http://schemas.openxmlformats.org/officeDocument/2006/math">
                      <m:sSub>
                        <m:sSubPr>
                          <m:ctrlPr>
                            <a:rPr lang="tr-TR" i="1" smtClean="0">
                              <a:latin typeface="Cambria Math" panose="02040503050406030204" pitchFamily="18" charset="0"/>
                            </a:rPr>
                          </m:ctrlPr>
                        </m:sSubPr>
                        <m:e>
                          <m:r>
                            <a:rPr lang="tr-TR" b="0" i="1" smtClean="0">
                              <a:latin typeface="Cambria Math" panose="02040503050406030204" pitchFamily="18" charset="0"/>
                            </a:rPr>
                            <m:t>𝑈</m:t>
                          </m:r>
                        </m:e>
                        <m:sub>
                          <m:r>
                            <a:rPr lang="tr-TR" b="0" i="1" smtClean="0">
                              <a:latin typeface="Cambria Math" panose="02040503050406030204" pitchFamily="18" charset="0"/>
                            </a:rPr>
                            <m:t>11</m:t>
                          </m:r>
                        </m:sub>
                      </m:sSub>
                      <m:r>
                        <a:rPr lang="tr-TR" b="0" i="1" smtClean="0">
                          <a:latin typeface="Cambria Math" panose="02040503050406030204" pitchFamily="18" charset="0"/>
                        </a:rPr>
                        <m:t>−</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𝑈</m:t>
                          </m:r>
                        </m:e>
                        <m:sub>
                          <m:r>
                            <a:rPr lang="tr-TR" b="0" i="1" smtClean="0">
                              <a:latin typeface="Cambria Math" panose="02040503050406030204" pitchFamily="18" charset="0"/>
                            </a:rPr>
                            <m:t>12</m:t>
                          </m:r>
                        </m:sub>
                      </m:sSub>
                      <m:r>
                        <a:rPr lang="tr-TR" b="0" i="1" smtClean="0">
                          <a:latin typeface="Cambria Math" panose="02040503050406030204" pitchFamily="18" charset="0"/>
                        </a:rPr>
                        <m:t>+49</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𝑋</m:t>
                          </m:r>
                        </m:e>
                        <m:sub>
                          <m:r>
                            <a:rPr lang="tr-TR" b="0" i="1" smtClean="0">
                              <a:latin typeface="Cambria Math" panose="02040503050406030204" pitchFamily="18" charset="0"/>
                            </a:rPr>
                            <m:t>11,12</m:t>
                          </m:r>
                        </m:sub>
                      </m:sSub>
                      <m:r>
                        <a:rPr lang="tr-TR" b="0" i="1" smtClean="0">
                          <a:latin typeface="Cambria Math" panose="02040503050406030204" pitchFamily="18" charset="0"/>
                          <a:ea typeface="Cambria Math" panose="02040503050406030204" pitchFamily="18" charset="0"/>
                        </a:rPr>
                        <m:t>≤48</m:t>
                      </m:r>
                    </m:oMath>
                  </m:oMathPara>
                </a14:m>
                <a:endParaRPr lang="tr-TR"/>
              </a:p>
              <a:p>
                <a:pPr/>
                <a14:m>
                  <m:oMathPara xmlns:m="http://schemas.openxmlformats.org/officeDocument/2006/math">
                    <m:oMathParaPr>
                      <m:jc m:val="centerGroup"/>
                    </m:oMathParaPr>
                    <m:oMath xmlns:m="http://schemas.openxmlformats.org/officeDocument/2006/math">
                      <m:sSub>
                        <m:sSubPr>
                          <m:ctrlPr>
                            <a:rPr lang="tr-TR" i="1">
                              <a:latin typeface="Cambria Math" panose="02040503050406030204" pitchFamily="18" charset="0"/>
                            </a:rPr>
                          </m:ctrlPr>
                        </m:sSubPr>
                        <m:e>
                          <m:r>
                            <a:rPr lang="tr-TR">
                              <a:latin typeface="Cambria Math" panose="02040503050406030204" pitchFamily="18" charset="0"/>
                            </a:rPr>
                            <m:t>𝑈</m:t>
                          </m:r>
                        </m:e>
                        <m:sub>
                          <m:r>
                            <a:rPr lang="tr-TR">
                              <a:latin typeface="Cambria Math" panose="02040503050406030204" pitchFamily="18" charset="0"/>
                            </a:rPr>
                            <m:t>11</m:t>
                          </m:r>
                        </m:sub>
                      </m:sSub>
                      <m:r>
                        <a:rPr lang="tr-TR">
                          <a:latin typeface="Cambria Math" panose="02040503050406030204" pitchFamily="18" charset="0"/>
                        </a:rPr>
                        <m:t>−</m:t>
                      </m:r>
                      <m:sSub>
                        <m:sSubPr>
                          <m:ctrlPr>
                            <a:rPr lang="tr-TR" i="1">
                              <a:latin typeface="Cambria Math" panose="02040503050406030204" pitchFamily="18" charset="0"/>
                            </a:rPr>
                          </m:ctrlPr>
                        </m:sSubPr>
                        <m:e>
                          <m:r>
                            <a:rPr lang="tr-TR">
                              <a:latin typeface="Cambria Math" panose="02040503050406030204" pitchFamily="18" charset="0"/>
                            </a:rPr>
                            <m:t>𝑈</m:t>
                          </m:r>
                        </m:e>
                        <m:sub>
                          <m:r>
                            <a:rPr lang="tr-TR">
                              <a:latin typeface="Cambria Math" panose="02040503050406030204" pitchFamily="18" charset="0"/>
                            </a:rPr>
                            <m:t>2</m:t>
                          </m:r>
                          <m:r>
                            <a:rPr lang="tr-TR" b="0" i="1" smtClean="0">
                              <a:latin typeface="Cambria Math" panose="02040503050406030204" pitchFamily="18" charset="0"/>
                            </a:rPr>
                            <m:t>1</m:t>
                          </m:r>
                        </m:sub>
                      </m:sSub>
                      <m:r>
                        <a:rPr lang="tr-TR">
                          <a:latin typeface="Cambria Math" panose="02040503050406030204" pitchFamily="18" charset="0"/>
                        </a:rPr>
                        <m:t>+49</m:t>
                      </m:r>
                      <m:sSub>
                        <m:sSubPr>
                          <m:ctrlPr>
                            <a:rPr lang="tr-TR" i="1">
                              <a:latin typeface="Cambria Math" panose="02040503050406030204" pitchFamily="18" charset="0"/>
                            </a:rPr>
                          </m:ctrlPr>
                        </m:sSubPr>
                        <m:e>
                          <m:r>
                            <a:rPr lang="tr-TR">
                              <a:latin typeface="Cambria Math" panose="02040503050406030204" pitchFamily="18" charset="0"/>
                            </a:rPr>
                            <m:t>𝑋</m:t>
                          </m:r>
                        </m:e>
                        <m:sub>
                          <m:r>
                            <a:rPr lang="tr-TR">
                              <a:latin typeface="Cambria Math" panose="02040503050406030204" pitchFamily="18" charset="0"/>
                            </a:rPr>
                            <m:t>11,2</m:t>
                          </m:r>
                          <m:r>
                            <a:rPr lang="tr-TR" b="0" i="1" smtClean="0">
                              <a:latin typeface="Cambria Math" panose="02040503050406030204" pitchFamily="18" charset="0"/>
                            </a:rPr>
                            <m:t>1</m:t>
                          </m:r>
                        </m:sub>
                      </m:sSub>
                      <m:r>
                        <a:rPr lang="tr-TR">
                          <a:latin typeface="Cambria Math" panose="02040503050406030204" pitchFamily="18" charset="0"/>
                          <a:ea typeface="Cambria Math" panose="02040503050406030204" pitchFamily="18" charset="0"/>
                        </a:rPr>
                        <m:t>≤48</m:t>
                      </m:r>
                    </m:oMath>
                  </m:oMathPara>
                </a14:m>
                <a:endParaRPr lang="tr-TR"/>
              </a:p>
              <a:p>
                <a:pPr/>
                <a14:m>
                  <m:oMathPara xmlns:m="http://schemas.openxmlformats.org/officeDocument/2006/math">
                    <m:oMathParaPr>
                      <m:jc m:val="centerGroup"/>
                    </m:oMathParaPr>
                    <m:oMath xmlns:m="http://schemas.openxmlformats.org/officeDocument/2006/math">
                      <m:sSub>
                        <m:sSubPr>
                          <m:ctrlPr>
                            <a:rPr lang="tr-TR" i="1" smtClean="0">
                              <a:latin typeface="Cambria Math" panose="02040503050406030204" pitchFamily="18" charset="0"/>
                            </a:rPr>
                          </m:ctrlPr>
                        </m:sSubPr>
                        <m:e>
                          <m:r>
                            <a:rPr lang="tr-TR" b="0" i="1" smtClean="0">
                              <a:latin typeface="Cambria Math" panose="02040503050406030204" pitchFamily="18" charset="0"/>
                            </a:rPr>
                            <m:t>𝑈</m:t>
                          </m:r>
                        </m:e>
                        <m:sub>
                          <m:r>
                            <a:rPr lang="tr-TR" b="0" i="1" smtClean="0">
                              <a:latin typeface="Cambria Math" panose="02040503050406030204" pitchFamily="18" charset="0"/>
                            </a:rPr>
                            <m:t>11</m:t>
                          </m:r>
                        </m:sub>
                      </m:sSub>
                      <m:r>
                        <a:rPr lang="tr-TR"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1</m:t>
                      </m:r>
                    </m:oMath>
                  </m:oMathPara>
                </a14:m>
                <a:endParaRPr lang="tr-TR" b="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tr-TR" i="1">
                              <a:latin typeface="Cambria Math" panose="02040503050406030204" pitchFamily="18" charset="0"/>
                            </a:rPr>
                          </m:ctrlPr>
                        </m:sSubPr>
                        <m:e>
                          <m:r>
                            <a:rPr lang="tr-TR">
                              <a:latin typeface="Cambria Math" panose="02040503050406030204" pitchFamily="18" charset="0"/>
                            </a:rPr>
                            <m:t>𝑈</m:t>
                          </m:r>
                        </m:e>
                        <m:sub>
                          <m:r>
                            <a:rPr lang="tr-TR">
                              <a:latin typeface="Cambria Math" panose="02040503050406030204" pitchFamily="18" charset="0"/>
                            </a:rPr>
                            <m:t>11</m:t>
                          </m:r>
                        </m:sub>
                      </m:sSub>
                      <m:r>
                        <a:rPr lang="tr-TR"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48</m:t>
                      </m:r>
                    </m:oMath>
                  </m:oMathPara>
                </a14:m>
                <a:endParaRPr lang="tr-TR"/>
              </a:p>
              <a:p>
                <a:endParaRPr lang="tr-TR"/>
              </a:p>
              <a:p>
                <a:endParaRPr lang="tr-TR"/>
              </a:p>
              <a:p>
                <a:endParaRPr lang="tr-TR"/>
              </a:p>
            </p:txBody>
          </p:sp>
        </mc:Choice>
        <mc:Fallback xmlns="">
          <p:sp>
            <p:nvSpPr>
              <p:cNvPr id="2" name="Content Placeholder 1">
                <a:extLst>
                  <a:ext uri="{FF2B5EF4-FFF2-40B4-BE49-F238E27FC236}">
                    <a16:creationId xmlns:a16="http://schemas.microsoft.com/office/drawing/2014/main" id="{99EE293B-CD12-E323-5AA4-9334A1627288}"/>
                  </a:ext>
                </a:extLst>
              </p:cNvPr>
              <p:cNvSpPr>
                <a:spLocks noGrp="1" noRot="1" noChangeAspect="1" noMove="1" noResize="1" noEditPoints="1" noAdjustHandles="1" noChangeArrowheads="1" noChangeShapeType="1" noTextEdit="1"/>
              </p:cNvSpPr>
              <p:nvPr>
                <p:ph idx="1"/>
              </p:nvPr>
            </p:nvSpPr>
            <p:spPr>
              <a:blipFill>
                <a:blip r:embed="rId2"/>
                <a:stretch>
                  <a:fillRect l="-435" t="-375" r="-218"/>
                </a:stretch>
              </a:blipFill>
            </p:spPr>
            <p:txBody>
              <a:bodyPr/>
              <a:lstStyle/>
              <a:p>
                <a:r>
                  <a:rPr lang="tr-TR">
                    <a:noFill/>
                  </a:rPr>
                  <a:t> </a:t>
                </a:r>
              </a:p>
            </p:txBody>
          </p:sp>
        </mc:Fallback>
      </mc:AlternateContent>
      <p:sp>
        <p:nvSpPr>
          <p:cNvPr id="3" name="Title 2">
            <a:extLst>
              <a:ext uri="{FF2B5EF4-FFF2-40B4-BE49-F238E27FC236}">
                <a16:creationId xmlns:a16="http://schemas.microsoft.com/office/drawing/2014/main" id="{FE204450-4D97-5E16-072F-562011311BB3}"/>
              </a:ext>
            </a:extLst>
          </p:cNvPr>
          <p:cNvSpPr>
            <a:spLocks noGrp="1"/>
          </p:cNvSpPr>
          <p:nvPr>
            <p:ph type="title"/>
          </p:nvPr>
        </p:nvSpPr>
        <p:spPr/>
        <p:txBody>
          <a:bodyPr/>
          <a:lstStyle/>
          <a:p>
            <a:r>
              <a:rPr lang="tr-TR"/>
              <a:t>Zip Oyunu</a:t>
            </a:r>
          </a:p>
        </p:txBody>
      </p:sp>
      <p:pic>
        <p:nvPicPr>
          <p:cNvPr id="4" name="Content Placeholder 4">
            <a:extLst>
              <a:ext uri="{FF2B5EF4-FFF2-40B4-BE49-F238E27FC236}">
                <a16:creationId xmlns:a16="http://schemas.microsoft.com/office/drawing/2014/main" id="{A32BF0B5-0C96-5833-5230-F44757FC8A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66211" y="-28702"/>
            <a:ext cx="1777789" cy="1532189"/>
          </a:xfrm>
          <a:prstGeom prst="rect">
            <a:avLst/>
          </a:prstGeom>
        </p:spPr>
      </p:pic>
    </p:spTree>
    <p:extLst>
      <p:ext uri="{BB962C8B-B14F-4D97-AF65-F5344CB8AC3E}">
        <p14:creationId xmlns:p14="http://schemas.microsoft.com/office/powerpoint/2010/main" val="42517252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B558D3-D058-A8E9-3A21-29CAA1EFD61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C2829C5C-1779-94AE-9BA2-30509266C8CA}"/>
                  </a:ext>
                </a:extLst>
              </p:cNvPr>
              <p:cNvSpPr>
                <a:spLocks noGrp="1"/>
              </p:cNvSpPr>
              <p:nvPr>
                <p:ph idx="1"/>
              </p:nvPr>
            </p:nvSpPr>
            <p:spPr/>
            <p:txBody>
              <a:bodyPr>
                <a:normAutofit/>
              </a:bodyPr>
              <a:lstStyle/>
              <a:p>
                <a:r>
                  <a:rPr lang="tr-TR"/>
                  <a:t>Burada dikkat edilecek konu şudur. Sıralama kısıtları arasında doğrusal bağımlılık sebebiyle bir         hücre (şehir) için sıralama kısıtı yazmıypruz. Sıralama kısıtı yazılmayan şehir veya hücre en son  sıraya yerleşir. Sıralama ksııtlarında </a:t>
                </a:r>
                <a14:m>
                  <m:oMath xmlns:m="http://schemas.openxmlformats.org/officeDocument/2006/math">
                    <m:sSub>
                      <m:sSubPr>
                        <m:ctrlPr>
                          <a:rPr lang="tr-TR" i="1" smtClean="0">
                            <a:latin typeface="Cambria Math" panose="02040503050406030204" pitchFamily="18" charset="0"/>
                          </a:rPr>
                        </m:ctrlPr>
                      </m:sSubPr>
                      <m:e>
                        <m:r>
                          <a:rPr lang="tr-TR" b="0" i="1" smtClean="0">
                            <a:latin typeface="Cambria Math" panose="02040503050406030204" pitchFamily="18" charset="0"/>
                          </a:rPr>
                          <m:t>𝑈</m:t>
                        </m:r>
                      </m:e>
                      <m:sub>
                        <m:r>
                          <a:rPr lang="tr-TR" b="0" i="1" smtClean="0">
                            <a:latin typeface="Cambria Math" panose="02040503050406030204" pitchFamily="18" charset="0"/>
                          </a:rPr>
                          <m:t>𝑖𝑗</m:t>
                        </m:r>
                      </m:sub>
                    </m:sSub>
                    <m:r>
                      <a:rPr lang="tr-TR"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𝑛</m:t>
                    </m:r>
                    <m:r>
                      <a:rPr lang="tr-TR" b="0" i="1" smtClean="0">
                        <a:latin typeface="Cambria Math" panose="02040503050406030204" pitchFamily="18" charset="0"/>
                        <a:ea typeface="Cambria Math" panose="02040503050406030204" pitchFamily="18" charset="0"/>
                      </a:rPr>
                      <m:t>−1</m:t>
                    </m:r>
                  </m:oMath>
                </a14:m>
                <a:r>
                  <a:rPr lang="tr-TR"/>
                  <a:t> kısıtı n. Sıraya kısıtlama yazılmayan hücreye     (şehre) ait kısıt olacağını gösterir. Bizim en son gitmek istediğimiz hücre en büyük sayının            bulunduğu hücredir ve bu hücre için sıralama kısıtı yazmıyoruz. Örneğimizde bu  2,6 hücresidir. Dolayısıyla </a:t>
                </a:r>
                <a14:m>
                  <m:oMath xmlns:m="http://schemas.openxmlformats.org/officeDocument/2006/math">
                    <m:sSub>
                      <m:sSubPr>
                        <m:ctrlPr>
                          <a:rPr lang="tr-TR" i="1" smtClean="0">
                            <a:latin typeface="Cambria Math" panose="02040503050406030204" pitchFamily="18" charset="0"/>
                          </a:rPr>
                        </m:ctrlPr>
                      </m:sSubPr>
                      <m:e>
                        <m:r>
                          <a:rPr lang="tr-TR" b="0" i="1" smtClean="0">
                            <a:latin typeface="Cambria Math" panose="02040503050406030204" pitchFamily="18" charset="0"/>
                          </a:rPr>
                          <m:t>𝑈</m:t>
                        </m:r>
                      </m:e>
                      <m:sub>
                        <m:r>
                          <a:rPr lang="tr-TR" b="0" i="1" smtClean="0">
                            <a:latin typeface="Cambria Math" panose="02040503050406030204" pitchFamily="18" charset="0"/>
                          </a:rPr>
                          <m:t>26</m:t>
                        </m:r>
                      </m:sub>
                    </m:sSub>
                    <m:r>
                      <a:rPr lang="tr-TR" b="0" i="1" smtClean="0">
                        <a:latin typeface="Cambria Math" panose="02040503050406030204" pitchFamily="18" charset="0"/>
                      </a:rPr>
                      <m:t>=49</m:t>
                    </m:r>
                  </m:oMath>
                </a14:m>
                <a:r>
                  <a:rPr lang="tr-TR"/>
                  <a:t> olması garanti altına alınır. Bunu destekler şekilde, bu hücreden komşu     hücrelere geçiş olamayacağını zaten kısıt olarak yazmıştık (Grup 1).</a:t>
                </a:r>
              </a:p>
              <a:p>
                <a:endParaRPr lang="tr-TR"/>
              </a:p>
              <a:p>
                <a:r>
                  <a:rPr lang="tr-TR" b="1"/>
                  <a:t>Grup 3: Sıralı Sayılar Kısıtları</a:t>
                </a:r>
              </a:p>
              <a:p>
                <a:r>
                  <a:rPr lang="tr-TR"/>
                  <a:t>Izgarada bulunan sayılar birden başlayıp sıralı bir şekilde ziyaret edilerek en büyük sayıya                    ulaşılmalıdır. O halde sayıların bulunduğu hücrelerin sıraları küçükten büyüğe doğru                     sıralanmalıdır. </a:t>
                </a:r>
              </a:p>
              <a:p>
                <a:pPr algn="ctr"/>
                <a14:m>
                  <m:oMath xmlns:m="http://schemas.openxmlformats.org/officeDocument/2006/math">
                    <m:sSub>
                      <m:sSubPr>
                        <m:ctrlPr>
                          <a:rPr lang="tr-TR" i="1" smtClean="0">
                            <a:latin typeface="Cambria Math" panose="02040503050406030204" pitchFamily="18" charset="0"/>
                          </a:rPr>
                        </m:ctrlPr>
                      </m:sSubPr>
                      <m:e>
                        <m:r>
                          <a:rPr lang="tr-TR" b="0" i="1" smtClean="0">
                            <a:latin typeface="Cambria Math" panose="02040503050406030204" pitchFamily="18" charset="0"/>
                          </a:rPr>
                          <m:t>𝑈</m:t>
                        </m:r>
                      </m:e>
                      <m:sub>
                        <m:r>
                          <a:rPr lang="tr-TR" b="0" i="1" smtClean="0">
                            <a:latin typeface="Cambria Math" panose="02040503050406030204" pitchFamily="18" charset="0"/>
                          </a:rPr>
                          <m:t>64</m:t>
                        </m:r>
                      </m:sub>
                    </m:sSub>
                    <m:r>
                      <a:rPr lang="tr-TR" i="1" smtClean="0">
                        <a:latin typeface="Cambria Math" panose="02040503050406030204" pitchFamily="18" charset="0"/>
                        <a:ea typeface="Cambria Math" panose="02040503050406030204" pitchFamily="18" charset="0"/>
                      </a:rPr>
                      <m:t>≤</m:t>
                    </m:r>
                    <m:sSub>
                      <m:sSubPr>
                        <m:ctrlPr>
                          <a:rPr lang="tr-TR" i="1" smtClean="0">
                            <a:latin typeface="Cambria Math" panose="02040503050406030204" pitchFamily="18" charset="0"/>
                            <a:ea typeface="Cambria Math" panose="02040503050406030204" pitchFamily="18" charset="0"/>
                          </a:rPr>
                        </m:ctrlPr>
                      </m:sSubPr>
                      <m:e>
                        <m:r>
                          <a:rPr lang="tr-TR" b="0" i="1" smtClean="0">
                            <a:latin typeface="Cambria Math" panose="02040503050406030204" pitchFamily="18" charset="0"/>
                            <a:ea typeface="Cambria Math" panose="02040503050406030204" pitchFamily="18" charset="0"/>
                          </a:rPr>
                          <m:t>𝑈</m:t>
                        </m:r>
                      </m:e>
                      <m:sub>
                        <m:r>
                          <a:rPr lang="tr-TR" b="0" i="1" smtClean="0">
                            <a:latin typeface="Cambria Math" panose="02040503050406030204" pitchFamily="18" charset="0"/>
                            <a:ea typeface="Cambria Math" panose="02040503050406030204" pitchFamily="18" charset="0"/>
                          </a:rPr>
                          <m:t>62</m:t>
                        </m:r>
                      </m:sub>
                    </m:sSub>
                  </m:oMath>
                </a14:m>
                <a:r>
                  <a:rPr lang="tr-TR"/>
                  <a:t> Bir ikiden öncedir</a:t>
                </a:r>
              </a:p>
              <a:p>
                <a:pPr algn="ctr"/>
                <a14:m>
                  <m:oMath xmlns:m="http://schemas.openxmlformats.org/officeDocument/2006/math">
                    <m:sSub>
                      <m:sSubPr>
                        <m:ctrlPr>
                          <a:rPr lang="tr-TR" i="1">
                            <a:latin typeface="Cambria Math" panose="02040503050406030204" pitchFamily="18" charset="0"/>
                          </a:rPr>
                        </m:ctrlPr>
                      </m:sSubPr>
                      <m:e>
                        <m:r>
                          <a:rPr lang="tr-TR">
                            <a:latin typeface="Cambria Math" panose="02040503050406030204" pitchFamily="18" charset="0"/>
                          </a:rPr>
                          <m:t>𝑈</m:t>
                        </m:r>
                      </m:e>
                      <m:sub>
                        <m:r>
                          <a:rPr lang="tr-TR">
                            <a:latin typeface="Cambria Math" panose="02040503050406030204" pitchFamily="18" charset="0"/>
                          </a:rPr>
                          <m:t>6</m:t>
                        </m:r>
                        <m:r>
                          <a:rPr lang="tr-TR" b="0" i="1" smtClean="0">
                            <a:latin typeface="Cambria Math" panose="02040503050406030204" pitchFamily="18" charset="0"/>
                          </a:rPr>
                          <m:t>2</m:t>
                        </m:r>
                      </m:sub>
                    </m:sSub>
                    <m:r>
                      <a:rPr lang="tr-TR">
                        <a:latin typeface="Cambria Math" panose="02040503050406030204" pitchFamily="18" charset="0"/>
                        <a:ea typeface="Cambria Math" panose="02040503050406030204" pitchFamily="18" charset="0"/>
                      </a:rPr>
                      <m:t>≤</m:t>
                    </m:r>
                    <m:sSub>
                      <m:sSubPr>
                        <m:ctrlPr>
                          <a:rPr lang="tr-TR" i="1">
                            <a:latin typeface="Cambria Math" panose="02040503050406030204" pitchFamily="18" charset="0"/>
                            <a:ea typeface="Cambria Math" panose="02040503050406030204" pitchFamily="18" charset="0"/>
                          </a:rPr>
                        </m:ctrlPr>
                      </m:sSubPr>
                      <m:e>
                        <m:r>
                          <a:rPr lang="tr-TR">
                            <a:latin typeface="Cambria Math" panose="02040503050406030204" pitchFamily="18" charset="0"/>
                            <a:ea typeface="Cambria Math" panose="02040503050406030204" pitchFamily="18" charset="0"/>
                          </a:rPr>
                          <m:t>𝑈</m:t>
                        </m:r>
                      </m:e>
                      <m:sub>
                        <m:r>
                          <a:rPr lang="tr-TR" b="0" i="1" smtClean="0">
                            <a:latin typeface="Cambria Math" panose="02040503050406030204" pitchFamily="18" charset="0"/>
                            <a:ea typeface="Cambria Math" panose="02040503050406030204" pitchFamily="18" charset="0"/>
                          </a:rPr>
                          <m:t>42</m:t>
                        </m:r>
                      </m:sub>
                    </m:sSub>
                  </m:oMath>
                </a14:m>
                <a:r>
                  <a:rPr lang="tr-TR">
                    <a:ea typeface="Cambria Math" panose="02040503050406030204" pitchFamily="18" charset="0"/>
                  </a:rPr>
                  <a:t> iki üçden öncedir</a:t>
                </a:r>
              </a:p>
              <a:p>
                <a:pPr algn="ctr"/>
                <a14:m>
                  <m:oMath xmlns:m="http://schemas.openxmlformats.org/officeDocument/2006/math">
                    <m:sSub>
                      <m:sSubPr>
                        <m:ctrlPr>
                          <a:rPr lang="tr-TR" i="1">
                            <a:latin typeface="Cambria Math" panose="02040503050406030204" pitchFamily="18" charset="0"/>
                          </a:rPr>
                        </m:ctrlPr>
                      </m:sSubPr>
                      <m:e>
                        <m:r>
                          <a:rPr lang="tr-TR">
                            <a:latin typeface="Cambria Math" panose="02040503050406030204" pitchFamily="18" charset="0"/>
                          </a:rPr>
                          <m:t>𝑈</m:t>
                        </m:r>
                      </m:e>
                      <m:sub>
                        <m:r>
                          <a:rPr lang="tr-TR">
                            <a:latin typeface="Cambria Math" panose="02040503050406030204" pitchFamily="18" charset="0"/>
                          </a:rPr>
                          <m:t>4</m:t>
                        </m:r>
                        <m:r>
                          <a:rPr lang="tr-TR" b="0" i="1" smtClean="0">
                            <a:latin typeface="Cambria Math" panose="02040503050406030204" pitchFamily="18" charset="0"/>
                          </a:rPr>
                          <m:t>2</m:t>
                        </m:r>
                      </m:sub>
                    </m:sSub>
                    <m:r>
                      <a:rPr lang="tr-TR">
                        <a:latin typeface="Cambria Math" panose="02040503050406030204" pitchFamily="18" charset="0"/>
                        <a:ea typeface="Cambria Math" panose="02040503050406030204" pitchFamily="18" charset="0"/>
                      </a:rPr>
                      <m:t>≤</m:t>
                    </m:r>
                    <m:sSub>
                      <m:sSubPr>
                        <m:ctrlPr>
                          <a:rPr lang="tr-TR" i="1">
                            <a:latin typeface="Cambria Math" panose="02040503050406030204" pitchFamily="18" charset="0"/>
                            <a:ea typeface="Cambria Math" panose="02040503050406030204" pitchFamily="18" charset="0"/>
                          </a:rPr>
                        </m:ctrlPr>
                      </m:sSubPr>
                      <m:e>
                        <m:r>
                          <a:rPr lang="tr-TR">
                            <a:latin typeface="Cambria Math" panose="02040503050406030204" pitchFamily="18" charset="0"/>
                            <a:ea typeface="Cambria Math" panose="02040503050406030204" pitchFamily="18" charset="0"/>
                          </a:rPr>
                          <m:t>𝑈</m:t>
                        </m:r>
                      </m:e>
                      <m:sub>
                        <m:r>
                          <a:rPr lang="tr-TR" b="0" i="1" smtClean="0">
                            <a:latin typeface="Cambria Math" panose="02040503050406030204" pitchFamily="18" charset="0"/>
                            <a:ea typeface="Cambria Math" panose="02040503050406030204" pitchFamily="18" charset="0"/>
                          </a:rPr>
                          <m:t>24</m:t>
                        </m:r>
                      </m:sub>
                    </m:sSub>
                  </m:oMath>
                </a14:m>
                <a:r>
                  <a:rPr lang="tr-TR"/>
                  <a:t> Üç dörtten öncedir</a:t>
                </a:r>
              </a:p>
              <a:p>
                <a:pPr algn="ctr"/>
                <a14:m>
                  <m:oMath xmlns:m="http://schemas.openxmlformats.org/officeDocument/2006/math">
                    <m:sSub>
                      <m:sSubPr>
                        <m:ctrlPr>
                          <a:rPr lang="tr-TR" i="1">
                            <a:latin typeface="Cambria Math" panose="02040503050406030204" pitchFamily="18" charset="0"/>
                          </a:rPr>
                        </m:ctrlPr>
                      </m:sSubPr>
                      <m:e>
                        <m:r>
                          <a:rPr lang="tr-TR">
                            <a:latin typeface="Cambria Math" panose="02040503050406030204" pitchFamily="18" charset="0"/>
                          </a:rPr>
                          <m:t>𝑈</m:t>
                        </m:r>
                      </m:e>
                      <m:sub>
                        <m:r>
                          <a:rPr lang="tr-TR" b="0" i="1" smtClean="0">
                            <a:latin typeface="Cambria Math" panose="02040503050406030204" pitchFamily="18" charset="0"/>
                          </a:rPr>
                          <m:t>2</m:t>
                        </m:r>
                        <m:r>
                          <a:rPr lang="tr-TR">
                            <a:latin typeface="Cambria Math" panose="02040503050406030204" pitchFamily="18" charset="0"/>
                          </a:rPr>
                          <m:t>4</m:t>
                        </m:r>
                      </m:sub>
                    </m:sSub>
                    <m:r>
                      <a:rPr lang="tr-TR">
                        <a:latin typeface="Cambria Math" panose="02040503050406030204" pitchFamily="18" charset="0"/>
                        <a:ea typeface="Cambria Math" panose="02040503050406030204" pitchFamily="18" charset="0"/>
                      </a:rPr>
                      <m:t>≤</m:t>
                    </m:r>
                    <m:sSub>
                      <m:sSubPr>
                        <m:ctrlPr>
                          <a:rPr lang="tr-TR" i="1">
                            <a:latin typeface="Cambria Math" panose="02040503050406030204" pitchFamily="18" charset="0"/>
                            <a:ea typeface="Cambria Math" panose="02040503050406030204" pitchFamily="18" charset="0"/>
                          </a:rPr>
                        </m:ctrlPr>
                      </m:sSubPr>
                      <m:e>
                        <m:r>
                          <a:rPr lang="tr-TR">
                            <a:latin typeface="Cambria Math" panose="02040503050406030204" pitchFamily="18" charset="0"/>
                            <a:ea typeface="Cambria Math" panose="02040503050406030204" pitchFamily="18" charset="0"/>
                          </a:rPr>
                          <m:t>𝑈</m:t>
                        </m:r>
                      </m:e>
                      <m:sub>
                        <m:r>
                          <a:rPr lang="tr-TR" b="0" i="1" smtClean="0">
                            <a:latin typeface="Cambria Math" panose="02040503050406030204" pitchFamily="18" charset="0"/>
                            <a:ea typeface="Cambria Math" panose="02040503050406030204" pitchFamily="18" charset="0"/>
                          </a:rPr>
                          <m:t>4</m:t>
                        </m:r>
                        <m:r>
                          <a:rPr lang="tr-TR">
                            <a:latin typeface="Cambria Math" panose="02040503050406030204" pitchFamily="18" charset="0"/>
                            <a:ea typeface="Cambria Math" panose="02040503050406030204" pitchFamily="18" charset="0"/>
                          </a:rPr>
                          <m:t>6</m:t>
                        </m:r>
                      </m:sub>
                    </m:sSub>
                  </m:oMath>
                </a14:m>
                <a:r>
                  <a:rPr lang="tr-TR">
                    <a:ea typeface="Cambria Math" panose="02040503050406030204" pitchFamily="18" charset="0"/>
                  </a:rPr>
                  <a:t> Dört beşten öncedir</a:t>
                </a:r>
              </a:p>
              <a:p>
                <a:pPr algn="ctr"/>
                <a14:m>
                  <m:oMath xmlns:m="http://schemas.openxmlformats.org/officeDocument/2006/math">
                    <m:sSub>
                      <m:sSubPr>
                        <m:ctrlPr>
                          <a:rPr lang="tr-TR" i="1">
                            <a:latin typeface="Cambria Math" panose="02040503050406030204" pitchFamily="18" charset="0"/>
                          </a:rPr>
                        </m:ctrlPr>
                      </m:sSubPr>
                      <m:e>
                        <m:r>
                          <a:rPr lang="tr-TR">
                            <a:latin typeface="Cambria Math" panose="02040503050406030204" pitchFamily="18" charset="0"/>
                          </a:rPr>
                          <m:t>𝑈</m:t>
                        </m:r>
                      </m:e>
                      <m:sub>
                        <m:r>
                          <a:rPr lang="tr-TR">
                            <a:latin typeface="Cambria Math" panose="02040503050406030204" pitchFamily="18" charset="0"/>
                          </a:rPr>
                          <m:t>4</m:t>
                        </m:r>
                        <m:r>
                          <a:rPr lang="tr-TR" b="0" i="1" smtClean="0">
                            <a:latin typeface="Cambria Math" panose="02040503050406030204" pitchFamily="18" charset="0"/>
                          </a:rPr>
                          <m:t>6</m:t>
                        </m:r>
                      </m:sub>
                    </m:sSub>
                    <m:r>
                      <a:rPr lang="tr-TR">
                        <a:latin typeface="Cambria Math" panose="02040503050406030204" pitchFamily="18" charset="0"/>
                        <a:ea typeface="Cambria Math" panose="02040503050406030204" pitchFamily="18" charset="0"/>
                      </a:rPr>
                      <m:t>≤</m:t>
                    </m:r>
                    <m:sSub>
                      <m:sSubPr>
                        <m:ctrlPr>
                          <a:rPr lang="tr-TR" i="1">
                            <a:latin typeface="Cambria Math" panose="02040503050406030204" pitchFamily="18" charset="0"/>
                            <a:ea typeface="Cambria Math" panose="02040503050406030204" pitchFamily="18" charset="0"/>
                          </a:rPr>
                        </m:ctrlPr>
                      </m:sSubPr>
                      <m:e>
                        <m:r>
                          <a:rPr lang="tr-TR">
                            <a:latin typeface="Cambria Math" panose="02040503050406030204" pitchFamily="18" charset="0"/>
                            <a:ea typeface="Cambria Math" panose="02040503050406030204" pitchFamily="18" charset="0"/>
                          </a:rPr>
                          <m:t>𝑈</m:t>
                        </m:r>
                      </m:e>
                      <m:sub>
                        <m:r>
                          <a:rPr lang="tr-TR">
                            <a:latin typeface="Cambria Math" panose="02040503050406030204" pitchFamily="18" charset="0"/>
                            <a:ea typeface="Cambria Math" panose="02040503050406030204" pitchFamily="18" charset="0"/>
                          </a:rPr>
                          <m:t>2</m:t>
                        </m:r>
                        <m:r>
                          <a:rPr lang="tr-TR" b="0" i="1" smtClean="0">
                            <a:latin typeface="Cambria Math" panose="02040503050406030204" pitchFamily="18" charset="0"/>
                            <a:ea typeface="Cambria Math" panose="02040503050406030204" pitchFamily="18" charset="0"/>
                          </a:rPr>
                          <m:t>6</m:t>
                        </m:r>
                      </m:sub>
                    </m:sSub>
                  </m:oMath>
                </a14:m>
                <a:r>
                  <a:rPr lang="tr-TR"/>
                  <a:t> Beş altıdan öncedir</a:t>
                </a:r>
              </a:p>
              <a:p>
                <a:pPr algn="ctr"/>
                <a:endParaRPr lang="tr-TR"/>
              </a:p>
              <a:p>
                <a:endParaRPr lang="tr-TR" b="1"/>
              </a:p>
              <a:p>
                <a:endParaRPr lang="tr-TR"/>
              </a:p>
            </p:txBody>
          </p:sp>
        </mc:Choice>
        <mc:Fallback xmlns="">
          <p:sp>
            <p:nvSpPr>
              <p:cNvPr id="2" name="Content Placeholder 1">
                <a:extLst>
                  <a:ext uri="{FF2B5EF4-FFF2-40B4-BE49-F238E27FC236}">
                    <a16:creationId xmlns:a16="http://schemas.microsoft.com/office/drawing/2014/main" id="{C2829C5C-1779-94AE-9BA2-30509266C8CA}"/>
                  </a:ext>
                </a:extLst>
              </p:cNvPr>
              <p:cNvSpPr>
                <a:spLocks noGrp="1" noRot="1" noChangeAspect="1" noMove="1" noResize="1" noEditPoints="1" noAdjustHandles="1" noChangeArrowheads="1" noChangeShapeType="1" noTextEdit="1"/>
              </p:cNvSpPr>
              <p:nvPr>
                <p:ph idx="1"/>
              </p:nvPr>
            </p:nvSpPr>
            <p:spPr>
              <a:blipFill>
                <a:blip r:embed="rId2"/>
                <a:stretch>
                  <a:fillRect l="-435" t="-375" r="-290"/>
                </a:stretch>
              </a:blipFill>
            </p:spPr>
            <p:txBody>
              <a:bodyPr/>
              <a:lstStyle/>
              <a:p>
                <a:r>
                  <a:rPr lang="tr-TR">
                    <a:noFill/>
                  </a:rPr>
                  <a:t> </a:t>
                </a:r>
              </a:p>
            </p:txBody>
          </p:sp>
        </mc:Fallback>
      </mc:AlternateContent>
      <p:sp>
        <p:nvSpPr>
          <p:cNvPr id="3" name="Title 2">
            <a:extLst>
              <a:ext uri="{FF2B5EF4-FFF2-40B4-BE49-F238E27FC236}">
                <a16:creationId xmlns:a16="http://schemas.microsoft.com/office/drawing/2014/main" id="{73AC7C35-B372-1CF1-AE48-46AC44D2A970}"/>
              </a:ext>
            </a:extLst>
          </p:cNvPr>
          <p:cNvSpPr>
            <a:spLocks noGrp="1"/>
          </p:cNvSpPr>
          <p:nvPr>
            <p:ph type="title"/>
          </p:nvPr>
        </p:nvSpPr>
        <p:spPr/>
        <p:txBody>
          <a:bodyPr/>
          <a:lstStyle/>
          <a:p>
            <a:r>
              <a:rPr lang="tr-TR"/>
              <a:t>Zip Oyunu</a:t>
            </a:r>
          </a:p>
        </p:txBody>
      </p:sp>
    </p:spTree>
    <p:extLst>
      <p:ext uri="{BB962C8B-B14F-4D97-AF65-F5344CB8AC3E}">
        <p14:creationId xmlns:p14="http://schemas.microsoft.com/office/powerpoint/2010/main" val="23165699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37FBC686-24B2-E1DD-99C7-FB1AA1964767}"/>
                  </a:ext>
                </a:extLst>
              </p:cNvPr>
              <p:cNvSpPr>
                <a:spLocks noGrp="1"/>
              </p:cNvSpPr>
              <p:nvPr>
                <p:ph idx="1"/>
              </p:nvPr>
            </p:nvSpPr>
            <p:spPr/>
            <p:txBody>
              <a:bodyPr/>
              <a:lstStyle/>
              <a:p>
                <a:r>
                  <a:rPr lang="tr-TR" b="1"/>
                  <a:t>Grup 4: Duvar Kısıtları</a:t>
                </a:r>
              </a:p>
              <a:p>
                <a:endParaRPr lang="tr-TR" b="1"/>
              </a:p>
              <a:p>
                <a:r>
                  <a:rPr lang="tr-TR"/>
                  <a:t>Aralarında duvar olan hücrelerden geçiş olmayacaktır.</a:t>
                </a:r>
              </a:p>
              <a:p>
                <a:pPr/>
                <a14:m>
                  <m:oMathPara xmlns:m="http://schemas.openxmlformats.org/officeDocument/2006/math">
                    <m:oMathParaPr>
                      <m:jc m:val="centerGroup"/>
                    </m:oMathParaPr>
                    <m:oMath xmlns:m="http://schemas.openxmlformats.org/officeDocument/2006/math">
                      <m:sSub>
                        <m:sSubPr>
                          <m:ctrlPr>
                            <a:rPr lang="tr-TR" i="1" smtClean="0">
                              <a:latin typeface="Cambria Math" panose="02040503050406030204" pitchFamily="18" charset="0"/>
                            </a:rPr>
                          </m:ctrlPr>
                        </m:sSubPr>
                        <m:e>
                          <m:r>
                            <a:rPr lang="tr-TR" b="0" i="1" smtClean="0">
                              <a:latin typeface="Cambria Math" panose="02040503050406030204" pitchFamily="18" charset="0"/>
                            </a:rPr>
                            <m:t>𝑋</m:t>
                          </m:r>
                        </m:e>
                        <m:sub>
                          <m:r>
                            <a:rPr lang="tr-TR" b="0" i="1" smtClean="0">
                              <a:latin typeface="Cambria Math" panose="02040503050406030204" pitchFamily="18" charset="0"/>
                            </a:rPr>
                            <m:t>62,72</m:t>
                          </m:r>
                        </m:sub>
                      </m:sSub>
                      <m:r>
                        <a:rPr lang="tr-TR" b="0" i="1" smtClean="0">
                          <a:latin typeface="Cambria Math" panose="02040503050406030204" pitchFamily="18" charset="0"/>
                        </a:rPr>
                        <m:t>+</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𝑋</m:t>
                          </m:r>
                        </m:e>
                        <m:sub>
                          <m:r>
                            <a:rPr lang="tr-TR" b="0" i="1" smtClean="0">
                              <a:latin typeface="Cambria Math" panose="02040503050406030204" pitchFamily="18" charset="0"/>
                            </a:rPr>
                            <m:t>72,62</m:t>
                          </m:r>
                        </m:sub>
                      </m:sSub>
                      <m:r>
                        <a:rPr lang="tr-TR" b="0" i="1" smtClean="0">
                          <a:latin typeface="Cambria Math" panose="02040503050406030204" pitchFamily="18" charset="0"/>
                        </a:rPr>
                        <m:t>=0</m:t>
                      </m:r>
                    </m:oMath>
                  </m:oMathPara>
                </a14:m>
                <a:endParaRPr lang="tr-TR" b="0"/>
              </a:p>
              <a:p>
                <a:pPr/>
                <a14:m>
                  <m:oMathPara xmlns:m="http://schemas.openxmlformats.org/officeDocument/2006/math">
                    <m:oMathParaPr>
                      <m:jc m:val="centerGroup"/>
                    </m:oMathParaPr>
                    <m:oMath xmlns:m="http://schemas.openxmlformats.org/officeDocument/2006/math">
                      <m:sSub>
                        <m:sSubPr>
                          <m:ctrlPr>
                            <a:rPr lang="tr-TR" i="1">
                              <a:latin typeface="Cambria Math" panose="02040503050406030204" pitchFamily="18" charset="0"/>
                            </a:rPr>
                          </m:ctrlPr>
                        </m:sSubPr>
                        <m:e>
                          <m:r>
                            <a:rPr lang="tr-TR">
                              <a:latin typeface="Cambria Math" panose="02040503050406030204" pitchFamily="18" charset="0"/>
                            </a:rPr>
                            <m:t>𝑋</m:t>
                          </m:r>
                        </m:e>
                        <m:sub>
                          <m:r>
                            <a:rPr lang="tr-TR">
                              <a:latin typeface="Cambria Math" panose="02040503050406030204" pitchFamily="18" charset="0"/>
                            </a:rPr>
                            <m:t>6</m:t>
                          </m:r>
                          <m:r>
                            <a:rPr lang="tr-TR" b="0" i="1" smtClean="0">
                              <a:latin typeface="Cambria Math" panose="02040503050406030204" pitchFamily="18" charset="0"/>
                            </a:rPr>
                            <m:t>3</m:t>
                          </m:r>
                          <m:r>
                            <a:rPr lang="tr-TR">
                              <a:latin typeface="Cambria Math" panose="02040503050406030204" pitchFamily="18" charset="0"/>
                            </a:rPr>
                            <m:t>,7</m:t>
                          </m:r>
                          <m:r>
                            <a:rPr lang="tr-TR" b="0" i="1" smtClean="0">
                              <a:latin typeface="Cambria Math" panose="02040503050406030204" pitchFamily="18" charset="0"/>
                            </a:rPr>
                            <m:t>3</m:t>
                          </m:r>
                        </m:sub>
                      </m:sSub>
                      <m:r>
                        <a:rPr lang="tr-TR">
                          <a:latin typeface="Cambria Math" panose="02040503050406030204" pitchFamily="18" charset="0"/>
                        </a:rPr>
                        <m:t>+</m:t>
                      </m:r>
                      <m:sSub>
                        <m:sSubPr>
                          <m:ctrlPr>
                            <a:rPr lang="tr-TR" i="1">
                              <a:latin typeface="Cambria Math" panose="02040503050406030204" pitchFamily="18" charset="0"/>
                            </a:rPr>
                          </m:ctrlPr>
                        </m:sSubPr>
                        <m:e>
                          <m:r>
                            <a:rPr lang="tr-TR">
                              <a:latin typeface="Cambria Math" panose="02040503050406030204" pitchFamily="18" charset="0"/>
                            </a:rPr>
                            <m:t>𝑋</m:t>
                          </m:r>
                        </m:e>
                        <m:sub>
                          <m:r>
                            <a:rPr lang="tr-TR" b="0" i="1" smtClean="0">
                              <a:latin typeface="Cambria Math" panose="02040503050406030204" pitchFamily="18" charset="0"/>
                            </a:rPr>
                            <m:t>63</m:t>
                          </m:r>
                          <m:r>
                            <a:rPr lang="tr-TR">
                              <a:latin typeface="Cambria Math" panose="02040503050406030204" pitchFamily="18" charset="0"/>
                            </a:rPr>
                            <m:t>,</m:t>
                          </m:r>
                          <m:r>
                            <a:rPr lang="tr-TR" b="0" i="1" smtClean="0">
                              <a:latin typeface="Cambria Math" panose="02040503050406030204" pitchFamily="18" charset="0"/>
                            </a:rPr>
                            <m:t>73</m:t>
                          </m:r>
                        </m:sub>
                      </m:sSub>
                      <m:r>
                        <a:rPr lang="tr-TR">
                          <a:latin typeface="Cambria Math" panose="02040503050406030204" pitchFamily="18" charset="0"/>
                        </a:rPr>
                        <m:t>=0</m:t>
                      </m:r>
                    </m:oMath>
                  </m:oMathPara>
                </a14:m>
                <a:endParaRPr lang="tr-TR"/>
              </a:p>
              <a:p>
                <a:pPr algn="ctr"/>
                <a:r>
                  <a:rPr lang="tr-TR" b="0"/>
                  <a:t>.....</a:t>
                </a:r>
              </a:p>
              <a:p>
                <a:pPr algn="ctr"/>
                <a14:m>
                  <m:oMathPara xmlns:m="http://schemas.openxmlformats.org/officeDocument/2006/math">
                    <m:oMathParaPr>
                      <m:jc m:val="centerGroup"/>
                    </m:oMathParaPr>
                    <m:oMath xmlns:m="http://schemas.openxmlformats.org/officeDocument/2006/math">
                      <m:sSub>
                        <m:sSubPr>
                          <m:ctrlPr>
                            <a:rPr lang="tr-TR" i="1">
                              <a:latin typeface="Cambria Math" panose="02040503050406030204" pitchFamily="18" charset="0"/>
                            </a:rPr>
                          </m:ctrlPr>
                        </m:sSubPr>
                        <m:e>
                          <m:r>
                            <a:rPr lang="tr-TR">
                              <a:latin typeface="Cambria Math" panose="02040503050406030204" pitchFamily="18" charset="0"/>
                            </a:rPr>
                            <m:t>𝑋</m:t>
                          </m:r>
                        </m:e>
                        <m:sub>
                          <m:r>
                            <a:rPr lang="tr-TR" b="0" i="1" smtClean="0">
                              <a:latin typeface="Cambria Math" panose="02040503050406030204" pitchFamily="18" charset="0"/>
                            </a:rPr>
                            <m:t>24</m:t>
                          </m:r>
                          <m:r>
                            <a:rPr lang="tr-TR">
                              <a:latin typeface="Cambria Math" panose="02040503050406030204" pitchFamily="18" charset="0"/>
                            </a:rPr>
                            <m:t>,</m:t>
                          </m:r>
                          <m:r>
                            <a:rPr lang="tr-TR" b="0" i="1" smtClean="0">
                              <a:latin typeface="Cambria Math" panose="02040503050406030204" pitchFamily="18" charset="0"/>
                            </a:rPr>
                            <m:t>34</m:t>
                          </m:r>
                        </m:sub>
                      </m:sSub>
                      <m:r>
                        <a:rPr lang="tr-TR">
                          <a:latin typeface="Cambria Math" panose="02040503050406030204" pitchFamily="18" charset="0"/>
                        </a:rPr>
                        <m:t>+</m:t>
                      </m:r>
                      <m:sSub>
                        <m:sSubPr>
                          <m:ctrlPr>
                            <a:rPr lang="tr-TR" i="1">
                              <a:latin typeface="Cambria Math" panose="02040503050406030204" pitchFamily="18" charset="0"/>
                            </a:rPr>
                          </m:ctrlPr>
                        </m:sSubPr>
                        <m:e>
                          <m:r>
                            <a:rPr lang="tr-TR">
                              <a:latin typeface="Cambria Math" panose="02040503050406030204" pitchFamily="18" charset="0"/>
                            </a:rPr>
                            <m:t>𝑋</m:t>
                          </m:r>
                        </m:e>
                        <m:sub>
                          <m:r>
                            <a:rPr lang="tr-TR" b="0" i="1" smtClean="0">
                              <a:latin typeface="Cambria Math" panose="02040503050406030204" pitchFamily="18" charset="0"/>
                            </a:rPr>
                            <m:t>34</m:t>
                          </m:r>
                          <m:r>
                            <a:rPr lang="tr-TR">
                              <a:latin typeface="Cambria Math" panose="02040503050406030204" pitchFamily="18" charset="0"/>
                            </a:rPr>
                            <m:t>,</m:t>
                          </m:r>
                          <m:r>
                            <a:rPr lang="tr-TR" b="0" i="1" smtClean="0">
                              <a:latin typeface="Cambria Math" panose="02040503050406030204" pitchFamily="18" charset="0"/>
                            </a:rPr>
                            <m:t>24</m:t>
                          </m:r>
                        </m:sub>
                      </m:sSub>
                      <m:r>
                        <a:rPr lang="tr-TR">
                          <a:latin typeface="Cambria Math" panose="02040503050406030204" pitchFamily="18" charset="0"/>
                        </a:rPr>
                        <m:t>=0</m:t>
                      </m:r>
                    </m:oMath>
                  </m:oMathPara>
                </a14:m>
                <a:endParaRPr lang="tr-TR"/>
              </a:p>
              <a:p>
                <a:pPr algn="ctr"/>
                <a14:m>
                  <m:oMathPara xmlns:m="http://schemas.openxmlformats.org/officeDocument/2006/math">
                    <m:oMathParaPr>
                      <m:jc m:val="centerGroup"/>
                    </m:oMathParaPr>
                    <m:oMath xmlns:m="http://schemas.openxmlformats.org/officeDocument/2006/math">
                      <m:sSub>
                        <m:sSubPr>
                          <m:ctrlPr>
                            <a:rPr lang="tr-TR" i="1">
                              <a:latin typeface="Cambria Math" panose="02040503050406030204" pitchFamily="18" charset="0"/>
                            </a:rPr>
                          </m:ctrlPr>
                        </m:sSubPr>
                        <m:e>
                          <m:r>
                            <a:rPr lang="tr-TR">
                              <a:latin typeface="Cambria Math" panose="02040503050406030204" pitchFamily="18" charset="0"/>
                            </a:rPr>
                            <m:t>𝑋</m:t>
                          </m:r>
                        </m:e>
                        <m:sub>
                          <m:r>
                            <a:rPr lang="tr-TR" b="0" i="1" smtClean="0">
                              <a:latin typeface="Cambria Math" panose="02040503050406030204" pitchFamily="18" charset="0"/>
                            </a:rPr>
                            <m:t>25</m:t>
                          </m:r>
                          <m:r>
                            <a:rPr lang="tr-TR">
                              <a:latin typeface="Cambria Math" panose="02040503050406030204" pitchFamily="18" charset="0"/>
                            </a:rPr>
                            <m:t>,</m:t>
                          </m:r>
                          <m:r>
                            <a:rPr lang="tr-TR" b="0" i="1" smtClean="0">
                              <a:latin typeface="Cambria Math" panose="02040503050406030204" pitchFamily="18" charset="0"/>
                            </a:rPr>
                            <m:t>35</m:t>
                          </m:r>
                        </m:sub>
                      </m:sSub>
                      <m:r>
                        <a:rPr lang="tr-TR">
                          <a:latin typeface="Cambria Math" panose="02040503050406030204" pitchFamily="18" charset="0"/>
                        </a:rPr>
                        <m:t>+</m:t>
                      </m:r>
                      <m:sSub>
                        <m:sSubPr>
                          <m:ctrlPr>
                            <a:rPr lang="tr-TR" i="1">
                              <a:latin typeface="Cambria Math" panose="02040503050406030204" pitchFamily="18" charset="0"/>
                            </a:rPr>
                          </m:ctrlPr>
                        </m:sSubPr>
                        <m:e>
                          <m:r>
                            <a:rPr lang="tr-TR">
                              <a:latin typeface="Cambria Math" panose="02040503050406030204" pitchFamily="18" charset="0"/>
                            </a:rPr>
                            <m:t>𝑋</m:t>
                          </m:r>
                        </m:e>
                        <m:sub>
                          <m:r>
                            <a:rPr lang="tr-TR" b="0" i="1" smtClean="0">
                              <a:latin typeface="Cambria Math" panose="02040503050406030204" pitchFamily="18" charset="0"/>
                            </a:rPr>
                            <m:t>35</m:t>
                          </m:r>
                          <m:r>
                            <a:rPr lang="tr-TR">
                              <a:latin typeface="Cambria Math" panose="02040503050406030204" pitchFamily="18" charset="0"/>
                            </a:rPr>
                            <m:t>,</m:t>
                          </m:r>
                          <m:r>
                            <a:rPr lang="tr-TR" b="0" i="1" smtClean="0">
                              <a:latin typeface="Cambria Math" panose="02040503050406030204" pitchFamily="18" charset="0"/>
                            </a:rPr>
                            <m:t>25</m:t>
                          </m:r>
                        </m:sub>
                      </m:sSub>
                      <m:r>
                        <a:rPr lang="tr-TR">
                          <a:latin typeface="Cambria Math" panose="02040503050406030204" pitchFamily="18" charset="0"/>
                        </a:rPr>
                        <m:t>=0</m:t>
                      </m:r>
                    </m:oMath>
                  </m:oMathPara>
                </a14:m>
                <a:endParaRPr lang="tr-TR"/>
              </a:p>
              <a:p>
                <a:pPr algn="ctr"/>
                <a:endParaRPr lang="tr-TR"/>
              </a:p>
              <a:p>
                <a:r>
                  <a:rPr lang="tr-TR" b="1"/>
                  <a:t>Grup 5: 0-1 Tam Sayı Kısıtları</a:t>
                </a:r>
              </a:p>
              <a:p>
                <a:pPr algn="ctr"/>
                <a14:m>
                  <m:oMathPara xmlns:m="http://schemas.openxmlformats.org/officeDocument/2006/math">
                    <m:oMathParaPr>
                      <m:jc m:val="centerGroup"/>
                    </m:oMathParaPr>
                    <m:oMath xmlns:m="http://schemas.openxmlformats.org/officeDocument/2006/math">
                      <m:r>
                        <a:rPr lang="tr-TR"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 </m:t>
                      </m:r>
                      <m:sSub>
                        <m:sSubPr>
                          <m:ctrlPr>
                            <a:rPr lang="tr-TR" b="0" i="1" smtClean="0">
                              <a:latin typeface="Cambria Math" panose="02040503050406030204" pitchFamily="18" charset="0"/>
                              <a:ea typeface="Cambria Math" panose="02040503050406030204" pitchFamily="18" charset="0"/>
                            </a:rPr>
                          </m:ctrlPr>
                        </m:sSubPr>
                        <m:e>
                          <m:r>
                            <a:rPr lang="tr-TR" b="0" i="1" smtClean="0">
                              <a:latin typeface="Cambria Math" panose="02040503050406030204" pitchFamily="18" charset="0"/>
                              <a:ea typeface="Cambria Math" panose="02040503050406030204" pitchFamily="18" charset="0"/>
                            </a:rPr>
                            <m:t>𝑋</m:t>
                          </m:r>
                        </m:e>
                        <m:sub>
                          <m:r>
                            <a:rPr lang="tr-TR" b="0" i="1" smtClean="0">
                              <a:latin typeface="Cambria Math" panose="02040503050406030204" pitchFamily="18" charset="0"/>
                              <a:ea typeface="Cambria Math" panose="02040503050406030204" pitchFamily="18" charset="0"/>
                            </a:rPr>
                            <m:t>𝑖𝑗</m:t>
                          </m:r>
                          <m:r>
                            <a:rPr lang="tr-TR" b="0"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𝑘𝑙</m:t>
                          </m:r>
                        </m:sub>
                      </m:sSub>
                      <m:r>
                        <a:rPr lang="tr-TR" b="0" i="1" smtClean="0">
                          <a:latin typeface="Cambria Math" panose="02040503050406030204" pitchFamily="18" charset="0"/>
                          <a:ea typeface="Cambria Math" panose="02040503050406030204" pitchFamily="18" charset="0"/>
                        </a:rPr>
                        <m:t> </m:t>
                      </m:r>
                      <m:r>
                        <a:rPr lang="tr-TR" b="0" i="1" smtClean="0">
                          <a:latin typeface="Cambria Math" panose="02040503050406030204" pitchFamily="18" charset="0"/>
                          <a:ea typeface="Cambria Math" panose="02040503050406030204" pitchFamily="18" charset="0"/>
                        </a:rPr>
                        <m:t>𝑖𝑛</m:t>
                      </m:r>
                      <m:r>
                        <a:rPr lang="tr-TR" b="0" i="1" smtClean="0">
                          <a:latin typeface="Cambria Math" panose="02040503050406030204" pitchFamily="18" charset="0"/>
                          <a:ea typeface="Cambria Math" panose="02040503050406030204" pitchFamily="18" charset="0"/>
                        </a:rPr>
                        <m:t> </m:t>
                      </m:r>
                      <m:d>
                        <m:dPr>
                          <m:begChr m:val="{"/>
                          <m:endChr m:val="}"/>
                          <m:ctrlPr>
                            <a:rPr lang="tr-TR" b="0" i="1" smtClean="0">
                              <a:latin typeface="Cambria Math" panose="02040503050406030204" pitchFamily="18" charset="0"/>
                              <a:ea typeface="Cambria Math" panose="02040503050406030204" pitchFamily="18" charset="0"/>
                            </a:rPr>
                          </m:ctrlPr>
                        </m:dPr>
                        <m:e>
                          <m:r>
                            <a:rPr lang="tr-TR" b="0" i="1" smtClean="0">
                              <a:latin typeface="Cambria Math" panose="02040503050406030204" pitchFamily="18" charset="0"/>
                              <a:ea typeface="Cambria Math" panose="02040503050406030204" pitchFamily="18" charset="0"/>
                            </a:rPr>
                            <m:t>0, 1</m:t>
                          </m:r>
                        </m:e>
                      </m:d>
                      <m:r>
                        <a:rPr lang="tr-TR" b="0" i="1" smtClean="0">
                          <a:latin typeface="Cambria Math" panose="02040503050406030204" pitchFamily="18" charset="0"/>
                          <a:ea typeface="Cambria Math" panose="02040503050406030204" pitchFamily="18" charset="0"/>
                        </a:rPr>
                        <m:t>, </m:t>
                      </m:r>
                      <m:r>
                        <a:rPr lang="tr-TR" b="0" i="1" smtClean="0">
                          <a:latin typeface="Cambria Math" panose="02040503050406030204" pitchFamily="18" charset="0"/>
                          <a:ea typeface="Cambria Math" panose="02040503050406030204" pitchFamily="18" charset="0"/>
                        </a:rPr>
                        <m:t>𝑖</m:t>
                      </m:r>
                      <m:r>
                        <a:rPr lang="tr-TR" b="0"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𝑗</m:t>
                      </m:r>
                      <m:r>
                        <a:rPr lang="tr-TR" b="0"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𝑘</m:t>
                      </m:r>
                      <m:r>
                        <a:rPr lang="tr-TR" b="0"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𝑙</m:t>
                      </m:r>
                      <m:r>
                        <a:rPr lang="tr-TR" b="0" i="1" smtClean="0">
                          <a:latin typeface="Cambria Math" panose="02040503050406030204" pitchFamily="18" charset="0"/>
                          <a:ea typeface="Cambria Math" panose="02040503050406030204" pitchFamily="18" charset="0"/>
                        </a:rPr>
                        <m:t>={1,…</m:t>
                      </m:r>
                      <m:r>
                        <a:rPr lang="tr-TR" b="0" i="1" smtClean="0">
                          <a:latin typeface="Cambria Math" panose="02040503050406030204" pitchFamily="18" charset="0"/>
                          <a:ea typeface="Cambria Math" panose="02040503050406030204" pitchFamily="18" charset="0"/>
                        </a:rPr>
                        <m:t>𝑛</m:t>
                      </m:r>
                      <m:r>
                        <a:rPr lang="tr-TR" b="0" i="1" smtClean="0">
                          <a:latin typeface="Cambria Math" panose="02040503050406030204" pitchFamily="18" charset="0"/>
                          <a:ea typeface="Cambria Math" panose="02040503050406030204" pitchFamily="18" charset="0"/>
                        </a:rPr>
                        <m:t>}</m:t>
                      </m:r>
                    </m:oMath>
                  </m:oMathPara>
                </a14:m>
                <a:endParaRPr lang="tr-TR"/>
              </a:p>
              <a:p>
                <a:pPr algn="ctr"/>
                <a:endParaRPr lang="tr-TR"/>
              </a:p>
              <a:p>
                <a:pPr algn="ctr"/>
                <a:r>
                  <a:rPr lang="tr-TR"/>
                  <a:t>Problemde maksimize veya minimize edilecek bir amaç yoktur. Bu yüzden amaç denklemi;</a:t>
                </a:r>
              </a:p>
              <a:p>
                <a:pPr algn="ctr"/>
                <a:endParaRPr lang="tr-TR"/>
              </a:p>
              <a:p>
                <a:pPr algn="ct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𝑀𝑖𝑛</m:t>
                      </m:r>
                      <m:r>
                        <a:rPr lang="tr-TR" b="0" i="1" smtClean="0">
                          <a:latin typeface="Cambria Math" panose="02040503050406030204" pitchFamily="18" charset="0"/>
                        </a:rPr>
                        <m:t> </m:t>
                      </m:r>
                      <m:r>
                        <a:rPr lang="tr-TR" b="0" i="1" smtClean="0">
                          <a:latin typeface="Cambria Math" panose="02040503050406030204" pitchFamily="18" charset="0"/>
                        </a:rPr>
                        <m:t>𝑣𝑒𝑦𝑎</m:t>
                      </m:r>
                      <m:r>
                        <a:rPr lang="tr-TR" b="0" i="1" smtClean="0">
                          <a:latin typeface="Cambria Math" panose="02040503050406030204" pitchFamily="18" charset="0"/>
                        </a:rPr>
                        <m:t> </m:t>
                      </m:r>
                      <m:r>
                        <a:rPr lang="tr-TR" b="0" i="1" smtClean="0">
                          <a:latin typeface="Cambria Math" panose="02040503050406030204" pitchFamily="18" charset="0"/>
                        </a:rPr>
                        <m:t>𝑀𝑎𝑥</m:t>
                      </m:r>
                      <m:r>
                        <a:rPr lang="tr-TR" b="0" i="1" smtClean="0">
                          <a:latin typeface="Cambria Math" panose="02040503050406030204" pitchFamily="18" charset="0"/>
                        </a:rPr>
                        <m:t> </m:t>
                      </m:r>
                      <m:r>
                        <a:rPr lang="tr-TR" b="0" i="1" smtClean="0">
                          <a:latin typeface="Cambria Math" panose="02040503050406030204" pitchFamily="18" charset="0"/>
                        </a:rPr>
                        <m:t>𝑍</m:t>
                      </m:r>
                      <m:r>
                        <a:rPr lang="tr-TR" b="0" i="1" smtClean="0">
                          <a:latin typeface="Cambria Math" panose="02040503050406030204" pitchFamily="18" charset="0"/>
                        </a:rPr>
                        <m:t>=0</m:t>
                      </m:r>
                    </m:oMath>
                  </m:oMathPara>
                </a14:m>
                <a:endParaRPr lang="tr-TR"/>
              </a:p>
            </p:txBody>
          </p:sp>
        </mc:Choice>
        <mc:Fallback xmlns="">
          <p:sp>
            <p:nvSpPr>
              <p:cNvPr id="2" name="Content Placeholder 1">
                <a:extLst>
                  <a:ext uri="{FF2B5EF4-FFF2-40B4-BE49-F238E27FC236}">
                    <a16:creationId xmlns:a16="http://schemas.microsoft.com/office/drawing/2014/main" id="{37FBC686-24B2-E1DD-99C7-FB1AA1964767}"/>
                  </a:ext>
                </a:extLst>
              </p:cNvPr>
              <p:cNvSpPr>
                <a:spLocks noGrp="1" noRot="1" noChangeAspect="1" noMove="1" noResize="1" noEditPoints="1" noAdjustHandles="1" noChangeArrowheads="1" noChangeShapeType="1" noTextEdit="1"/>
              </p:cNvSpPr>
              <p:nvPr>
                <p:ph idx="1"/>
              </p:nvPr>
            </p:nvSpPr>
            <p:spPr>
              <a:blipFill>
                <a:blip r:embed="rId2"/>
                <a:stretch>
                  <a:fillRect l="-435" t="-375"/>
                </a:stretch>
              </a:blipFill>
            </p:spPr>
            <p:txBody>
              <a:bodyPr/>
              <a:lstStyle/>
              <a:p>
                <a:r>
                  <a:rPr lang="tr-TR">
                    <a:noFill/>
                  </a:rPr>
                  <a:t> </a:t>
                </a:r>
              </a:p>
            </p:txBody>
          </p:sp>
        </mc:Fallback>
      </mc:AlternateContent>
      <p:sp>
        <p:nvSpPr>
          <p:cNvPr id="3" name="Title 2">
            <a:extLst>
              <a:ext uri="{FF2B5EF4-FFF2-40B4-BE49-F238E27FC236}">
                <a16:creationId xmlns:a16="http://schemas.microsoft.com/office/drawing/2014/main" id="{0320C60E-E627-AA3F-C58A-8F3EAFB70B56}"/>
              </a:ext>
            </a:extLst>
          </p:cNvPr>
          <p:cNvSpPr>
            <a:spLocks noGrp="1"/>
          </p:cNvSpPr>
          <p:nvPr>
            <p:ph type="title"/>
          </p:nvPr>
        </p:nvSpPr>
        <p:spPr/>
        <p:txBody>
          <a:bodyPr/>
          <a:lstStyle/>
          <a:p>
            <a:r>
              <a:rPr lang="tr-TR"/>
              <a:t>Zip Oyunu</a:t>
            </a:r>
          </a:p>
        </p:txBody>
      </p:sp>
    </p:spTree>
    <p:extLst>
      <p:ext uri="{BB962C8B-B14F-4D97-AF65-F5344CB8AC3E}">
        <p14:creationId xmlns:p14="http://schemas.microsoft.com/office/powerpoint/2010/main" val="5088298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229D5-276A-4A65-90BB-A1E33040C51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B8C76B3-0AFD-ED92-E0C3-AB7950EA2FD3}"/>
              </a:ext>
            </a:extLst>
          </p:cNvPr>
          <p:cNvSpPr>
            <a:spLocks noGrp="1"/>
          </p:cNvSpPr>
          <p:nvPr>
            <p:ph idx="1"/>
          </p:nvPr>
        </p:nvSpPr>
        <p:spPr/>
        <p:txBody>
          <a:bodyPr/>
          <a:lstStyle/>
          <a:p>
            <a:r>
              <a:rPr lang="tr-TR"/>
              <a:t>Çözüm Şu Şekildedir.</a:t>
            </a:r>
          </a:p>
        </p:txBody>
      </p:sp>
      <p:sp>
        <p:nvSpPr>
          <p:cNvPr id="3" name="Title 2">
            <a:extLst>
              <a:ext uri="{FF2B5EF4-FFF2-40B4-BE49-F238E27FC236}">
                <a16:creationId xmlns:a16="http://schemas.microsoft.com/office/drawing/2014/main" id="{7407A14D-E73A-8949-D086-FDD237FE59C6}"/>
              </a:ext>
            </a:extLst>
          </p:cNvPr>
          <p:cNvSpPr>
            <a:spLocks noGrp="1"/>
          </p:cNvSpPr>
          <p:nvPr>
            <p:ph type="title"/>
          </p:nvPr>
        </p:nvSpPr>
        <p:spPr/>
        <p:txBody>
          <a:bodyPr/>
          <a:lstStyle/>
          <a:p>
            <a:r>
              <a:rPr lang="tr-TR"/>
              <a:t>Zip Oyunu</a:t>
            </a:r>
          </a:p>
        </p:txBody>
      </p:sp>
      <p:pic>
        <p:nvPicPr>
          <p:cNvPr id="5" name="Picture 4">
            <a:extLst>
              <a:ext uri="{FF2B5EF4-FFF2-40B4-BE49-F238E27FC236}">
                <a16:creationId xmlns:a16="http://schemas.microsoft.com/office/drawing/2014/main" id="{4FCD5529-2B13-40CA-C1CF-6A9F31FC9A6D}"/>
              </a:ext>
            </a:extLst>
          </p:cNvPr>
          <p:cNvPicPr>
            <a:picLocks noChangeAspect="1"/>
          </p:cNvPicPr>
          <p:nvPr/>
        </p:nvPicPr>
        <p:blipFill>
          <a:blip r:embed="rId2"/>
          <a:stretch>
            <a:fillRect/>
          </a:stretch>
        </p:blipFill>
        <p:spPr>
          <a:xfrm>
            <a:off x="2618671" y="1988840"/>
            <a:ext cx="3956253" cy="4013406"/>
          </a:xfrm>
          <a:prstGeom prst="rect">
            <a:avLst/>
          </a:prstGeom>
        </p:spPr>
      </p:pic>
    </p:spTree>
    <p:extLst>
      <p:ext uri="{BB962C8B-B14F-4D97-AF65-F5344CB8AC3E}">
        <p14:creationId xmlns:p14="http://schemas.microsoft.com/office/powerpoint/2010/main" val="12712334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A6A47D8-5B0D-CE0C-BCCA-4DDA1DB604AF}"/>
              </a:ext>
            </a:extLst>
          </p:cNvPr>
          <p:cNvSpPr>
            <a:spLocks noGrp="1"/>
          </p:cNvSpPr>
          <p:nvPr>
            <p:ph type="title"/>
          </p:nvPr>
        </p:nvSpPr>
        <p:spPr/>
        <p:txBody>
          <a:bodyPr/>
          <a:lstStyle/>
          <a:p>
            <a:r>
              <a:rPr lang="tr-TR"/>
              <a:t>Ödev</a:t>
            </a:r>
          </a:p>
        </p:txBody>
      </p:sp>
      <p:sp>
        <p:nvSpPr>
          <p:cNvPr id="7" name="Content Placeholder 6">
            <a:extLst>
              <a:ext uri="{FF2B5EF4-FFF2-40B4-BE49-F238E27FC236}">
                <a16:creationId xmlns:a16="http://schemas.microsoft.com/office/drawing/2014/main" id="{0291629A-D053-CC43-D5FC-FDACF76BB807}"/>
              </a:ext>
            </a:extLst>
          </p:cNvPr>
          <p:cNvSpPr>
            <a:spLocks noGrp="1"/>
          </p:cNvSpPr>
          <p:nvPr>
            <p:ph idx="1"/>
          </p:nvPr>
        </p:nvSpPr>
        <p:spPr/>
        <p:txBody>
          <a:bodyPr/>
          <a:lstStyle/>
          <a:p>
            <a:r>
              <a:rPr lang="tr-TR"/>
              <a:t>Aşağıdaki oyunun modelini kurunuz.</a:t>
            </a:r>
          </a:p>
        </p:txBody>
      </p:sp>
      <p:pic>
        <p:nvPicPr>
          <p:cNvPr id="8" name="Content Placeholder 4">
            <a:extLst>
              <a:ext uri="{FF2B5EF4-FFF2-40B4-BE49-F238E27FC236}">
                <a16:creationId xmlns:a16="http://schemas.microsoft.com/office/drawing/2014/main" id="{F7E07F18-1B63-B42E-806F-0C8C690EFE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59757" y="1991419"/>
            <a:ext cx="3873699" cy="3867349"/>
          </a:xfrm>
          <a:prstGeom prst="rect">
            <a:avLst/>
          </a:prstGeom>
        </p:spPr>
      </p:pic>
    </p:spTree>
    <p:extLst>
      <p:ext uri="{BB962C8B-B14F-4D97-AF65-F5344CB8AC3E}">
        <p14:creationId xmlns:p14="http://schemas.microsoft.com/office/powerpoint/2010/main" val="33720307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863C33F-FCB1-56F4-03DF-A940155D4979}"/>
              </a:ext>
            </a:extLst>
          </p:cNvPr>
          <p:cNvSpPr>
            <a:spLocks noGrp="1"/>
          </p:cNvSpPr>
          <p:nvPr>
            <p:ph type="ctrTitle"/>
          </p:nvPr>
        </p:nvSpPr>
        <p:spPr/>
        <p:txBody>
          <a:bodyPr/>
          <a:lstStyle/>
          <a:p>
            <a:r>
              <a:rPr lang="tr-TR">
                <a:solidFill>
                  <a:srgbClr val="EA6131"/>
                </a:solidFill>
              </a:rPr>
              <a:t>P</a:t>
            </a:r>
            <a:r>
              <a:rPr lang="tr-TR"/>
              <a:t>ostacı P</a:t>
            </a:r>
            <a:r>
              <a:rPr lang="tr-TR">
                <a:solidFill>
                  <a:srgbClr val="EA6131"/>
                </a:solidFill>
              </a:rPr>
              <a:t>r</a:t>
            </a:r>
            <a:r>
              <a:rPr lang="tr-TR"/>
              <a:t>oblemleri</a:t>
            </a:r>
          </a:p>
        </p:txBody>
      </p:sp>
    </p:spTree>
    <p:extLst>
      <p:ext uri="{BB962C8B-B14F-4D97-AF65-F5344CB8AC3E}">
        <p14:creationId xmlns:p14="http://schemas.microsoft.com/office/powerpoint/2010/main" val="109548181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E9E61901-0B7B-7B10-764B-C1CDA54184F2}"/>
                  </a:ext>
                </a:extLst>
              </p:cNvPr>
              <p:cNvSpPr>
                <a:spLocks noGrp="1"/>
              </p:cNvSpPr>
              <p:nvPr>
                <p:ph idx="1"/>
              </p:nvPr>
            </p:nvSpPr>
            <p:spPr/>
            <p:txBody>
              <a:bodyPr/>
              <a:lstStyle/>
              <a:p>
                <a:r>
                  <a:rPr lang="tr-TR">
                    <a:effectLst/>
                  </a:rPr>
                  <a:t>Mektupları mümkün olan en kısa mesafeyle teslim etmek için bir şehirdeki her yolu gezmesi              gerekmektedir. </a:t>
                </a:r>
              </a:p>
              <a:p>
                <a:r>
                  <a:rPr lang="tr-TR">
                    <a:effectLst/>
                  </a:rPr>
                  <a:t>Postacı probleminde amaç denklemi bir yoldan geçilip geçilmemesinden daha genel bir formda kaç  kez geçildiğiyle belirlenir. Eğer xij=0 ise ij yolundan hiç geçilmediğini, alacağı sıfırdan farklı tam  sayı ise kaç kez geçildiğini gösterecektir. Problem için düğüm denge kısıtları halen geçerlidir ve    bir düğüme gelen akışlar, düğümü terk eden akışlara eşittir. </a:t>
                </a:r>
              </a:p>
              <a:p>
                <a:endParaRPr lang="tr-TR"/>
              </a:p>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800" i="1" kern="0" smtClean="0">
                          <a:effectLst/>
                          <a:latin typeface="Cambria Math" panose="02040503050406030204" pitchFamily="18" charset="0"/>
                          <a:ea typeface="Times New Roman" panose="02020603050405020304" pitchFamily="18" charset="0"/>
                          <a:cs typeface="Times New Roman" panose="02020603050405020304" pitchFamily="18" charset="0"/>
                        </a:rPr>
                        <m:t>𝑀𝑖𝑛</m:t>
                      </m:r>
                      <m:r>
                        <a:rPr lang="tr-TR" sz="1800" i="1" kern="0"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tr-TR" sz="1800" i="1" kern="0" smtClean="0">
                          <a:effectLst/>
                          <a:latin typeface="Cambria Math" panose="02040503050406030204" pitchFamily="18" charset="0"/>
                          <a:ea typeface="Times New Roman" panose="02020603050405020304" pitchFamily="18" charset="0"/>
                          <a:cs typeface="Times New Roman" panose="02020603050405020304" pitchFamily="18" charset="0"/>
                        </a:rPr>
                        <m:t>𝑍</m:t>
                      </m:r>
                      <m:r>
                        <a:rPr lang="tr-TR" sz="1800" i="1" kern="0" smtClean="0">
                          <a:effectLst/>
                          <a:latin typeface="Cambria Math" panose="02040503050406030204" pitchFamily="18" charset="0"/>
                          <a:ea typeface="Times New Roman" panose="02020603050405020304" pitchFamily="18" charset="0"/>
                          <a:cs typeface="Times New Roman" panose="02020603050405020304" pitchFamily="18" charset="0"/>
                        </a:rPr>
                        <m:t>=</m:t>
                      </m:r>
                      <m:nary>
                        <m:naryPr>
                          <m:chr m:val="∑"/>
                          <m:supHide m:val="on"/>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naryPr>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𝑖</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𝑗</m:t>
                          </m:r>
                          <m:r>
                            <a:rPr lang="tr-TR" sz="1800"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m:t>
                          </m:r>
                        </m:sub>
                        <m:sup/>
                        <m:e>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𝑐</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𝑖𝑗</m:t>
                              </m:r>
                            </m:sub>
                          </m:sSub>
                        </m:e>
                      </m:nary>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𝑖𝑗</m:t>
                          </m:r>
                        </m:sub>
                      </m:sSub>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nary>
                        <m:naryPr>
                          <m:chr m:val="∑"/>
                          <m:supHide m:val="on"/>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naryPr>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𝑖</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𝑗</m:t>
                          </m:r>
                          <m:r>
                            <a:rPr lang="tr-TR" sz="1800"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m:t>
                          </m:r>
                        </m:sub>
                        <m:sup/>
                        <m:e>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𝑖𝑗</m:t>
                              </m:r>
                            </m:sub>
                          </m:sSub>
                        </m:e>
                      </m:nary>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nary>
                        <m:naryPr>
                          <m:chr m:val="∑"/>
                          <m:supHide m:val="on"/>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naryPr>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𝑗</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𝑖</m:t>
                          </m:r>
                          <m:r>
                            <a:rPr lang="tr-TR" sz="1800"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m:t>
                          </m:r>
                        </m:sub>
                        <m:sup/>
                        <m:e>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𝑗𝑖</m:t>
                              </m:r>
                            </m:sub>
                          </m:sSub>
                        </m:e>
                      </m:nary>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tr-TR" sz="1800" kern="0">
                    <a:effectLst/>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𝑖𝑗</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𝑗𝑖</m:t>
                        </m:r>
                      </m:sub>
                    </m:sSub>
                    <m:r>
                      <a:rPr lang="tr-TR" sz="1800"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1 </m:t>
                    </m:r>
                    <m:d>
                      <m:d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𝑖</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𝑗</m:t>
                        </m:r>
                      </m:e>
                    </m:d>
                    <m:r>
                      <a:rPr lang="tr-TR" sz="1800"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m:t>
                    </m:r>
                  </m:oMath>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endParaRPr lang="tr-TR"/>
              </a:p>
            </p:txBody>
          </p:sp>
        </mc:Choice>
        <mc:Fallback xmlns="">
          <p:sp>
            <p:nvSpPr>
              <p:cNvPr id="2" name="Content Placeholder 1">
                <a:extLst>
                  <a:ext uri="{FF2B5EF4-FFF2-40B4-BE49-F238E27FC236}">
                    <a16:creationId xmlns:a16="http://schemas.microsoft.com/office/drawing/2014/main" id="{E9E61901-0B7B-7B10-764B-C1CDA54184F2}"/>
                  </a:ext>
                </a:extLst>
              </p:cNvPr>
              <p:cNvSpPr>
                <a:spLocks noGrp="1" noRot="1" noChangeAspect="1" noMove="1" noResize="1" noEditPoints="1" noAdjustHandles="1" noChangeArrowheads="1" noChangeShapeType="1" noTextEdit="1"/>
              </p:cNvSpPr>
              <p:nvPr>
                <p:ph idx="1"/>
              </p:nvPr>
            </p:nvSpPr>
            <p:spPr>
              <a:blipFill>
                <a:blip r:embed="rId2"/>
                <a:stretch>
                  <a:fillRect l="-435" t="-375"/>
                </a:stretch>
              </a:blipFill>
            </p:spPr>
            <p:txBody>
              <a:bodyPr/>
              <a:lstStyle/>
              <a:p>
                <a:r>
                  <a:rPr lang="tr-TR">
                    <a:noFill/>
                  </a:rPr>
                  <a:t> </a:t>
                </a:r>
              </a:p>
            </p:txBody>
          </p:sp>
        </mc:Fallback>
      </mc:AlternateContent>
      <p:sp>
        <p:nvSpPr>
          <p:cNvPr id="3" name="Title 2">
            <a:extLst>
              <a:ext uri="{FF2B5EF4-FFF2-40B4-BE49-F238E27FC236}">
                <a16:creationId xmlns:a16="http://schemas.microsoft.com/office/drawing/2014/main" id="{EEAD451F-A7AB-D05B-C812-F30D2BF641D0}"/>
              </a:ext>
            </a:extLst>
          </p:cNvPr>
          <p:cNvSpPr>
            <a:spLocks noGrp="1"/>
          </p:cNvSpPr>
          <p:nvPr>
            <p:ph type="title"/>
          </p:nvPr>
        </p:nvSpPr>
        <p:spPr/>
        <p:txBody>
          <a:bodyPr/>
          <a:lstStyle/>
          <a:p>
            <a:endParaRPr lang="tr-TR"/>
          </a:p>
        </p:txBody>
      </p:sp>
    </p:spTree>
    <p:extLst>
      <p:ext uri="{BB962C8B-B14F-4D97-AF65-F5344CB8AC3E}">
        <p14:creationId xmlns:p14="http://schemas.microsoft.com/office/powerpoint/2010/main" val="36107992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21DE6255-F3AD-9EB5-4CD2-2C4EC1F97857}"/>
                  </a:ext>
                </a:extLst>
              </p:cNvPr>
              <p:cNvSpPr>
                <a:spLocks noGrp="1"/>
              </p:cNvSpPr>
              <p:nvPr>
                <p:ph idx="1"/>
              </p:nvPr>
            </p:nvSpPr>
            <p:spPr/>
            <p:txBody>
              <a:bodyPr>
                <a:normAutofit/>
              </a:bodyPr>
              <a:lstStyle/>
              <a:p>
                <a:r>
                  <a:rPr lang="tr-TR"/>
                  <a:t>Düğüm denge kısıtları;</a:t>
                </a:r>
              </a:p>
              <a:p>
                <a:pPr algn="r">
                  <a:lnSpc>
                    <a:spcPct val="107000"/>
                  </a:lnSpc>
                  <a:spcAft>
                    <a:spcPts val="800"/>
                  </a:spcAft>
                </a:pPr>
                <a:r>
                  <a:rPr lang="tr-TR" sz="1800" kern="0">
                    <a:effectLst/>
                    <a:ea typeface="Times New Roman" panose="02020603050405020304" pitchFamily="18" charset="0"/>
                    <a:cs typeface="Times New Roman" panose="02020603050405020304" pitchFamily="18" charset="0"/>
                  </a:rPr>
                  <a:t>	</a:t>
                </a:r>
                <a14:m>
                  <m:oMath xmlns:m="http://schemas.openxmlformats.org/officeDocument/2006/math">
                    <m:sSub>
                      <m:sSubPr>
                        <m:ctrlPr>
                          <a:rPr lang="tr-TR" sz="1800" i="1" kern="0"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21</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31</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41</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51</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12</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13</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14</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15</m:t>
                        </m:r>
                      </m:sub>
                    </m:sSub>
                  </m:oMath>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gn="r">
                  <a:lnSpc>
                    <a:spcPct val="107000"/>
                  </a:lnSpc>
                  <a:spcAft>
                    <a:spcPts val="800"/>
                  </a:spcAft>
                </a:pPr>
                <a:r>
                  <a:rPr lang="tr-TR" sz="1800" kern="0">
                    <a:effectLst/>
                    <a:ea typeface="Times New Roman" panose="02020603050405020304" pitchFamily="18" charset="0"/>
                    <a:cs typeface="Times New Roman" panose="02020603050405020304" pitchFamily="18" charset="0"/>
                  </a:rPr>
                  <a:t>	</a:t>
                </a:r>
                <a14:m>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12</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32</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62</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21</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23</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26</m:t>
                        </m:r>
                      </m:sub>
                    </m:sSub>
                  </m:oMath>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gn="r">
                  <a:lnSpc>
                    <a:spcPct val="107000"/>
                  </a:lnSpc>
                  <a:spcAft>
                    <a:spcPts val="800"/>
                  </a:spcAft>
                </a:pPr>
                <a:r>
                  <a:rPr lang="tr-TR" sz="1800" kern="0">
                    <a:effectLst/>
                    <a:ea typeface="Times New Roman" panose="02020603050405020304" pitchFamily="18" charset="0"/>
                    <a:cs typeface="Times New Roman" panose="02020603050405020304" pitchFamily="18" charset="0"/>
                  </a:rPr>
                  <a:t>	</a:t>
                </a:r>
                <a14:m>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13</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23</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63</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43</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32</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31</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36</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34</m:t>
                        </m:r>
                      </m:sub>
                    </m:sSub>
                  </m:oMath>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gn="r">
                  <a:lnSpc>
                    <a:spcPct val="107000"/>
                  </a:lnSpc>
                  <a:spcAft>
                    <a:spcPts val="800"/>
                  </a:spcAft>
                </a:pPr>
                <a:r>
                  <a:rPr lang="tr-TR" sz="1800" kern="0">
                    <a:effectLst/>
                    <a:ea typeface="Times New Roman" panose="02020603050405020304" pitchFamily="18" charset="0"/>
                    <a:cs typeface="Times New Roman" panose="02020603050405020304" pitchFamily="18" charset="0"/>
                  </a:rPr>
                  <a:t>	</a:t>
                </a:r>
                <a14:m>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14</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34</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64</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54</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43</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41</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46</m:t>
                        </m:r>
                      </m:sub>
                    </m:sSub>
                  </m:oMath>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gn="r">
                  <a:lnSpc>
                    <a:spcPct val="107000"/>
                  </a:lnSpc>
                  <a:spcAft>
                    <a:spcPts val="800"/>
                  </a:spcAft>
                </a:pPr>
                <a:r>
                  <a:rPr lang="tr-TR" sz="1800" kern="0">
                    <a:effectLst/>
                    <a:ea typeface="Times New Roman" panose="02020603050405020304" pitchFamily="18" charset="0"/>
                    <a:cs typeface="Times New Roman" panose="02020603050405020304" pitchFamily="18" charset="0"/>
                  </a:rPr>
                  <a:t>	</a:t>
                </a:r>
                <a14:m>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15</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45</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65</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51</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54</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56</m:t>
                        </m:r>
                      </m:sub>
                    </m:sSub>
                  </m:oMath>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gn="r">
                  <a:lnSpc>
                    <a:spcPct val="107000"/>
                  </a:lnSpc>
                  <a:spcAft>
                    <a:spcPts val="800"/>
                  </a:spcAft>
                </a:pPr>
                <a:r>
                  <a:rPr lang="tr-TR" sz="1800" kern="0">
                    <a:effectLst/>
                    <a:ea typeface="Times New Roman" panose="02020603050405020304" pitchFamily="18" charset="0"/>
                    <a:cs typeface="Times New Roman" panose="02020603050405020304" pitchFamily="18" charset="0"/>
                  </a:rPr>
                  <a:t>	</a:t>
                </a:r>
                <a14:m>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26</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36</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46</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56</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62</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63</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64</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65</m:t>
                        </m:r>
                      </m:sub>
                    </m:sSub>
                  </m:oMath>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endParaRPr lang="tr-TR"/>
              </a:p>
            </p:txBody>
          </p:sp>
        </mc:Choice>
        <mc:Fallback xmlns="">
          <p:sp>
            <p:nvSpPr>
              <p:cNvPr id="2" name="Content Placeholder 1">
                <a:extLst>
                  <a:ext uri="{FF2B5EF4-FFF2-40B4-BE49-F238E27FC236}">
                    <a16:creationId xmlns:a16="http://schemas.microsoft.com/office/drawing/2014/main" id="{21DE6255-F3AD-9EB5-4CD2-2C4EC1F97857}"/>
                  </a:ext>
                </a:extLst>
              </p:cNvPr>
              <p:cNvSpPr>
                <a:spLocks noGrp="1" noRot="1" noChangeAspect="1" noMove="1" noResize="1" noEditPoints="1" noAdjustHandles="1" noChangeArrowheads="1" noChangeShapeType="1" noTextEdit="1"/>
              </p:cNvSpPr>
              <p:nvPr>
                <p:ph idx="1"/>
              </p:nvPr>
            </p:nvSpPr>
            <p:spPr>
              <a:blipFill>
                <a:blip r:embed="rId2"/>
                <a:stretch>
                  <a:fillRect l="-435" t="-375"/>
                </a:stretch>
              </a:blipFill>
            </p:spPr>
            <p:txBody>
              <a:bodyPr/>
              <a:lstStyle/>
              <a:p>
                <a:r>
                  <a:rPr lang="tr-TR">
                    <a:noFill/>
                  </a:rPr>
                  <a:t> </a:t>
                </a:r>
              </a:p>
            </p:txBody>
          </p:sp>
        </mc:Fallback>
      </mc:AlternateContent>
      <p:sp>
        <p:nvSpPr>
          <p:cNvPr id="3" name="Title 2">
            <a:extLst>
              <a:ext uri="{FF2B5EF4-FFF2-40B4-BE49-F238E27FC236}">
                <a16:creationId xmlns:a16="http://schemas.microsoft.com/office/drawing/2014/main" id="{AFF7B61E-3AED-422D-3C3A-C6AA6E773B26}"/>
              </a:ext>
            </a:extLst>
          </p:cNvPr>
          <p:cNvSpPr>
            <a:spLocks noGrp="1"/>
          </p:cNvSpPr>
          <p:nvPr>
            <p:ph type="title"/>
          </p:nvPr>
        </p:nvSpPr>
        <p:spPr/>
        <p:txBody>
          <a:bodyPr/>
          <a:lstStyle/>
          <a:p>
            <a:r>
              <a:rPr lang="tr-TR"/>
              <a:t>Örnek</a:t>
            </a:r>
          </a:p>
        </p:txBody>
      </p:sp>
      <p:pic>
        <p:nvPicPr>
          <p:cNvPr id="5" name="Picture 4">
            <a:extLst>
              <a:ext uri="{FF2B5EF4-FFF2-40B4-BE49-F238E27FC236}">
                <a16:creationId xmlns:a16="http://schemas.microsoft.com/office/drawing/2014/main" id="{86F64C72-0B32-620F-16D1-43CA668BE25B}"/>
              </a:ext>
            </a:extLst>
          </p:cNvPr>
          <p:cNvPicPr>
            <a:picLocks noChangeAspect="1"/>
          </p:cNvPicPr>
          <p:nvPr/>
        </p:nvPicPr>
        <p:blipFill>
          <a:blip r:embed="rId3"/>
          <a:stretch>
            <a:fillRect/>
          </a:stretch>
        </p:blipFill>
        <p:spPr>
          <a:xfrm>
            <a:off x="611560" y="1934457"/>
            <a:ext cx="2664296" cy="3462745"/>
          </a:xfrm>
          <a:prstGeom prst="rect">
            <a:avLst/>
          </a:prstGeom>
        </p:spPr>
      </p:pic>
    </p:spTree>
    <p:extLst>
      <p:ext uri="{BB962C8B-B14F-4D97-AF65-F5344CB8AC3E}">
        <p14:creationId xmlns:p14="http://schemas.microsoft.com/office/powerpoint/2010/main" val="134453925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B7CD1D66-A4EE-2E31-4BF5-2F3C397ACD37}"/>
                  </a:ext>
                </a:extLst>
              </p:cNvPr>
              <p:cNvSpPr>
                <a:spLocks noGrp="1"/>
              </p:cNvSpPr>
              <p:nvPr>
                <p:ph idx="1"/>
              </p:nvPr>
            </p:nvSpPr>
            <p:spPr>
              <a:xfrm>
                <a:off x="395536" y="1052736"/>
                <a:ext cx="8402525" cy="5313734"/>
              </a:xfrm>
            </p:spPr>
            <p:txBody>
              <a:bodyPr/>
              <a:lstStyle/>
              <a:p>
                <a:r>
                  <a:rPr lang="tr-TR">
                    <a:effectLst/>
                  </a:rPr>
                  <a:t>Bir yol üzerinde, her iki yönde veya tek yönde gidilir fakat mutlaka gidilir. </a:t>
                </a:r>
              </a:p>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12</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21</m:t>
                          </m:r>
                        </m:sub>
                      </m:sSub>
                      <m:r>
                        <a:rPr lang="tr-TR" sz="1800"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13</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31</m:t>
                          </m:r>
                        </m:sub>
                      </m:sSub>
                      <m:r>
                        <a:rPr lang="tr-TR" sz="1800"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14</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41</m:t>
                          </m:r>
                        </m:sub>
                      </m:sSub>
                      <m:r>
                        <a:rPr lang="tr-TR" sz="1800"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15</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51</m:t>
                          </m:r>
                        </m:sub>
                      </m:sSub>
                      <m:r>
                        <a:rPr lang="tr-TR" sz="1800"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23</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32</m:t>
                          </m:r>
                        </m:sub>
                      </m:sSub>
                      <m:r>
                        <a:rPr lang="tr-TR" sz="1800"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26</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62</m:t>
                          </m:r>
                        </m:sub>
                      </m:sSub>
                      <m:r>
                        <a:rPr lang="tr-TR" sz="1800"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34</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43</m:t>
                          </m:r>
                        </m:sub>
                      </m:sSub>
                      <m:r>
                        <a:rPr lang="tr-TR" sz="1800"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36</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63</m:t>
                          </m:r>
                        </m:sub>
                      </m:sSub>
                      <m:r>
                        <a:rPr lang="tr-TR" sz="1800"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46</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64</m:t>
                          </m:r>
                        </m:sub>
                      </m:sSub>
                      <m:r>
                        <a:rPr lang="tr-TR" sz="1800"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54</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45</m:t>
                          </m:r>
                        </m:sub>
                      </m:sSub>
                      <m:r>
                        <a:rPr lang="tr-TR" sz="1800"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56</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65</m:t>
                          </m:r>
                        </m:sub>
                      </m:sSub>
                      <m:r>
                        <a:rPr lang="tr-TR" sz="1800"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𝑖𝑗</m:t>
                          </m:r>
                        </m:sub>
                      </m:sSub>
                      <m:r>
                        <a:rPr lang="tr-TR" sz="1800" kern="0">
                          <a:effectLst/>
                          <a:latin typeface="Cambria Math" panose="02040503050406030204" pitchFamily="18" charset="0"/>
                          <a:ea typeface="Times New Roman" panose="02020603050405020304" pitchFamily="18" charset="0"/>
                          <a:cs typeface="Times New Roman" panose="02020603050405020304" pitchFamily="18" charset="0"/>
                        </a:rPr>
                        <m:t>∈</m:t>
                      </m:r>
                      <m:r>
                        <m:rPr>
                          <m:lit/>
                        </m:r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0,1</m:t>
                      </m:r>
                      <m:r>
                        <m:rPr>
                          <m:lit/>
                        </m:r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d>
                        <m:d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𝑖</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𝑗</m:t>
                          </m:r>
                        </m:e>
                      </m:d>
                      <m:r>
                        <a:rPr lang="tr-TR" sz="1800" kern="0">
                          <a:effectLst/>
                          <a:latin typeface="Cambria Math" panose="02040503050406030204" pitchFamily="18" charset="0"/>
                          <a:ea typeface="Times New Roman" panose="02020603050405020304" pitchFamily="18" charset="0"/>
                          <a:cs typeface="Times New Roman" panose="02020603050405020304" pitchFamily="18" charset="0"/>
                        </a:rPr>
                        <m:t>∈</m:t>
                      </m:r>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𝐴</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800" i="1" kern="0" smtClean="0">
                          <a:effectLst/>
                          <a:latin typeface="Cambria Math" panose="02040503050406030204" pitchFamily="18" charset="0"/>
                          <a:ea typeface="Times New Roman" panose="02020603050405020304" pitchFamily="18" charset="0"/>
                          <a:cs typeface="Times New Roman" panose="02020603050405020304" pitchFamily="18" charset="0"/>
                        </a:rPr>
                        <m:t>𝑀𝑖𝑛</m:t>
                      </m:r>
                      <m:r>
                        <a:rPr lang="tr-TR" sz="1800" i="1" kern="0"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tr-TR" sz="1800" i="1" kern="0" smtClean="0">
                          <a:effectLst/>
                          <a:latin typeface="Cambria Math" panose="02040503050406030204" pitchFamily="18" charset="0"/>
                          <a:ea typeface="Times New Roman" panose="02020603050405020304" pitchFamily="18" charset="0"/>
                          <a:cs typeface="Times New Roman" panose="02020603050405020304" pitchFamily="18" charset="0"/>
                        </a:rPr>
                        <m:t>𝑍</m:t>
                      </m:r>
                      <m:r>
                        <a:rPr lang="tr-TR" sz="1800" i="1" kern="0" smtClea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12</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13</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14</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+6</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15</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21</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+4</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23</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+5</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26</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4</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32</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31</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36</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34</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43</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41</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46</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6</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51</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+3</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54</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56</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+5</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62</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63</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64</m:t>
                          </m:r>
                        </m:sub>
                      </m:s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+2</m:t>
                      </m:r>
                      <m:sSub>
                        <m:sSubPr>
                          <m:ctrlP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tr-TR" sz="1800" i="1" kern="0">
                              <a:effectLst/>
                              <a:latin typeface="Cambria Math" panose="02040503050406030204" pitchFamily="18" charset="0"/>
                              <a:ea typeface="Times New Roman" panose="02020603050405020304" pitchFamily="18" charset="0"/>
                              <a:cs typeface="Times New Roman" panose="02020603050405020304" pitchFamily="18" charset="0"/>
                            </a:rPr>
                            <m:t>65</m:t>
                          </m:r>
                        </m:sub>
                      </m:sSub>
                    </m:oMath>
                  </m:oMathPara>
                </a14:m>
                <a:endParaRPr lang="tr-TR" sz="1800" kern="100">
                  <a:effectLst/>
                  <a:latin typeface="Calibri" panose="020F0502020204030204" pitchFamily="34"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tr-TR" i="1" smtClean="0">
                              <a:effectLst/>
                              <a:latin typeface="Cambria Math" panose="02040503050406030204" pitchFamily="18" charset="0"/>
                            </a:rPr>
                          </m:ctrlPr>
                        </m:sSubPr>
                        <m:e>
                          <m:r>
                            <a:rPr lang="tr-TR" sz="1800" i="1">
                              <a:effectLst/>
                              <a:latin typeface="Cambria Math" panose="02040503050406030204" pitchFamily="18" charset="0"/>
                              <a:ea typeface="Calibri" panose="020F0502020204030204" pitchFamily="34" charset="0"/>
                              <a:cs typeface="Times New Roman" panose="02020603050405020304" pitchFamily="18" charset="0"/>
                            </a:rPr>
                            <m:t>𝑥</m:t>
                          </m:r>
                        </m:e>
                        <m:sub>
                          <m:r>
                            <a:rPr lang="tr-TR" sz="1800" i="1">
                              <a:effectLst/>
                              <a:latin typeface="Cambria Math" panose="02040503050406030204" pitchFamily="18" charset="0"/>
                              <a:ea typeface="Calibri" panose="020F0502020204030204" pitchFamily="34" charset="0"/>
                              <a:cs typeface="Times New Roman" panose="02020603050405020304" pitchFamily="18" charset="0"/>
                            </a:rPr>
                            <m:t>12</m:t>
                          </m:r>
                        </m:sub>
                      </m:sSub>
                      <m:r>
                        <a:rPr lang="tr-TR" sz="1800">
                          <a:latin typeface="Cambria Math" panose="02040503050406030204" pitchFamily="18" charset="0"/>
                          <a:ea typeface="Calibri" panose="020F0502020204030204" pitchFamily="34" charset="0"/>
                          <a:cs typeface="Times New Roman" panose="02020603050405020304" pitchFamily="18" charset="0"/>
                        </a:rPr>
                        <m:t>=</m:t>
                      </m:r>
                      <m:sSub>
                        <m:sSubPr>
                          <m:ctrlPr>
                            <a:rPr lang="tr-TR" sz="1800" i="1">
                              <a:latin typeface="Cambria Math" panose="02040503050406030204" pitchFamily="18" charset="0"/>
                            </a:rPr>
                          </m:ctrlPr>
                        </m:sSubPr>
                        <m:e>
                          <m:r>
                            <a:rPr lang="tr-TR" sz="1800">
                              <a:latin typeface="Cambria Math" panose="02040503050406030204" pitchFamily="18" charset="0"/>
                              <a:ea typeface="Calibri" panose="020F0502020204030204" pitchFamily="34" charset="0"/>
                              <a:cs typeface="Times New Roman" panose="02020603050405020304" pitchFamily="18" charset="0"/>
                            </a:rPr>
                            <m:t>𝑥</m:t>
                          </m:r>
                        </m:e>
                        <m:sub>
                          <m:r>
                            <a:rPr lang="tr-TR" sz="1800">
                              <a:latin typeface="Cambria Math" panose="02040503050406030204" pitchFamily="18" charset="0"/>
                              <a:ea typeface="Calibri" panose="020F0502020204030204" pitchFamily="34" charset="0"/>
                              <a:cs typeface="Times New Roman" panose="02020603050405020304" pitchFamily="18" charset="0"/>
                            </a:rPr>
                            <m:t>21</m:t>
                          </m:r>
                        </m:sub>
                      </m:sSub>
                      <m:r>
                        <a:rPr lang="tr-TR" sz="18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tr-TR" i="1">
                              <a:effectLst/>
                              <a:latin typeface="Cambria Math" panose="02040503050406030204" pitchFamily="18" charset="0"/>
                            </a:rPr>
                          </m:ctrlPr>
                        </m:sSubPr>
                        <m:e>
                          <m:r>
                            <a:rPr lang="tr-TR" sz="1800" i="1">
                              <a:effectLst/>
                              <a:latin typeface="Cambria Math" panose="02040503050406030204" pitchFamily="18" charset="0"/>
                              <a:ea typeface="Calibri" panose="020F0502020204030204" pitchFamily="34" charset="0"/>
                              <a:cs typeface="Times New Roman" panose="02020603050405020304" pitchFamily="18" charset="0"/>
                            </a:rPr>
                            <m:t>𝑥</m:t>
                          </m:r>
                        </m:e>
                        <m:sub>
                          <m:r>
                            <a:rPr lang="tr-TR" sz="1800" i="1">
                              <a:effectLst/>
                              <a:latin typeface="Cambria Math" panose="02040503050406030204" pitchFamily="18" charset="0"/>
                              <a:ea typeface="Calibri" panose="020F0502020204030204" pitchFamily="34" charset="0"/>
                              <a:cs typeface="Times New Roman" panose="02020603050405020304" pitchFamily="18" charset="0"/>
                            </a:rPr>
                            <m:t>13</m:t>
                          </m:r>
                        </m:sub>
                      </m:sSub>
                      <m:r>
                        <a:rPr lang="tr-TR" sz="1800">
                          <a:latin typeface="Cambria Math" panose="02040503050406030204" pitchFamily="18" charset="0"/>
                          <a:ea typeface="Calibri" panose="020F0502020204030204" pitchFamily="34" charset="0"/>
                          <a:cs typeface="Times New Roman" panose="02020603050405020304" pitchFamily="18" charset="0"/>
                        </a:rPr>
                        <m:t>=</m:t>
                      </m:r>
                      <m:sSub>
                        <m:sSubPr>
                          <m:ctrlPr>
                            <a:rPr lang="tr-TR" sz="1800" i="1">
                              <a:latin typeface="Cambria Math" panose="02040503050406030204" pitchFamily="18" charset="0"/>
                            </a:rPr>
                          </m:ctrlPr>
                        </m:sSubPr>
                        <m:e>
                          <m:r>
                            <a:rPr lang="tr-TR" sz="1800">
                              <a:latin typeface="Cambria Math" panose="02040503050406030204" pitchFamily="18" charset="0"/>
                              <a:ea typeface="Calibri" panose="020F0502020204030204" pitchFamily="34" charset="0"/>
                              <a:cs typeface="Times New Roman" panose="02020603050405020304" pitchFamily="18" charset="0"/>
                            </a:rPr>
                            <m:t>𝑥</m:t>
                          </m:r>
                        </m:e>
                        <m:sub>
                          <m:r>
                            <a:rPr lang="tr-TR" sz="1800">
                              <a:latin typeface="Cambria Math" panose="02040503050406030204" pitchFamily="18" charset="0"/>
                              <a:ea typeface="Calibri" panose="020F0502020204030204" pitchFamily="34" charset="0"/>
                              <a:cs typeface="Times New Roman" panose="02020603050405020304" pitchFamily="18" charset="0"/>
                            </a:rPr>
                            <m:t>31</m:t>
                          </m:r>
                        </m:sub>
                      </m:sSub>
                      <m:r>
                        <a:rPr lang="tr-TR" sz="18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tr-TR" i="1">
                              <a:effectLst/>
                              <a:latin typeface="Cambria Math" panose="02040503050406030204" pitchFamily="18" charset="0"/>
                            </a:rPr>
                          </m:ctrlPr>
                        </m:sSubPr>
                        <m:e>
                          <m:r>
                            <a:rPr lang="tr-TR" sz="1800" i="1">
                              <a:effectLst/>
                              <a:latin typeface="Cambria Math" panose="02040503050406030204" pitchFamily="18" charset="0"/>
                              <a:ea typeface="Calibri" panose="020F0502020204030204" pitchFamily="34" charset="0"/>
                              <a:cs typeface="Times New Roman" panose="02020603050405020304" pitchFamily="18" charset="0"/>
                            </a:rPr>
                            <m:t>𝑥</m:t>
                          </m:r>
                        </m:e>
                        <m:sub>
                          <m:r>
                            <a:rPr lang="tr-TR" sz="1800" i="1">
                              <a:effectLst/>
                              <a:latin typeface="Cambria Math" panose="02040503050406030204" pitchFamily="18" charset="0"/>
                              <a:ea typeface="Calibri" panose="020F0502020204030204" pitchFamily="34" charset="0"/>
                              <a:cs typeface="Times New Roman" panose="02020603050405020304" pitchFamily="18" charset="0"/>
                            </a:rPr>
                            <m:t>15</m:t>
                          </m:r>
                        </m:sub>
                      </m:sSub>
                      <m:r>
                        <a:rPr lang="tr-TR" sz="18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tr-TR" i="1">
                              <a:effectLst/>
                              <a:latin typeface="Cambria Math" panose="02040503050406030204" pitchFamily="18" charset="0"/>
                            </a:rPr>
                          </m:ctrlPr>
                        </m:sSubPr>
                        <m:e>
                          <m:r>
                            <a:rPr lang="tr-TR" sz="1800" i="1">
                              <a:effectLst/>
                              <a:latin typeface="Cambria Math" panose="02040503050406030204" pitchFamily="18" charset="0"/>
                              <a:ea typeface="Calibri" panose="020F0502020204030204" pitchFamily="34" charset="0"/>
                              <a:cs typeface="Times New Roman" panose="02020603050405020304" pitchFamily="18" charset="0"/>
                            </a:rPr>
                            <m:t>𝑥</m:t>
                          </m:r>
                        </m:e>
                        <m:sub>
                          <m:r>
                            <a:rPr lang="tr-TR" sz="1800" i="1">
                              <a:effectLst/>
                              <a:latin typeface="Cambria Math" panose="02040503050406030204" pitchFamily="18" charset="0"/>
                              <a:ea typeface="Calibri" panose="020F0502020204030204" pitchFamily="34" charset="0"/>
                              <a:cs typeface="Times New Roman" panose="02020603050405020304" pitchFamily="18" charset="0"/>
                            </a:rPr>
                            <m:t>26</m:t>
                          </m:r>
                        </m:sub>
                      </m:sSub>
                      <m:r>
                        <a:rPr lang="tr-TR" sz="18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tr-TR" i="1">
                              <a:effectLst/>
                              <a:latin typeface="Cambria Math" panose="02040503050406030204" pitchFamily="18" charset="0"/>
                            </a:rPr>
                          </m:ctrlPr>
                        </m:sSubPr>
                        <m:e>
                          <m:r>
                            <a:rPr lang="tr-TR" sz="1800" i="1">
                              <a:effectLst/>
                              <a:latin typeface="Cambria Math" panose="02040503050406030204" pitchFamily="18" charset="0"/>
                              <a:ea typeface="Calibri" panose="020F0502020204030204" pitchFamily="34" charset="0"/>
                              <a:cs typeface="Times New Roman" panose="02020603050405020304" pitchFamily="18" charset="0"/>
                            </a:rPr>
                            <m:t>𝑥</m:t>
                          </m:r>
                        </m:e>
                        <m:sub>
                          <m:r>
                            <a:rPr lang="tr-TR" sz="1800" i="1">
                              <a:effectLst/>
                              <a:latin typeface="Cambria Math" panose="02040503050406030204" pitchFamily="18" charset="0"/>
                              <a:ea typeface="Calibri" panose="020F0502020204030204" pitchFamily="34" charset="0"/>
                              <a:cs typeface="Times New Roman" panose="02020603050405020304" pitchFamily="18" charset="0"/>
                            </a:rPr>
                            <m:t>32</m:t>
                          </m:r>
                        </m:sub>
                      </m:sSub>
                      <m:r>
                        <a:rPr lang="tr-TR" sz="18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tr-TR" i="1">
                              <a:effectLst/>
                              <a:latin typeface="Cambria Math" panose="02040503050406030204" pitchFamily="18" charset="0"/>
                            </a:rPr>
                          </m:ctrlPr>
                        </m:sSubPr>
                        <m:e>
                          <m:r>
                            <a:rPr lang="tr-TR" sz="1800" i="1">
                              <a:effectLst/>
                              <a:latin typeface="Cambria Math" panose="02040503050406030204" pitchFamily="18" charset="0"/>
                              <a:ea typeface="Calibri" panose="020F0502020204030204" pitchFamily="34" charset="0"/>
                              <a:cs typeface="Times New Roman" panose="02020603050405020304" pitchFamily="18" charset="0"/>
                            </a:rPr>
                            <m:t>𝑥</m:t>
                          </m:r>
                        </m:e>
                        <m:sub>
                          <m:r>
                            <a:rPr lang="tr-TR" sz="1800" i="1">
                              <a:effectLst/>
                              <a:latin typeface="Cambria Math" panose="02040503050406030204" pitchFamily="18" charset="0"/>
                              <a:ea typeface="Calibri" panose="020F0502020204030204" pitchFamily="34" charset="0"/>
                              <a:cs typeface="Times New Roman" panose="02020603050405020304" pitchFamily="18" charset="0"/>
                            </a:rPr>
                            <m:t>36</m:t>
                          </m:r>
                        </m:sub>
                      </m:sSub>
                      <m:r>
                        <a:rPr lang="tr-TR" sz="18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tr-TR" i="1">
                              <a:effectLst/>
                              <a:latin typeface="Cambria Math" panose="02040503050406030204" pitchFamily="18" charset="0"/>
                            </a:rPr>
                          </m:ctrlPr>
                        </m:sSubPr>
                        <m:e>
                          <m:r>
                            <a:rPr lang="tr-TR" sz="1800" i="1">
                              <a:effectLst/>
                              <a:latin typeface="Cambria Math" panose="02040503050406030204" pitchFamily="18" charset="0"/>
                              <a:ea typeface="Calibri" panose="020F0502020204030204" pitchFamily="34" charset="0"/>
                              <a:cs typeface="Times New Roman" panose="02020603050405020304" pitchFamily="18" charset="0"/>
                            </a:rPr>
                            <m:t>𝑥</m:t>
                          </m:r>
                        </m:e>
                        <m:sub>
                          <m:r>
                            <a:rPr lang="tr-TR" sz="1800" i="1">
                              <a:effectLst/>
                              <a:latin typeface="Cambria Math" panose="02040503050406030204" pitchFamily="18" charset="0"/>
                              <a:ea typeface="Calibri" panose="020F0502020204030204" pitchFamily="34" charset="0"/>
                              <a:cs typeface="Times New Roman" panose="02020603050405020304" pitchFamily="18" charset="0"/>
                            </a:rPr>
                            <m:t>43</m:t>
                          </m:r>
                        </m:sub>
                      </m:sSub>
                      <m:r>
                        <a:rPr lang="tr-TR" sz="18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tr-TR" i="1">
                              <a:effectLst/>
                              <a:latin typeface="Cambria Math" panose="02040503050406030204" pitchFamily="18" charset="0"/>
                            </a:rPr>
                          </m:ctrlPr>
                        </m:sSubPr>
                        <m:e>
                          <m:r>
                            <a:rPr lang="tr-TR" sz="1800" i="1">
                              <a:effectLst/>
                              <a:latin typeface="Cambria Math" panose="02040503050406030204" pitchFamily="18" charset="0"/>
                              <a:ea typeface="Calibri" panose="020F0502020204030204" pitchFamily="34" charset="0"/>
                              <a:cs typeface="Times New Roman" panose="02020603050405020304" pitchFamily="18" charset="0"/>
                            </a:rPr>
                            <m:t>𝑥</m:t>
                          </m:r>
                        </m:e>
                        <m:sub>
                          <m:r>
                            <a:rPr lang="tr-TR" sz="1800" i="1">
                              <a:effectLst/>
                              <a:latin typeface="Cambria Math" panose="02040503050406030204" pitchFamily="18" charset="0"/>
                              <a:ea typeface="Calibri" panose="020F0502020204030204" pitchFamily="34" charset="0"/>
                              <a:cs typeface="Times New Roman" panose="02020603050405020304" pitchFamily="18" charset="0"/>
                            </a:rPr>
                            <m:t>41</m:t>
                          </m:r>
                        </m:sub>
                      </m:sSub>
                      <m:r>
                        <a:rPr lang="tr-TR" sz="18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tr-TR" i="1">
                              <a:effectLst/>
                              <a:latin typeface="Cambria Math" panose="02040503050406030204" pitchFamily="18" charset="0"/>
                            </a:rPr>
                          </m:ctrlPr>
                        </m:sSubPr>
                        <m:e>
                          <m:r>
                            <a:rPr lang="tr-TR" sz="1800" i="1">
                              <a:effectLst/>
                              <a:latin typeface="Cambria Math" panose="02040503050406030204" pitchFamily="18" charset="0"/>
                              <a:ea typeface="Calibri" panose="020F0502020204030204" pitchFamily="34" charset="0"/>
                              <a:cs typeface="Times New Roman" panose="02020603050405020304" pitchFamily="18" charset="0"/>
                            </a:rPr>
                            <m:t>𝑥</m:t>
                          </m:r>
                        </m:e>
                        <m:sub>
                          <m:r>
                            <a:rPr lang="tr-TR" sz="1800" i="1">
                              <a:effectLst/>
                              <a:latin typeface="Cambria Math" panose="02040503050406030204" pitchFamily="18" charset="0"/>
                              <a:ea typeface="Calibri" panose="020F0502020204030204" pitchFamily="34" charset="0"/>
                              <a:cs typeface="Times New Roman" panose="02020603050405020304" pitchFamily="18" charset="0"/>
                            </a:rPr>
                            <m:t>54</m:t>
                          </m:r>
                        </m:sub>
                      </m:sSub>
                      <m:r>
                        <a:rPr lang="tr-TR" sz="18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tr-TR" i="1">
                              <a:effectLst/>
                              <a:latin typeface="Cambria Math" panose="02040503050406030204" pitchFamily="18" charset="0"/>
                            </a:rPr>
                          </m:ctrlPr>
                        </m:sSubPr>
                        <m:e>
                          <m:r>
                            <a:rPr lang="tr-TR" sz="1800" i="1">
                              <a:effectLst/>
                              <a:latin typeface="Cambria Math" panose="02040503050406030204" pitchFamily="18" charset="0"/>
                              <a:ea typeface="Calibri" panose="020F0502020204030204" pitchFamily="34" charset="0"/>
                              <a:cs typeface="Times New Roman" panose="02020603050405020304" pitchFamily="18" charset="0"/>
                            </a:rPr>
                            <m:t>𝑥</m:t>
                          </m:r>
                        </m:e>
                        <m:sub>
                          <m:r>
                            <a:rPr lang="tr-TR" sz="1800" i="1">
                              <a:effectLst/>
                              <a:latin typeface="Cambria Math" panose="02040503050406030204" pitchFamily="18" charset="0"/>
                              <a:ea typeface="Calibri" panose="020F0502020204030204" pitchFamily="34" charset="0"/>
                              <a:cs typeface="Times New Roman" panose="02020603050405020304" pitchFamily="18" charset="0"/>
                            </a:rPr>
                            <m:t>56</m:t>
                          </m:r>
                        </m:sub>
                      </m:sSub>
                      <m:r>
                        <a:rPr lang="tr-TR" sz="18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tr-TR" i="1">
                              <a:effectLst/>
                              <a:latin typeface="Cambria Math" panose="02040503050406030204" pitchFamily="18" charset="0"/>
                            </a:rPr>
                          </m:ctrlPr>
                        </m:sSubPr>
                        <m:e>
                          <m:r>
                            <a:rPr lang="tr-TR" sz="1800" i="1">
                              <a:effectLst/>
                              <a:latin typeface="Cambria Math" panose="02040503050406030204" pitchFamily="18" charset="0"/>
                              <a:ea typeface="Calibri" panose="020F0502020204030204" pitchFamily="34" charset="0"/>
                              <a:cs typeface="Times New Roman" panose="02020603050405020304" pitchFamily="18" charset="0"/>
                            </a:rPr>
                            <m:t>𝑥</m:t>
                          </m:r>
                        </m:e>
                        <m:sub>
                          <m:r>
                            <a:rPr lang="tr-TR" sz="1800" i="1">
                              <a:effectLst/>
                              <a:latin typeface="Cambria Math" panose="02040503050406030204" pitchFamily="18" charset="0"/>
                              <a:ea typeface="Calibri" panose="020F0502020204030204" pitchFamily="34" charset="0"/>
                              <a:cs typeface="Times New Roman" panose="02020603050405020304" pitchFamily="18" charset="0"/>
                            </a:rPr>
                            <m:t>63</m:t>
                          </m:r>
                        </m:sub>
                      </m:sSub>
                      <m:r>
                        <a:rPr lang="tr-TR" sz="18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tr-TR" i="1">
                              <a:effectLst/>
                              <a:latin typeface="Cambria Math" panose="02040503050406030204" pitchFamily="18" charset="0"/>
                            </a:rPr>
                          </m:ctrlPr>
                        </m:sSubPr>
                        <m:e>
                          <m:r>
                            <a:rPr lang="tr-TR" sz="1800" i="1">
                              <a:effectLst/>
                              <a:latin typeface="Cambria Math" panose="02040503050406030204" pitchFamily="18" charset="0"/>
                              <a:ea typeface="Calibri" panose="020F0502020204030204" pitchFamily="34" charset="0"/>
                              <a:cs typeface="Times New Roman" panose="02020603050405020304" pitchFamily="18" charset="0"/>
                            </a:rPr>
                            <m:t>𝑥</m:t>
                          </m:r>
                        </m:e>
                        <m:sub>
                          <m:r>
                            <a:rPr lang="tr-TR" sz="1800" i="1">
                              <a:effectLst/>
                              <a:latin typeface="Cambria Math" panose="02040503050406030204" pitchFamily="18" charset="0"/>
                              <a:ea typeface="Calibri" panose="020F0502020204030204" pitchFamily="34" charset="0"/>
                              <a:cs typeface="Times New Roman" panose="02020603050405020304" pitchFamily="18" charset="0"/>
                            </a:rPr>
                            <m:t>64</m:t>
                          </m:r>
                        </m:sub>
                      </m:sSub>
                      <m:r>
                        <a:rPr lang="tr-TR" sz="18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tr-TR" i="1">
                              <a:effectLst/>
                              <a:latin typeface="Cambria Math" panose="02040503050406030204" pitchFamily="18" charset="0"/>
                            </a:rPr>
                          </m:ctrlPr>
                        </m:sSubPr>
                        <m:e>
                          <m:r>
                            <a:rPr lang="tr-TR" sz="1800" i="1">
                              <a:effectLst/>
                              <a:latin typeface="Cambria Math" panose="02040503050406030204" pitchFamily="18" charset="0"/>
                              <a:ea typeface="Calibri" panose="020F0502020204030204" pitchFamily="34" charset="0"/>
                              <a:cs typeface="Times New Roman" panose="02020603050405020304" pitchFamily="18" charset="0"/>
                            </a:rPr>
                            <m:t>𝑥</m:t>
                          </m:r>
                        </m:e>
                        <m:sub>
                          <m:r>
                            <a:rPr lang="tr-TR" sz="1800" i="1">
                              <a:effectLst/>
                              <a:latin typeface="Cambria Math" panose="02040503050406030204" pitchFamily="18" charset="0"/>
                              <a:ea typeface="Calibri" panose="020F0502020204030204" pitchFamily="34" charset="0"/>
                              <a:cs typeface="Times New Roman" panose="02020603050405020304" pitchFamily="18" charset="0"/>
                            </a:rPr>
                            <m:t>65</m:t>
                          </m:r>
                        </m:sub>
                      </m:sSub>
                      <m:r>
                        <a:rPr lang="tr-TR" sz="1800" i="1">
                          <a:effectLst/>
                          <a:latin typeface="Cambria Math" panose="02040503050406030204" pitchFamily="18" charset="0"/>
                          <a:ea typeface="Calibri" panose="020F0502020204030204" pitchFamily="34" charset="0"/>
                          <a:cs typeface="Times New Roman" panose="02020603050405020304" pitchFamily="18" charset="0"/>
                        </a:rPr>
                        <m:t>=1</m:t>
                      </m:r>
                    </m:oMath>
                  </m:oMathPara>
                </a14:m>
                <a:endParaRPr lang="tr-TR"/>
              </a:p>
            </p:txBody>
          </p:sp>
        </mc:Choice>
        <mc:Fallback xmlns="">
          <p:sp>
            <p:nvSpPr>
              <p:cNvPr id="2" name="Content Placeholder 1">
                <a:extLst>
                  <a:ext uri="{FF2B5EF4-FFF2-40B4-BE49-F238E27FC236}">
                    <a16:creationId xmlns:a16="http://schemas.microsoft.com/office/drawing/2014/main" id="{B7CD1D66-A4EE-2E31-4BF5-2F3C397ACD37}"/>
                  </a:ext>
                </a:extLst>
              </p:cNvPr>
              <p:cNvSpPr>
                <a:spLocks noGrp="1" noRot="1" noChangeAspect="1" noMove="1" noResize="1" noEditPoints="1" noAdjustHandles="1" noChangeArrowheads="1" noChangeShapeType="1" noTextEdit="1"/>
              </p:cNvSpPr>
              <p:nvPr>
                <p:ph idx="1"/>
              </p:nvPr>
            </p:nvSpPr>
            <p:spPr>
              <a:xfrm>
                <a:off x="395536" y="1052736"/>
                <a:ext cx="8402525" cy="5313734"/>
              </a:xfrm>
              <a:blipFill>
                <a:blip r:embed="rId2"/>
                <a:stretch>
                  <a:fillRect l="-435" t="-344"/>
                </a:stretch>
              </a:blipFill>
            </p:spPr>
            <p:txBody>
              <a:bodyPr/>
              <a:lstStyle/>
              <a:p>
                <a:r>
                  <a:rPr lang="tr-TR">
                    <a:noFill/>
                  </a:rPr>
                  <a:t> </a:t>
                </a:r>
              </a:p>
            </p:txBody>
          </p:sp>
        </mc:Fallback>
      </mc:AlternateContent>
      <p:sp>
        <p:nvSpPr>
          <p:cNvPr id="3" name="Title 2">
            <a:extLst>
              <a:ext uri="{FF2B5EF4-FFF2-40B4-BE49-F238E27FC236}">
                <a16:creationId xmlns:a16="http://schemas.microsoft.com/office/drawing/2014/main" id="{BFD74C11-96EA-20EA-009A-476FD45B04EB}"/>
              </a:ext>
            </a:extLst>
          </p:cNvPr>
          <p:cNvSpPr>
            <a:spLocks noGrp="1"/>
          </p:cNvSpPr>
          <p:nvPr>
            <p:ph type="title"/>
          </p:nvPr>
        </p:nvSpPr>
        <p:spPr/>
        <p:txBody>
          <a:bodyPr/>
          <a:lstStyle/>
          <a:p>
            <a:endParaRPr lang="tr-TR"/>
          </a:p>
        </p:txBody>
      </p:sp>
      <p:pic>
        <p:nvPicPr>
          <p:cNvPr id="4" name="Picture 3">
            <a:extLst>
              <a:ext uri="{FF2B5EF4-FFF2-40B4-BE49-F238E27FC236}">
                <a16:creationId xmlns:a16="http://schemas.microsoft.com/office/drawing/2014/main" id="{F1824E5E-A9B2-2204-7CD0-4956127B5913}"/>
              </a:ext>
            </a:extLst>
          </p:cNvPr>
          <p:cNvPicPr>
            <a:picLocks noChangeAspect="1"/>
          </p:cNvPicPr>
          <p:nvPr/>
        </p:nvPicPr>
        <p:blipFill>
          <a:blip r:embed="rId3"/>
          <a:stretch>
            <a:fillRect/>
          </a:stretch>
        </p:blipFill>
        <p:spPr>
          <a:xfrm>
            <a:off x="6749305" y="1268760"/>
            <a:ext cx="1999159" cy="2598277"/>
          </a:xfrm>
          <a:prstGeom prst="rect">
            <a:avLst/>
          </a:prstGeom>
        </p:spPr>
      </p:pic>
      <p:cxnSp>
        <p:nvCxnSpPr>
          <p:cNvPr id="13" name="Straight Arrow Connector 12">
            <a:extLst>
              <a:ext uri="{FF2B5EF4-FFF2-40B4-BE49-F238E27FC236}">
                <a16:creationId xmlns:a16="http://schemas.microsoft.com/office/drawing/2014/main" id="{07E0A0A5-77F0-60C9-0F3B-07224B050613}"/>
              </a:ext>
            </a:extLst>
          </p:cNvPr>
          <p:cNvCxnSpPr/>
          <p:nvPr/>
        </p:nvCxnSpPr>
        <p:spPr>
          <a:xfrm flipV="1">
            <a:off x="7092280" y="1484784"/>
            <a:ext cx="216024" cy="2160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8441FB28-E0B2-85E5-46ED-964615D42A99}"/>
              </a:ext>
            </a:extLst>
          </p:cNvPr>
          <p:cNvCxnSpPr>
            <a:cxnSpLocks/>
          </p:cNvCxnSpPr>
          <p:nvPr/>
        </p:nvCxnSpPr>
        <p:spPr>
          <a:xfrm flipH="1">
            <a:off x="6948264" y="1412776"/>
            <a:ext cx="252028" cy="1800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8AA9F566-2CDA-A1FF-4F66-8E11CB8D1409}"/>
              </a:ext>
            </a:extLst>
          </p:cNvPr>
          <p:cNvCxnSpPr/>
          <p:nvPr/>
        </p:nvCxnSpPr>
        <p:spPr>
          <a:xfrm>
            <a:off x="7146286" y="2204864"/>
            <a:ext cx="32403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73AC22B-97B2-E3C6-DDF4-5D56BBA7F6B5}"/>
              </a:ext>
            </a:extLst>
          </p:cNvPr>
          <p:cNvCxnSpPr/>
          <p:nvPr/>
        </p:nvCxnSpPr>
        <p:spPr>
          <a:xfrm flipH="1">
            <a:off x="7137285" y="2348880"/>
            <a:ext cx="32403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A44ED049-7B50-43A7-841F-1C41A43F3D53}"/>
              </a:ext>
            </a:extLst>
          </p:cNvPr>
          <p:cNvCxnSpPr/>
          <p:nvPr/>
        </p:nvCxnSpPr>
        <p:spPr>
          <a:xfrm>
            <a:off x="7074278" y="2708920"/>
            <a:ext cx="126014" cy="2160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B2FD1BAF-4442-59D3-6F90-E5B549CB2C94}"/>
              </a:ext>
            </a:extLst>
          </p:cNvPr>
          <p:cNvCxnSpPr/>
          <p:nvPr/>
        </p:nvCxnSpPr>
        <p:spPr>
          <a:xfrm flipH="1" flipV="1">
            <a:off x="7200292" y="2675910"/>
            <a:ext cx="108012" cy="1770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357748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8FA05A1-B0C9-3459-8037-9FBDC49A8E72}"/>
              </a:ext>
            </a:extLst>
          </p:cNvPr>
          <p:cNvSpPr>
            <a:spLocks noGrp="1"/>
          </p:cNvSpPr>
          <p:nvPr>
            <p:ph type="title"/>
          </p:nvPr>
        </p:nvSpPr>
        <p:spPr/>
        <p:txBody>
          <a:bodyPr/>
          <a:lstStyle/>
          <a:p>
            <a:r>
              <a:rPr lang="tr-TR"/>
              <a:t>Soru</a:t>
            </a:r>
          </a:p>
        </p:txBody>
      </p:sp>
      <p:pic>
        <p:nvPicPr>
          <p:cNvPr id="11" name="Content Placeholder 10">
            <a:extLst>
              <a:ext uri="{FF2B5EF4-FFF2-40B4-BE49-F238E27FC236}">
                <a16:creationId xmlns:a16="http://schemas.microsoft.com/office/drawing/2014/main" id="{47905B14-0D25-EE31-6268-6750C4C11096}"/>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699792" y="980728"/>
            <a:ext cx="3960440" cy="3101179"/>
          </a:xfrm>
        </p:spPr>
      </p:pic>
    </p:spTree>
    <p:extLst>
      <p:ext uri="{BB962C8B-B14F-4D97-AF65-F5344CB8AC3E}">
        <p14:creationId xmlns:p14="http://schemas.microsoft.com/office/powerpoint/2010/main" val="137560821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867C624-20FD-748D-C496-BBD2E59FB455}"/>
              </a:ext>
            </a:extLst>
          </p:cNvPr>
          <p:cNvSpPr>
            <a:spLocks noGrp="1"/>
          </p:cNvSpPr>
          <p:nvPr>
            <p:ph idx="1"/>
          </p:nvPr>
        </p:nvSpPr>
        <p:spPr/>
        <p:txBody>
          <a:bodyPr>
            <a:noAutofit/>
          </a:bodyPr>
          <a:lstStyle/>
          <a:p>
            <a:pPr algn="ctr"/>
            <a:endParaRPr lang="tr-TR" sz="4400"/>
          </a:p>
          <a:p>
            <a:pPr algn="ctr"/>
            <a:endParaRPr lang="tr-TR" sz="4400"/>
          </a:p>
          <a:p>
            <a:pPr algn="ctr"/>
            <a:endParaRPr lang="tr-TR" sz="4400"/>
          </a:p>
          <a:p>
            <a:pPr algn="ctr"/>
            <a:r>
              <a:rPr lang="tr-TR" sz="4400"/>
              <a:t>T e ş e k k ü r l e r</a:t>
            </a:r>
          </a:p>
        </p:txBody>
      </p:sp>
      <p:sp>
        <p:nvSpPr>
          <p:cNvPr id="3" name="Title 2">
            <a:extLst>
              <a:ext uri="{FF2B5EF4-FFF2-40B4-BE49-F238E27FC236}">
                <a16:creationId xmlns:a16="http://schemas.microsoft.com/office/drawing/2014/main" id="{23EEF551-2472-9E4B-55B7-468097339A68}"/>
              </a:ext>
            </a:extLst>
          </p:cNvPr>
          <p:cNvSpPr>
            <a:spLocks noGrp="1"/>
          </p:cNvSpPr>
          <p:nvPr>
            <p:ph type="title"/>
          </p:nvPr>
        </p:nvSpPr>
        <p:spPr/>
        <p:txBody>
          <a:bodyPr/>
          <a:lstStyle/>
          <a:p>
            <a:endParaRPr lang="tr-TR"/>
          </a:p>
        </p:txBody>
      </p:sp>
    </p:spTree>
    <p:extLst>
      <p:ext uri="{BB962C8B-B14F-4D97-AF65-F5344CB8AC3E}">
        <p14:creationId xmlns:p14="http://schemas.microsoft.com/office/powerpoint/2010/main" val="348263976"/>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사용자 지정 1">
      <a:majorFont>
        <a:latin typeface="Calibri"/>
        <a:ea typeface="맑은 고딕"/>
        <a:cs typeface=""/>
      </a:majorFont>
      <a:minorFont>
        <a:latin typeface="Calibri Light"/>
        <a:ea typeface="맑은 고딕"/>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35282</TotalTime>
  <Words>2841</Words>
  <Application>Microsoft Office PowerPoint</Application>
  <PresentationFormat>On-screen Show (4:3)</PresentationFormat>
  <Paragraphs>350</Paragraphs>
  <Slides>49</Slides>
  <Notes>1</Notes>
  <HiddenSlides>0</HiddenSlides>
  <MMClips>0</MMClips>
  <ScaleCrop>false</ScaleCrop>
  <HeadingPairs>
    <vt:vector size="8" baseType="variant">
      <vt:variant>
        <vt:lpstr>Fonts Used</vt:lpstr>
      </vt:variant>
      <vt:variant>
        <vt:i4>8</vt:i4>
      </vt:variant>
      <vt:variant>
        <vt:lpstr>Theme</vt:lpstr>
      </vt:variant>
      <vt:variant>
        <vt:i4>1</vt:i4>
      </vt:variant>
      <vt:variant>
        <vt:lpstr>Slide Titles</vt:lpstr>
      </vt:variant>
      <vt:variant>
        <vt:i4>49</vt:i4>
      </vt:variant>
      <vt:variant>
        <vt:lpstr>Custom Shows</vt:lpstr>
      </vt:variant>
      <vt:variant>
        <vt:i4>1</vt:i4>
      </vt:variant>
    </vt:vector>
  </HeadingPairs>
  <TitlesOfParts>
    <vt:vector size="59" baseType="lpstr">
      <vt:lpstr>Times New Roman</vt:lpstr>
      <vt:lpstr>Calibri Light</vt:lpstr>
      <vt:lpstr>Cambria Math</vt:lpstr>
      <vt:lpstr>Lucida Handwriting</vt:lpstr>
      <vt:lpstr>Arial</vt:lpstr>
      <vt:lpstr>굴림체</vt:lpstr>
      <vt:lpstr>Calibri</vt:lpstr>
      <vt:lpstr>Malgun Gothic</vt:lpstr>
      <vt:lpstr>Office 테마</vt:lpstr>
      <vt:lpstr>Gezgin Satıcı ve Postacı Problemleri</vt:lpstr>
      <vt:lpstr>PowerPoint Presentation</vt:lpstr>
      <vt:lpstr>Gezgin Satıcı Problemleri - Tanım</vt:lpstr>
      <vt:lpstr>Bazı Uyulama Örnekleri</vt:lpstr>
      <vt:lpstr>Genel Doğrusal Model Bileşenleri</vt:lpstr>
      <vt:lpstr>Örnek Problem</vt:lpstr>
      <vt:lpstr>PowerPoint Presentation</vt:lpstr>
      <vt:lpstr>PowerPoint Presentation</vt:lpstr>
      <vt:lpstr>Örnek</vt:lpstr>
      <vt:lpstr>PowerPoint Presentation</vt:lpstr>
      <vt:lpstr>Özel Kısıtlı Problemler</vt:lpstr>
      <vt:lpstr>Maliyet Kısıtı Altında Şehir Sayısını Maksimize Etme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İki Satıcı</vt:lpstr>
      <vt:lpstr>İki Gezgin Satıcı: Zamanlı ve Hizmet Süreli, Çakışma Yasağı ile Karma Tamsayılı Doğrusal Modeli</vt:lpstr>
      <vt:lpstr>İki Gezgin Satıcı: Zamanlı ve Hizmet Süreli, Çakışma Yasağı ile Karma Tamsayılı Doğrusal Modeli</vt:lpstr>
      <vt:lpstr>İki Gezgin Satıcı: Zamanlı ve Hizmet Süreli, Çakışma Yasağı ile Karma Tamsayılı Doğrusal Modeli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Zip Oyunu</vt:lpstr>
      <vt:lpstr>Zip Oyunu</vt:lpstr>
      <vt:lpstr>Zip Oyunu</vt:lpstr>
      <vt:lpstr>Zip Oyunu</vt:lpstr>
      <vt:lpstr>Zip Oyunu</vt:lpstr>
      <vt:lpstr>Zip Oyunu</vt:lpstr>
      <vt:lpstr>Zip Oyunu</vt:lpstr>
      <vt:lpstr>Ödev</vt:lpstr>
      <vt:lpstr>Postacı Problemleri</vt:lpstr>
      <vt:lpstr>PowerPoint Presentation</vt:lpstr>
      <vt:lpstr>Örnek</vt:lpstr>
      <vt:lpstr>PowerPoint Presentation</vt:lpstr>
      <vt:lpstr>Soru</vt:lpstr>
      <vt:lpstr>PowerPoint Presentation</vt:lpstr>
      <vt:lpstr>Ozvektor</vt:lpstr>
    </vt:vector>
  </TitlesOfParts>
  <Manager>Slide Members</Manager>
  <Company>YESFORM Co.,Ltd.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Members</dc:title>
  <dc:subject>Powerpoint Templates , Diagram, Chart, Google slides, Keynote</dc:subject>
  <dc:creator>Slide Members by HS.SEO _x000d_
회사 : YESFORM Co.,Ltd.</dc:creator>
  <cp:keywords>SlideMembers, ppt, PPT Templates, Presentation, Diagram, Chart, Yesform, Google slides, Keynote, Free Slides</cp:keywords>
  <dc:description>The copyright of this document is at Slide Members. Unauthorized copying may result in legal sanctions.</dc:description>
  <cp:lastModifiedBy>Mehmet F. Hocaoğlu</cp:lastModifiedBy>
  <cp:revision>202</cp:revision>
  <dcterms:created xsi:type="dcterms:W3CDTF">2010-02-01T08:03:16Z</dcterms:created>
  <dcterms:modified xsi:type="dcterms:W3CDTF">2025-09-14T13:33:00Z</dcterms:modified>
  <cp:category>www.slidemembers.com</cp:category>
</cp:coreProperties>
</file>